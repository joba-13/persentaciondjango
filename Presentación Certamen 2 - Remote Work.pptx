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60189cfc-c1f2-28dd-b2fa-281b8d943b14}">
          <p14:sldIdLst>
            <p14:sldId id="256"/>
            <p14:sldId id="257"/>
          </p14:sldIdLst>
        </p14:section>
        <p14:section name="Diseño" id="{569d4377-d70e-ae6b-957d-2765ede9c595}">
          <p14:sldIdLst>
            <p14:sldId id="258"/>
            <p14:sldId id="259"/>
            <p14:sldId id="260"/>
            <p14:sldId id="261"/>
          </p14:sldIdLst>
        </p14:section>
        <p14:section name="Django y gráficos" id="{6d24aa32-de90-cf2e-d925-ff22e237d87b}">
          <p14:sldIdLst>
            <p14:sldId id="262"/>
            <p14:sldId id="263"/>
            <p14:sldId id="264"/>
            <p14:sldId id="265"/>
            <p14:sldId id="266"/>
          </p14:sldIdLst>
        </p14:section>
        <p14:section name="Navegación y reglas" id="{cb7c1984-45a2-4dfa-c57c-b57a29a0ba49}">
          <p14:sldIdLst>
            <p14:sldId id="267"/>
            <p14:sldId id="268"/>
          </p14:sldIdLst>
        </p14:section>
        <p14:section name="Cierre" id="{a27bbb51-2bac-cd0b-1a1d-bc4a6cba737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Joaquín Barahona · ~0:16
Buenos días. Somos Joaquín Barahona, Ignacio Ramírez, Pablo Valdivia y Nicolás Ojeda. Les presentamos la segunda parte de nuestro proyecto semestral, Remote Work &amp; Mental Health, que ahora es una aplicación web hecha con Django.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Joaquín Barahona · ~0:59
Seguimos con el mismo dataset del Certamen 1: Impact of Remote Work on Mental Health, de Kaggle. Son 5.000 trabajadores con 20 variables cada uno, como la edad, la industria, las horas trabajadas a la semana y cómo califican el equilibrio entre su vida y su trabajo.
En el Certamen 1 analizamos estos datos en un cuaderno Jupyter. Encontramos que la modalidad de trabajo no se relaciona con el estrés ni con el aislamiento, y que los datos son sintéticos, es decir, generados al azar.
El problema es que un cuaderno Jupyter solo lo abre quien sabe Python. Por eso en este certamen llevamos los datos a una aplicación web, que cualquier persona puede abrir en el navegador.
[Se puede omitir] Pensamos en tres usuarios: los trabajadores, los empleadores y los equipos de recursos humanos.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Joaquín Barahona · ~0:37
Antes de programar dibujamos los mockups: bocetos en gris de cada pantalla, para decidir qué va en cada lugar sin pensar todavía en colores ni en código. Hicimos cinco.
El primero es el index.html, la página de inicio. Tiene dos tarjetas: una lleva al listado de datos y la otra a los gráficos.
El segundo es el menú vertical. Se abre con el botón de tres rayas, sale desde la izquierda y agrupa todas las páginas en dos secciones: Listado de datos y Gráficos.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Joaquín Barahona · ~0:44
Los otros tres mockups son las páginas internas. El tercero es la página de selección: una lista de tarjetas, una por cada tabla o gráfico. El cuarto es la página de una tabla, con su título, una frase que explica qué muestra y los botones para volver. El quinto es la página de un gráfico, con la misma estructura, pero con el gráfico al centro.
[Se puede omitir] Las páginas de tabla y de gráfico las diseñamos iguales a propósito, para que el usuario no tenga que aprender dos pantallas distintas.
Ahora Ignacio les cuenta cómo pasamos de estos bocetos al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Ignacio Ramírez · ~0:46
Cada mockup se convirtió en una plantilla HTML de Django. El inicio es index.html y el menú es menu.html. La página de selección quedó en dos archivos, uno para los listados y otro para los gráficos. La tabla es listado.html y el gráfico es grafico.html.
Para el diseño usamos Bootstrap 5.3. A la derecha, arriba, se ve el inicio terminado: son las mismas dos tarjetas del mockup, ahora hechas con las tarjetas y los botones de Bootstrap. Abajo está la página de selección de gráficos.
[Se puede omitir] La tarjeta del listado va en azul y la de gráficos en verde, para distinguirlas de un vistazo.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Ignacio Ramírez · ~0:43
El menú vertical lo hicimos con herencia de plantillas. Hay una plantilla madre, base.html, que tiene todo lo que se repite: la carga de Bootstrap, el menú, que se agrega con include, y un bloque vacío que se llama contenido.
Cada página parte con extends base.html y solo rellena ese bloque con lo suyo.
La ventaja es que el menú se escribe una sola vez. Si mañana agregamos un gráfico, lo sumamos en menu.html y aparece en las nueve páginas al mismo tiempo. A la derecha se ve el menú funcionando, con la sección Gráficos abierta.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Ignacio Ramírez · ~0:49
Ahora, cómo funciona Django por dentro. Lo explicamos con lo que pasa cuando alguien hace clic en un gráfico.
Uno: el navegador pide una dirección, por ejemplo graficos/barras-csv. Dos: urls.py busca esa ruta y sabe qué vista le toca. Tres: la vista, en views.py, lee el CSV y hace los cálculos en Python. Cuatro: la vista le pasa el resultado a la plantilla con render. Y cinco: el navegador recibe la página y Chart.js dibuja el gráfico.
[Se puede omitir] Es el patrón de Django que vimos en clases: la ruta decide qué vista se ejecuta, la vista prepara los datos y la plantilla los muestra.
Pablo les explica cómo armamos los gráficos.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Valdivia · ~0:56
Los gráficos no están escritos a mano en el HTML: los arma el backend. A la izquierda está la vista del gráfico de barras. Lee el CSV, cuenta cuántos trabajadores hay en cada industria con Counter y arma un diccionario con la configuración del gráfico: el tipo, las etiquetas y los datos.
Ese diccionario llega a la plantilla. El filtro json_script lo convierte a JSON de forma segura para que JavaScript lo pueda leer, y Chart.js crea el gráfico con esa configuración.
Por eso son dinámicos: se calculan cada vez que alguien abre la página. Si cambia el CSV, cambia el gráfico sin tocar el HTML. Y los tres gráficos usan la misma plantilla; lo único que cambia es el diccionario que arma cada 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Valdivia · ~0:30
El primer gráfico es de barras: trabajadores por industria. Elegimos barras porque sirven para comparar cantidades entre categorías.
Muestra que las siete industrias están muy parejas: van de 680 trabajadores en Consulting a 747 en Finance. La diferencia más grande es de 67 personas en un total de 5.000.
[Se puede omitir] El eje parte en cero, así que la altura de cada barra se puede comparar sin exagerar las diferencias.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Valdivia · ~0:43
El segundo es de líneas: el promedio de horas trabajadas a la semana para cada edad, de 22 a 60 años. Usamos líneas porque la edad tiene un orden, y la línea deja ver si hay una tendencia.
Y no la hay. El promedio se mueve entre 37 horas, a los 38 años, y 41,4 horas, a los 43. Siempre cerca de 40: una persona de 25 años trabaja lo mismo que una de 55.
[Se puede omitir] Dejamos el eje partiendo en cero a propósito. Si partiera en 37, esas cuatro horas de diferencia se verían como montañas.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Pablo Valdivia · ~0:46
El tercero es de dispersión: las horas trabajadas contra la calificación del equilibrio entre vida y trabajo, que va de 1 a 5. Cada punto es un trabajador.
Se forma una grilla perfecta: aparecen las 205 combinaciones posibles, 41 valores de horas por 5 notas. Quien trabaja 20 horas califica su equilibrio igual que quien trabaja 60, y la correlación da 0,00. Esto confirma lo del Certamen 1: los datos son sintéticos.
[Se puede omitir] Un detalle: aunque se ven 205 puntos, son 5.000 trabajadores. Muchos tienen la misma combinación, así que detrás de cada punto hay entre 13 y 41 personas.
Nicolás sigue con la navegación.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Nicolás Ojeda · ~0:39
Para moverse entre los gráficos hay tres caminos. El primero es el menú lateral, que está en todas las páginas y llega a cualquiera de las seis vistas. El segundo son las tarjetas: desde el inicio se entra a Gráficos y de ahí a cada gráfico, así que cualquiera está a dos clics. El tercero son los botones de abajo de cada página: Volver a inicio y Volver a gráficos, o Volver a listados en las tablas.
Así el usuario nunca necesita el botón Atrás del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Nicolás Ojeda · ~0:47
Además de los gráficos, la aplicación tiene tres listados: tablas con los datos ya resumidos. A la derecha está la de equilibrio entre vida y trabajo.
Detrás de las tablas hay cinco reglas. Una: si una fila del CSV viene vacía o mal escrita, se salta y la página no se cae. Dos: las industrias se ordenan de mayor a menor. Tres: los promedios se redondean a un decimal. Cuatro: si no hay datos, la tabla dice «No hay datos disponibles» en vez de quedar en blanco. Y cinco: las tres tablas usan la misma plantilla; la vista solo le pasa las columnas y las filas.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Nicolás Ojeda · ~0:57
Para cerrar. Cumplimos el objetivo: los datos que en el Certamen 1 solo se veían en Jupyter ahora se consultan en una aplicación web. Hicimos cinco mockups, los pasamos a HTML, armamos el menú con herencia de plantillas, y tenemos tres tablas y tres gráficos calculados en el backend.
Los gráficos confirman lo del Certamen 1: industrias parejas, horas que no cambian con la edad y ninguna relación entre horas y equilibrio.
Lo que más aprendimos es que con Django, sumar un gráfico nuevo es escribir una vista y una ruta, porque la plantilla ya está hecha.
[Se puede omitir] Como próximos pasos queremos que el tamaño de cada punto muestre cuántos trabajadores tiene, pasar el CSV a la base de datos del proyecto y probar la aplicación con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Nicolás Ojeda · ~0:09
Estas son nuestras fuentes: el dataset de Kaggle y la documentación de Django, Chart.js y Bootstrap. Muchas gracias. ¿Tienen alguna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4"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Remote Work &amp; Mental Health · Certamen N°2 · Visualización de Datos</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6"/>
                </a:solidFill>
              </a:rPr>
              <a:t>Remote Work &amp; Mental Health · Certamen N°2 · Visualización de Datos</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o-1"/>
          <p:cNvSpPr txBox="1"/>
          <p:nvPr/>
        </p:nvSpPr>
        <p:spPr>
          <a:xfrm>
            <a:off x="548640" y="1325880"/>
            <a:ext cx="5852160" cy="274320"/>
          </a:xfrm>
          <a:prstGeom prst="rect">
            <a:avLst/>
          </a:prstGeom>
          <a:noFill/>
          <a:ln/>
        </p:spPr>
        <p:txBody>
          <a:bodyPr wrap="square" lIns="0" tIns="0" rIns="0" bIns="0" rtlCol="0" anchor="t"/>
          <a:lstStyle/>
          <a:p>
            <a:pPr indent="0" marL="0">
              <a:buNone/>
            </a:pPr>
            <a:r>
              <a:rPr lang="en-US" sz="1200" b="1" spc="150" kern="0" dirty="0">
                <a:solidFill>
                  <a:schemeClr val="accent6"/>
                </a:solidFill>
              </a:rPr>
              <a:t>TALLER DE VISUALIZACIÓN DE DATOS · CERTAMEN N°2</a:t>
            </a:r>
            <a:endParaRPr lang="en-US" sz="1200" dirty="0"/>
          </a:p>
        </p:txBody>
      </p:sp>
      <p:sp>
        <p:nvSpPr>
          <p:cNvPr id="3" name="texto-2"/>
          <p:cNvSpPr txBox="1"/>
          <p:nvPr/>
        </p:nvSpPr>
        <p:spPr>
          <a:xfrm>
            <a:off x="548640" y="1737360"/>
            <a:ext cx="5669280" cy="1737360"/>
          </a:xfrm>
          <a:prstGeom prst="rect">
            <a:avLst/>
          </a:prstGeom>
          <a:noFill/>
          <a:ln/>
        </p:spPr>
        <p:txBody>
          <a:bodyPr wrap="square" lIns="0" tIns="0" rIns="0" bIns="0" rtlCol="0" anchor="t"/>
          <a:lstStyle/>
          <a:p>
            <a:pPr indent="0" marL="0">
              <a:buNone/>
            </a:pPr>
            <a:r>
              <a:rPr lang="en-US" sz="4400" b="1" dirty="0">
                <a:solidFill>
                  <a:schemeClr val="bg1"/>
                </a:solidFill>
                <a:latin typeface="Calibri" pitchFamily="34" charset="0"/>
                <a:ea typeface="Calibri" pitchFamily="34" charset="-122"/>
                <a:cs typeface="Calibri" pitchFamily="34" charset="-120"/>
              </a:rPr>
              <a:t>Remote Work &amp; Mental Health en la web</a:t>
            </a:r>
            <a:endParaRPr lang="en-US" sz="4400" dirty="0"/>
          </a:p>
        </p:txBody>
      </p:sp>
      <p:sp>
        <p:nvSpPr>
          <p:cNvPr id="4" name="texto-3"/>
          <p:cNvSpPr txBox="1"/>
          <p:nvPr/>
        </p:nvSpPr>
        <p:spPr>
          <a:xfrm>
            <a:off x="548640" y="3611880"/>
            <a:ext cx="5486400" cy="822960"/>
          </a:xfrm>
          <a:prstGeom prst="rect">
            <a:avLst/>
          </a:prstGeom>
          <a:noFill/>
          <a:ln/>
        </p:spPr>
        <p:txBody>
          <a:bodyPr wrap="square" lIns="0" tIns="0" rIns="0" bIns="0" rtlCol="0" anchor="t"/>
          <a:lstStyle/>
          <a:p>
            <a:pPr indent="0" marL="0">
              <a:buNone/>
            </a:pPr>
            <a:r>
              <a:rPr lang="en-US" sz="1800" dirty="0">
                <a:solidFill>
                  <a:srgbClr val="D3E4DC"/>
                </a:solidFill>
              </a:rPr>
              <a:t>Del análisis en Jupyter a una aplicación Django con tablas y gráficos dinámicos</a:t>
            </a:r>
            <a:endParaRPr lang="en-US" sz="1800" dirty="0"/>
          </a:p>
        </p:txBody>
      </p:sp>
      <p:sp>
        <p:nvSpPr>
          <p:cNvPr id="5" name="texto-4"/>
          <p:cNvSpPr txBox="1"/>
          <p:nvPr/>
        </p:nvSpPr>
        <p:spPr>
          <a:xfrm>
            <a:off x="548640" y="4846320"/>
            <a:ext cx="5669280" cy="640080"/>
          </a:xfrm>
          <a:prstGeom prst="rect">
            <a:avLst/>
          </a:prstGeom>
          <a:noFill/>
          <a:ln/>
        </p:spPr>
        <p:txBody>
          <a:bodyPr wrap="square" lIns="0" tIns="0" rIns="0" bIns="0" rtlCol="0" anchor="t"/>
          <a:lstStyle/>
          <a:p>
            <a:pPr indent="0" marL="0">
              <a:spcAft>
                <a:spcPts val="200"/>
              </a:spcAft>
              <a:buNone/>
            </a:pPr>
            <a:r>
              <a:rPr lang="en-US" sz="1600" dirty="0">
                <a:solidFill>
                  <a:schemeClr val="bg1"/>
                </a:solidFill>
              </a:rPr>
              <a:t>Joaquín Barahona  ·  Ignacio Ramírez</a:t>
            </a:r>
            <a:endParaRPr lang="en-US" sz="1600" dirty="0"/>
          </a:p>
          <a:p>
            <a:pPr indent="0" marL="0">
              <a:spcAft>
                <a:spcPts val="200"/>
              </a:spcAft>
              <a:buNone/>
            </a:pPr>
            <a:r>
              <a:rPr lang="en-US" sz="1600" dirty="0">
                <a:solidFill>
                  <a:schemeClr val="bg1"/>
                </a:solidFill>
              </a:rPr>
              <a:t>Pablo Valdivia  ·  Nicolás Ojeda</a:t>
            </a:r>
            <a:endParaRPr lang="en-US" sz="1600" dirty="0"/>
          </a:p>
        </p:txBody>
      </p:sp>
      <p:sp>
        <p:nvSpPr>
          <p:cNvPr id="6" name="texto-5"/>
          <p:cNvSpPr txBox="1"/>
          <p:nvPr/>
        </p:nvSpPr>
        <p:spPr>
          <a:xfrm>
            <a:off x="548640" y="5623560"/>
            <a:ext cx="3657600" cy="274320"/>
          </a:xfrm>
          <a:prstGeom prst="rect">
            <a:avLst/>
          </a:prstGeom>
          <a:noFill/>
          <a:ln/>
        </p:spPr>
        <p:txBody>
          <a:bodyPr wrap="square" lIns="0" tIns="0" rIns="0" bIns="0" rtlCol="0" anchor="t"/>
          <a:lstStyle/>
          <a:p>
            <a:pPr indent="0" marL="0">
              <a:buNone/>
            </a:pPr>
            <a:r>
              <a:rPr lang="en-US" sz="1300" dirty="0">
                <a:solidFill>
                  <a:schemeClr val="accent6"/>
                </a:solidFill>
              </a:rPr>
              <a:t>Noviembre de 2026</a:t>
            </a:r>
            <a:endParaRPr lang="en-US" sz="1300" dirty="0"/>
          </a:p>
        </p:txBody>
      </p:sp>
      <p:sp>
        <p:nvSpPr>
          <p:cNvPr id="7" name="navegador-6"/>
          <p:cNvSpPr/>
          <p:nvPr/>
        </p:nvSpPr>
        <p:spPr>
          <a:xfrm>
            <a:off x="7132320" y="1188720"/>
            <a:ext cx="4526280" cy="2412159"/>
          </a:xfrm>
          <a:prstGeom prst="roundRect">
            <a:avLst>
              <a:gd name="adj" fmla="val 3033"/>
            </a:avLst>
          </a:prstGeom>
          <a:solidFill>
            <a:srgbClr val="E2E9E5"/>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8" name="punto-7"/>
          <p:cNvSpPr/>
          <p:nvPr/>
        </p:nvSpPr>
        <p:spPr>
          <a:xfrm>
            <a:off x="7269480" y="1303020"/>
            <a:ext cx="100584" cy="100584"/>
          </a:xfrm>
          <a:prstGeom prst="ellipse">
            <a:avLst/>
          </a:prstGeom>
          <a:solidFill>
            <a:srgbClr val="E06C5F"/>
          </a:solidFill>
          <a:ln/>
        </p:spPr>
      </p:sp>
      <p:sp>
        <p:nvSpPr>
          <p:cNvPr id="9" name="punto-8"/>
          <p:cNvSpPr/>
          <p:nvPr/>
        </p:nvSpPr>
        <p:spPr>
          <a:xfrm>
            <a:off x="7424928" y="1303020"/>
            <a:ext cx="100584" cy="100584"/>
          </a:xfrm>
          <a:prstGeom prst="ellipse">
            <a:avLst/>
          </a:prstGeom>
          <a:solidFill>
            <a:srgbClr val="E9B949"/>
          </a:solidFill>
          <a:ln/>
        </p:spPr>
      </p:sp>
      <p:sp>
        <p:nvSpPr>
          <p:cNvPr id="10" name="punto-9"/>
          <p:cNvSpPr/>
          <p:nvPr/>
        </p:nvSpPr>
        <p:spPr>
          <a:xfrm>
            <a:off x="7580376" y="1303020"/>
            <a:ext cx="100584" cy="100584"/>
          </a:xfrm>
          <a:prstGeom prst="ellipse">
            <a:avLst/>
          </a:prstGeom>
          <a:solidFill>
            <a:srgbClr val="5DB872"/>
          </a:solidFill>
          <a:ln/>
        </p:spPr>
      </p:sp>
      <p:sp>
        <p:nvSpPr>
          <p:cNvPr id="11" name="url-10"/>
          <p:cNvSpPr/>
          <p:nvPr/>
        </p:nvSpPr>
        <p:spPr>
          <a:xfrm>
            <a:off x="7790688" y="1252728"/>
            <a:ext cx="3703320"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chemeClr val="accent5"/>
                </a:solidFill>
              </a:rPr>
              <a:t>127.0.0.1:8000/alumnos/graficos/lineas-csv/</a:t>
            </a:r>
            <a:endParaRPr lang="en-US" sz="1000" dirty="0"/>
          </a:p>
        </p:txBody>
      </p:sp>
      <p:pic>
        <p:nvPicPr>
          <p:cNvPr id="12" name="captura-11" descr="/private/tmp/claude-501/-Users-pablovaldiviamonzon-Desktop-cert-menes/6974cfb1-314e-48ac-991e-539c4c5dc99b/scratchpad/img/lineas.jpg">    </p:cNvPr>
          <p:cNvPicPr>
            <a:picLocks noChangeAspect="1"/>
          </p:cNvPicPr>
          <p:nvPr/>
        </p:nvPicPr>
        <p:blipFill>
          <a:blip r:embed="rId1"/>
          <a:stretch>
            <a:fillRect/>
          </a:stretch>
        </p:blipFill>
        <p:spPr>
          <a:xfrm>
            <a:off x="7178040" y="1517904"/>
            <a:ext cx="4434840" cy="2037255"/>
          </a:xfrm>
          <a:prstGeom prst="rect">
            <a:avLst/>
          </a:prstGeom>
        </p:spPr>
      </p:pic>
      <p:sp>
        <p:nvSpPr>
          <p:cNvPr id="13" name="navegador-12"/>
          <p:cNvSpPr/>
          <p:nvPr/>
        </p:nvSpPr>
        <p:spPr>
          <a:xfrm>
            <a:off x="6492240" y="2788920"/>
            <a:ext cx="4846320" cy="2559177"/>
          </a:xfrm>
          <a:prstGeom prst="roundRect">
            <a:avLst>
              <a:gd name="adj" fmla="val 2858"/>
            </a:avLst>
          </a:prstGeom>
          <a:solidFill>
            <a:srgbClr val="E2E9E5"/>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14" name="punto-13"/>
          <p:cNvSpPr/>
          <p:nvPr/>
        </p:nvSpPr>
        <p:spPr>
          <a:xfrm>
            <a:off x="6629400" y="2903220"/>
            <a:ext cx="100584" cy="100584"/>
          </a:xfrm>
          <a:prstGeom prst="ellipse">
            <a:avLst/>
          </a:prstGeom>
          <a:solidFill>
            <a:srgbClr val="E06C5F"/>
          </a:solidFill>
          <a:ln/>
        </p:spPr>
      </p:sp>
      <p:sp>
        <p:nvSpPr>
          <p:cNvPr id="15" name="punto-14"/>
          <p:cNvSpPr/>
          <p:nvPr/>
        </p:nvSpPr>
        <p:spPr>
          <a:xfrm>
            <a:off x="6784848" y="2903220"/>
            <a:ext cx="100584" cy="100584"/>
          </a:xfrm>
          <a:prstGeom prst="ellipse">
            <a:avLst/>
          </a:prstGeom>
          <a:solidFill>
            <a:srgbClr val="E9B949"/>
          </a:solidFill>
          <a:ln/>
        </p:spPr>
      </p:sp>
      <p:sp>
        <p:nvSpPr>
          <p:cNvPr id="16" name="punto-15"/>
          <p:cNvSpPr/>
          <p:nvPr/>
        </p:nvSpPr>
        <p:spPr>
          <a:xfrm>
            <a:off x="6940296" y="2903220"/>
            <a:ext cx="100584" cy="100584"/>
          </a:xfrm>
          <a:prstGeom prst="ellipse">
            <a:avLst/>
          </a:prstGeom>
          <a:solidFill>
            <a:srgbClr val="5DB872"/>
          </a:solidFill>
          <a:ln/>
        </p:spPr>
      </p:sp>
      <p:sp>
        <p:nvSpPr>
          <p:cNvPr id="17" name="url-16"/>
          <p:cNvSpPr/>
          <p:nvPr/>
        </p:nvSpPr>
        <p:spPr>
          <a:xfrm>
            <a:off x="7150608" y="2852928"/>
            <a:ext cx="4023360"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chemeClr val="accent5"/>
                </a:solidFill>
              </a:rPr>
              <a:t>127.0.0.1:8000/alumnos/graficos/barras-csv/</a:t>
            </a:r>
            <a:endParaRPr lang="en-US" sz="1000" dirty="0"/>
          </a:p>
        </p:txBody>
      </p:sp>
      <p:pic>
        <p:nvPicPr>
          <p:cNvPr id="18" name="captura-17" descr="/private/tmp/claude-501/-Users-pablovaldiviamonzon-Desktop-cert-menes/6974cfb1-314e-48ac-991e-539c4c5dc99b/scratchpad/img/barras.jpg">    </p:cNvPr>
          <p:cNvPicPr>
            <a:picLocks noChangeAspect="1"/>
          </p:cNvPicPr>
          <p:nvPr/>
        </p:nvPicPr>
        <p:blipFill>
          <a:blip r:embed="rId2"/>
          <a:stretch>
            <a:fillRect/>
          </a:stretch>
        </p:blipFill>
        <p:spPr>
          <a:xfrm>
            <a:off x="6537960" y="3118104"/>
            <a:ext cx="4754880" cy="21842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Contexto del proyecto</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Mismo dataset del Certamen 1: Impact of Remote Work on Mental Health (Kaggle)</a:t>
            </a:r>
            <a:endParaRPr lang="en-US" sz="1600" dirty="0"/>
          </a:p>
        </p:txBody>
      </p:sp>
      <p:sp>
        <p:nvSpPr>
          <p:cNvPr id="4" name="texto-18"/>
          <p:cNvSpPr txBox="1"/>
          <p:nvPr/>
        </p:nvSpPr>
        <p:spPr>
          <a:xfrm>
            <a:off x="548640" y="1737360"/>
            <a:ext cx="2926080" cy="731520"/>
          </a:xfrm>
          <a:prstGeom prst="rect">
            <a:avLst/>
          </a:prstGeom>
          <a:noFill/>
          <a:ln/>
        </p:spPr>
        <p:txBody>
          <a:bodyPr wrap="square" lIns="0" tIns="0" rIns="0" bIns="0" rtlCol="0" anchor="t"/>
          <a:lstStyle/>
          <a:p>
            <a:pPr indent="0" marL="0">
              <a:buNone/>
            </a:pPr>
            <a:r>
              <a:rPr lang="en-US" sz="4800" b="1" dirty="0">
                <a:solidFill>
                  <a:schemeClr val="tx2"/>
                </a:solidFill>
              </a:rPr>
              <a:t>5.000</a:t>
            </a:r>
            <a:endParaRPr lang="en-US" sz="4800" dirty="0"/>
          </a:p>
        </p:txBody>
      </p:sp>
      <p:sp>
        <p:nvSpPr>
          <p:cNvPr id="5" name="texto-19"/>
          <p:cNvSpPr txBox="1"/>
          <p:nvPr/>
        </p:nvSpPr>
        <p:spPr>
          <a:xfrm>
            <a:off x="548640" y="2487168"/>
            <a:ext cx="2926080" cy="365760"/>
          </a:xfrm>
          <a:prstGeom prst="rect">
            <a:avLst/>
          </a:prstGeom>
          <a:noFill/>
          <a:ln/>
        </p:spPr>
        <p:txBody>
          <a:bodyPr wrap="square" lIns="0" tIns="0" rIns="0" bIns="0" rtlCol="0" anchor="t"/>
          <a:lstStyle/>
          <a:p>
            <a:pPr indent="0" marL="0">
              <a:buNone/>
            </a:pPr>
            <a:r>
              <a:rPr lang="en-US" sz="1400" dirty="0">
                <a:solidFill>
                  <a:schemeClr val="accent5"/>
                </a:solidFill>
              </a:rPr>
              <a:t>trabajadores en el dataset</a:t>
            </a:r>
            <a:endParaRPr lang="en-US" sz="1400" dirty="0"/>
          </a:p>
        </p:txBody>
      </p:sp>
      <p:sp>
        <p:nvSpPr>
          <p:cNvPr id="6" name="texto-20"/>
          <p:cNvSpPr txBox="1"/>
          <p:nvPr/>
        </p:nvSpPr>
        <p:spPr>
          <a:xfrm>
            <a:off x="548640" y="3017520"/>
            <a:ext cx="2926080" cy="731520"/>
          </a:xfrm>
          <a:prstGeom prst="rect">
            <a:avLst/>
          </a:prstGeom>
          <a:noFill/>
          <a:ln/>
        </p:spPr>
        <p:txBody>
          <a:bodyPr wrap="square" lIns="0" tIns="0" rIns="0" bIns="0" rtlCol="0" anchor="t"/>
          <a:lstStyle/>
          <a:p>
            <a:pPr indent="0" marL="0">
              <a:buNone/>
            </a:pPr>
            <a:r>
              <a:rPr lang="en-US" sz="4800" b="1" dirty="0">
                <a:solidFill>
                  <a:schemeClr val="tx2"/>
                </a:solidFill>
              </a:rPr>
              <a:t>20</a:t>
            </a:r>
            <a:endParaRPr lang="en-US" sz="4800" dirty="0"/>
          </a:p>
        </p:txBody>
      </p:sp>
      <p:sp>
        <p:nvSpPr>
          <p:cNvPr id="7" name="texto-21"/>
          <p:cNvSpPr txBox="1"/>
          <p:nvPr/>
        </p:nvSpPr>
        <p:spPr>
          <a:xfrm>
            <a:off x="548640" y="3767328"/>
            <a:ext cx="2926080" cy="365760"/>
          </a:xfrm>
          <a:prstGeom prst="rect">
            <a:avLst/>
          </a:prstGeom>
          <a:noFill/>
          <a:ln/>
        </p:spPr>
        <p:txBody>
          <a:bodyPr wrap="square" lIns="0" tIns="0" rIns="0" bIns="0" rtlCol="0" anchor="t"/>
          <a:lstStyle/>
          <a:p>
            <a:pPr indent="0" marL="0">
              <a:buNone/>
            </a:pPr>
            <a:r>
              <a:rPr lang="en-US" sz="1400" dirty="0">
                <a:solidFill>
                  <a:schemeClr val="accent5"/>
                </a:solidFill>
              </a:rPr>
              <a:t>variables por trabajador</a:t>
            </a:r>
            <a:endParaRPr lang="en-US" sz="1400" dirty="0"/>
          </a:p>
        </p:txBody>
      </p:sp>
      <p:sp>
        <p:nvSpPr>
          <p:cNvPr id="8" name="texto-22"/>
          <p:cNvSpPr txBox="1"/>
          <p:nvPr/>
        </p:nvSpPr>
        <p:spPr>
          <a:xfrm>
            <a:off x="548640" y="4297680"/>
            <a:ext cx="2926080" cy="731520"/>
          </a:xfrm>
          <a:prstGeom prst="rect">
            <a:avLst/>
          </a:prstGeom>
          <a:noFill/>
          <a:ln/>
        </p:spPr>
        <p:txBody>
          <a:bodyPr wrap="square" lIns="0" tIns="0" rIns="0" bIns="0" rtlCol="0" anchor="t"/>
          <a:lstStyle/>
          <a:p>
            <a:pPr indent="0" marL="0">
              <a:buNone/>
            </a:pPr>
            <a:r>
              <a:rPr lang="en-US" sz="4800" b="1" dirty="0">
                <a:solidFill>
                  <a:schemeClr val="tx2"/>
                </a:solidFill>
              </a:rPr>
              <a:t>7</a:t>
            </a:r>
            <a:endParaRPr lang="en-US" sz="4800" dirty="0"/>
          </a:p>
        </p:txBody>
      </p:sp>
      <p:sp>
        <p:nvSpPr>
          <p:cNvPr id="9" name="texto-23"/>
          <p:cNvSpPr txBox="1"/>
          <p:nvPr/>
        </p:nvSpPr>
        <p:spPr>
          <a:xfrm>
            <a:off x="548640" y="5047488"/>
            <a:ext cx="2926080" cy="365760"/>
          </a:xfrm>
          <a:prstGeom prst="rect">
            <a:avLst/>
          </a:prstGeom>
          <a:noFill/>
          <a:ln/>
        </p:spPr>
        <p:txBody>
          <a:bodyPr wrap="square" lIns="0" tIns="0" rIns="0" bIns="0" rtlCol="0" anchor="t"/>
          <a:lstStyle/>
          <a:p>
            <a:pPr indent="0" marL="0">
              <a:buNone/>
            </a:pPr>
            <a:r>
              <a:rPr lang="en-US" sz="1400" dirty="0">
                <a:solidFill>
                  <a:schemeClr val="accent5"/>
                </a:solidFill>
              </a:rPr>
              <a:t>industrias y 3 modalidades de trabajo</a:t>
            </a:r>
            <a:endParaRPr lang="en-US" sz="1400" dirty="0"/>
          </a:p>
        </p:txBody>
      </p:sp>
      <p:sp>
        <p:nvSpPr>
          <p:cNvPr id="10" name="tarjeta-24"/>
          <p:cNvSpPr/>
          <p:nvPr/>
        </p:nvSpPr>
        <p:spPr>
          <a:xfrm>
            <a:off x="3977640" y="1783080"/>
            <a:ext cx="3429000" cy="2743200"/>
          </a:xfrm>
          <a:prstGeom prst="roundRect">
            <a:avLst>
              <a:gd name="adj" fmla="val 3333"/>
            </a:avLst>
          </a:prstGeom>
          <a:solidFill>
            <a:schemeClr val="bg2"/>
          </a:solidFill>
          <a:ln/>
        </p:spPr>
      </p:sp>
      <p:sp>
        <p:nvSpPr>
          <p:cNvPr id="11" name="circulo-25"/>
          <p:cNvSpPr/>
          <p:nvPr/>
        </p:nvSpPr>
        <p:spPr>
          <a:xfrm>
            <a:off x="4251960" y="2057400"/>
            <a:ext cx="566928" cy="566928"/>
          </a:xfrm>
          <a:prstGeom prst="ellipse">
            <a:avLst/>
          </a:prstGeom>
          <a:solidFill>
            <a:schemeClr val="tx2"/>
          </a:solidFill>
          <a:ln/>
        </p:spPr>
      </p:sp>
      <p:pic>
        <p:nvPicPr>
          <p:cNvPr id="12" name="icono-26" descr="preencoded.png">    </p:cNvPr>
          <p:cNvPicPr>
            <a:picLocks noChangeAspect="1"/>
          </p:cNvPicPr>
          <p:nvPr/>
        </p:nvPicPr>
        <p:blipFill>
          <a:blip r:embed="rId1"/>
          <a:stretch>
            <a:fillRect/>
          </a:stretch>
        </p:blipFill>
        <p:spPr>
          <a:xfrm>
            <a:off x="4399361" y="2204801"/>
            <a:ext cx="272125" cy="272125"/>
          </a:xfrm>
          <a:prstGeom prst="rect">
            <a:avLst/>
          </a:prstGeom>
        </p:spPr>
      </p:pic>
      <p:sp>
        <p:nvSpPr>
          <p:cNvPr id="13" name="texto-27"/>
          <p:cNvSpPr txBox="1"/>
          <p:nvPr/>
        </p:nvSpPr>
        <p:spPr>
          <a:xfrm>
            <a:off x="4251960" y="2788920"/>
            <a:ext cx="2880360" cy="365760"/>
          </a:xfrm>
          <a:prstGeom prst="rect">
            <a:avLst/>
          </a:prstGeom>
          <a:noFill/>
          <a:ln/>
        </p:spPr>
        <p:txBody>
          <a:bodyPr wrap="square" lIns="0" tIns="0" rIns="0" bIns="0" rtlCol="0" anchor="t"/>
          <a:lstStyle/>
          <a:p>
            <a:pPr indent="0" marL="0">
              <a:buNone/>
            </a:pPr>
            <a:r>
              <a:rPr lang="en-US" sz="1800" b="1" dirty="0">
                <a:solidFill>
                  <a:schemeClr val="tx2"/>
                </a:solidFill>
              </a:rPr>
              <a:t>Certamen 1 · Jupyter</a:t>
            </a:r>
            <a:endParaRPr lang="en-US" sz="1800" dirty="0"/>
          </a:p>
        </p:txBody>
      </p:sp>
      <p:sp>
        <p:nvSpPr>
          <p:cNvPr id="14" name="texto-28"/>
          <p:cNvSpPr txBox="1"/>
          <p:nvPr/>
        </p:nvSpPr>
        <p:spPr>
          <a:xfrm>
            <a:off x="4251960" y="3246120"/>
            <a:ext cx="2880360" cy="1463040"/>
          </a:xfrm>
          <a:prstGeom prst="rect">
            <a:avLst/>
          </a:prstGeom>
          <a:noFill/>
          <a:ln/>
        </p:spPr>
        <p:txBody>
          <a:bodyPr wrap="square" lIns="0" tIns="0" rIns="0" bIns="0" rtlCol="0" anchor="t"/>
          <a:lstStyle/>
          <a:p>
            <a:pPr indent="0" marL="0">
              <a:buNone/>
            </a:pPr>
            <a:r>
              <a:rPr lang="en-US" sz="1400" dirty="0">
                <a:solidFill>
                  <a:schemeClr val="tx1"/>
                </a:solidFill>
              </a:rPr>
              <a:t>Análisis exploratorio con pandas y Matplotlib. Hallazgo: la modalidad no se relaciona con el estrés ni con el aislamiento, y los datos son sintéticos.</a:t>
            </a:r>
            <a:endParaRPr lang="en-US" sz="1400" dirty="0"/>
          </a:p>
        </p:txBody>
      </p:sp>
      <p:sp>
        <p:nvSpPr>
          <p:cNvPr id="15" name="tarjeta-29"/>
          <p:cNvSpPr/>
          <p:nvPr/>
        </p:nvSpPr>
        <p:spPr>
          <a:xfrm>
            <a:off x="8211312" y="1783080"/>
            <a:ext cx="3429000" cy="2743200"/>
          </a:xfrm>
          <a:prstGeom prst="roundRect">
            <a:avLst>
              <a:gd name="adj" fmla="val 3333"/>
            </a:avLst>
          </a:prstGeom>
          <a:solidFill>
            <a:schemeClr val="bg2"/>
          </a:solidFill>
          <a:ln/>
        </p:spPr>
      </p:sp>
      <p:sp>
        <p:nvSpPr>
          <p:cNvPr id="16" name="circulo-30"/>
          <p:cNvSpPr/>
          <p:nvPr/>
        </p:nvSpPr>
        <p:spPr>
          <a:xfrm>
            <a:off x="8485632" y="2057400"/>
            <a:ext cx="566928" cy="566928"/>
          </a:xfrm>
          <a:prstGeom prst="ellipse">
            <a:avLst/>
          </a:prstGeom>
          <a:solidFill>
            <a:schemeClr val="tx2"/>
          </a:solidFill>
          <a:ln/>
        </p:spPr>
      </p:sp>
      <p:pic>
        <p:nvPicPr>
          <p:cNvPr id="17" name="icono-31" descr="preencoded.png">    </p:cNvPr>
          <p:cNvPicPr>
            <a:picLocks noChangeAspect="1"/>
          </p:cNvPicPr>
          <p:nvPr/>
        </p:nvPicPr>
        <p:blipFill>
          <a:blip r:embed="rId2"/>
          <a:stretch>
            <a:fillRect/>
          </a:stretch>
        </p:blipFill>
        <p:spPr>
          <a:xfrm>
            <a:off x="8633033" y="2204801"/>
            <a:ext cx="272125" cy="272125"/>
          </a:xfrm>
          <a:prstGeom prst="rect">
            <a:avLst/>
          </a:prstGeom>
        </p:spPr>
      </p:pic>
      <p:sp>
        <p:nvSpPr>
          <p:cNvPr id="18" name="texto-32"/>
          <p:cNvSpPr txBox="1"/>
          <p:nvPr/>
        </p:nvSpPr>
        <p:spPr>
          <a:xfrm>
            <a:off x="8485632" y="2788920"/>
            <a:ext cx="2880360" cy="365760"/>
          </a:xfrm>
          <a:prstGeom prst="rect">
            <a:avLst/>
          </a:prstGeom>
          <a:noFill/>
          <a:ln/>
        </p:spPr>
        <p:txBody>
          <a:bodyPr wrap="square" lIns="0" tIns="0" rIns="0" bIns="0" rtlCol="0" anchor="t"/>
          <a:lstStyle/>
          <a:p>
            <a:pPr indent="0" marL="0">
              <a:buNone/>
            </a:pPr>
            <a:r>
              <a:rPr lang="en-US" sz="1800" b="1" dirty="0">
                <a:solidFill>
                  <a:schemeClr val="tx2"/>
                </a:solidFill>
              </a:rPr>
              <a:t>Certamen 2 · Django</a:t>
            </a:r>
            <a:endParaRPr lang="en-US" sz="1800" dirty="0"/>
          </a:p>
        </p:txBody>
      </p:sp>
      <p:sp>
        <p:nvSpPr>
          <p:cNvPr id="19" name="texto-33"/>
          <p:cNvSpPr txBox="1"/>
          <p:nvPr/>
        </p:nvSpPr>
        <p:spPr>
          <a:xfrm>
            <a:off x="8485632" y="3246120"/>
            <a:ext cx="2880360" cy="1463040"/>
          </a:xfrm>
          <a:prstGeom prst="rect">
            <a:avLst/>
          </a:prstGeom>
          <a:noFill/>
          <a:ln/>
        </p:spPr>
        <p:txBody>
          <a:bodyPr wrap="square" lIns="0" tIns="0" rIns="0" bIns="0" rtlCol="0" anchor="t"/>
          <a:lstStyle/>
          <a:p>
            <a:pPr indent="0" marL="0">
              <a:buNone/>
            </a:pPr>
            <a:r>
              <a:rPr lang="en-US" sz="1400" dirty="0">
                <a:solidFill>
                  <a:schemeClr val="tx1"/>
                </a:solidFill>
              </a:rPr>
              <a:t>Una aplicación web: cualquier persona consulta las tablas y los gráficos desde el navegador, sin instalar Python.</a:t>
            </a:r>
            <a:endParaRPr lang="en-US" sz="1400" dirty="0"/>
          </a:p>
        </p:txBody>
      </p:sp>
      <p:sp>
        <p:nvSpPr>
          <p:cNvPr id="20" name="circulo-34"/>
          <p:cNvSpPr/>
          <p:nvPr/>
        </p:nvSpPr>
        <p:spPr>
          <a:xfrm>
            <a:off x="7580376" y="2926080"/>
            <a:ext cx="457200" cy="457200"/>
          </a:xfrm>
          <a:prstGeom prst="ellipse">
            <a:avLst/>
          </a:prstGeom>
          <a:solidFill>
            <a:schemeClr val="accent1"/>
          </a:solidFill>
          <a:ln/>
        </p:spPr>
      </p:sp>
      <p:pic>
        <p:nvPicPr>
          <p:cNvPr id="21" name="icono-35" descr="preencoded.png">    </p:cNvPr>
          <p:cNvPicPr>
            <a:picLocks noChangeAspect="1"/>
          </p:cNvPicPr>
          <p:nvPr/>
        </p:nvPicPr>
        <p:blipFill>
          <a:blip r:embed="rId3"/>
          <a:stretch>
            <a:fillRect/>
          </a:stretch>
        </p:blipFill>
        <p:spPr>
          <a:xfrm>
            <a:off x="7699248" y="3044952"/>
            <a:ext cx="219456" cy="219456"/>
          </a:xfrm>
          <a:prstGeom prst="rect">
            <a:avLst/>
          </a:prstGeom>
        </p:spPr>
      </p:pic>
      <p:sp>
        <p:nvSpPr>
          <p:cNvPr id="22" name="circulo-36"/>
          <p:cNvSpPr/>
          <p:nvPr/>
        </p:nvSpPr>
        <p:spPr>
          <a:xfrm>
            <a:off x="3977640" y="4892040"/>
            <a:ext cx="457200" cy="457200"/>
          </a:xfrm>
          <a:prstGeom prst="ellipse">
            <a:avLst/>
          </a:prstGeom>
          <a:solidFill>
            <a:schemeClr val="accent5"/>
          </a:solidFill>
          <a:ln/>
        </p:spPr>
      </p:sp>
      <p:pic>
        <p:nvPicPr>
          <p:cNvPr id="23" name="icono-37" descr="preencoded.png">    </p:cNvPr>
          <p:cNvPicPr>
            <a:picLocks noChangeAspect="1"/>
          </p:cNvPicPr>
          <p:nvPr/>
        </p:nvPicPr>
        <p:blipFill>
          <a:blip r:embed="rId4"/>
          <a:stretch>
            <a:fillRect/>
          </a:stretch>
        </p:blipFill>
        <p:spPr>
          <a:xfrm>
            <a:off x="4096512" y="5010912"/>
            <a:ext cx="219456" cy="219456"/>
          </a:xfrm>
          <a:prstGeom prst="rect">
            <a:avLst/>
          </a:prstGeom>
        </p:spPr>
      </p:pic>
      <p:sp>
        <p:nvSpPr>
          <p:cNvPr id="24" name="texto-38"/>
          <p:cNvSpPr txBox="1"/>
          <p:nvPr/>
        </p:nvSpPr>
        <p:spPr>
          <a:xfrm>
            <a:off x="4572000" y="4983480"/>
            <a:ext cx="1188720" cy="274320"/>
          </a:xfrm>
          <a:prstGeom prst="rect">
            <a:avLst/>
          </a:prstGeom>
          <a:noFill/>
          <a:ln/>
        </p:spPr>
        <p:txBody>
          <a:bodyPr wrap="square" lIns="0" tIns="0" rIns="0" bIns="0" rtlCol="0" anchor="t"/>
          <a:lstStyle/>
          <a:p>
            <a:pPr indent="0" marL="0">
              <a:buNone/>
            </a:pPr>
            <a:r>
              <a:rPr lang="en-US" sz="1400" b="1" dirty="0">
                <a:solidFill>
                  <a:schemeClr val="tx2"/>
                </a:solidFill>
              </a:rPr>
              <a:t>Para quién:</a:t>
            </a:r>
            <a:endParaRPr lang="en-US" sz="1400" dirty="0"/>
          </a:p>
        </p:txBody>
      </p:sp>
      <p:sp>
        <p:nvSpPr>
          <p:cNvPr id="25" name="usuario-39"/>
          <p:cNvSpPr/>
          <p:nvPr/>
        </p:nvSpPr>
        <p:spPr>
          <a:xfrm>
            <a:off x="5806440" y="4946904"/>
            <a:ext cx="1645920" cy="347472"/>
          </a:xfrm>
          <a:prstGeom prst="roundRect">
            <a:avLst>
              <a:gd name="adj" fmla="val 44737"/>
            </a:avLst>
          </a:prstGeom>
          <a:solidFill>
            <a:schemeClr val="bg2"/>
          </a:solidFill>
          <a:ln/>
        </p:spPr>
        <p:txBody>
          <a:bodyPr wrap="square" lIns="0" tIns="0" rIns="0" bIns="0" rtlCol="0" anchor="ctr"/>
          <a:lstStyle/>
          <a:p>
            <a:pPr algn="ctr" indent="0" marL="0">
              <a:buNone/>
            </a:pPr>
            <a:r>
              <a:rPr lang="en-US" sz="1400" dirty="0">
                <a:solidFill>
                  <a:schemeClr val="tx2"/>
                </a:solidFill>
              </a:rPr>
              <a:t>Trabajadores</a:t>
            </a:r>
            <a:endParaRPr lang="en-US" sz="1400" dirty="0"/>
          </a:p>
        </p:txBody>
      </p:sp>
      <p:sp>
        <p:nvSpPr>
          <p:cNvPr id="26" name="usuario-40"/>
          <p:cNvSpPr/>
          <p:nvPr/>
        </p:nvSpPr>
        <p:spPr>
          <a:xfrm>
            <a:off x="7589520" y="4946904"/>
            <a:ext cx="1645920" cy="347472"/>
          </a:xfrm>
          <a:prstGeom prst="roundRect">
            <a:avLst>
              <a:gd name="adj" fmla="val 44737"/>
            </a:avLst>
          </a:prstGeom>
          <a:solidFill>
            <a:schemeClr val="bg2"/>
          </a:solidFill>
          <a:ln/>
        </p:spPr>
        <p:txBody>
          <a:bodyPr wrap="square" lIns="0" tIns="0" rIns="0" bIns="0" rtlCol="0" anchor="ctr"/>
          <a:lstStyle/>
          <a:p>
            <a:pPr algn="ctr" indent="0" marL="0">
              <a:buNone/>
            </a:pPr>
            <a:r>
              <a:rPr lang="en-US" sz="1400" dirty="0">
                <a:solidFill>
                  <a:schemeClr val="tx2"/>
                </a:solidFill>
              </a:rPr>
              <a:t>Empleadores</a:t>
            </a:r>
            <a:endParaRPr lang="en-US" sz="1400" dirty="0"/>
          </a:p>
        </p:txBody>
      </p:sp>
      <p:sp>
        <p:nvSpPr>
          <p:cNvPr id="27" name="usuario-41"/>
          <p:cNvSpPr/>
          <p:nvPr/>
        </p:nvSpPr>
        <p:spPr>
          <a:xfrm>
            <a:off x="9372600" y="4946904"/>
            <a:ext cx="1645920" cy="347472"/>
          </a:xfrm>
          <a:prstGeom prst="roundRect">
            <a:avLst>
              <a:gd name="adj" fmla="val 44737"/>
            </a:avLst>
          </a:prstGeom>
          <a:solidFill>
            <a:schemeClr val="bg2"/>
          </a:solidFill>
          <a:ln/>
        </p:spPr>
        <p:txBody>
          <a:bodyPr wrap="square" lIns="0" tIns="0" rIns="0" bIns="0" rtlCol="0" anchor="ctr"/>
          <a:lstStyle/>
          <a:p>
            <a:pPr algn="ctr" indent="0" marL="0">
              <a:buNone/>
            </a:pPr>
            <a:r>
              <a:rPr lang="en-US" sz="1400" dirty="0">
                <a:solidFill>
                  <a:schemeClr val="tx2"/>
                </a:solidFill>
              </a:rPr>
              <a:t>Recursos Humanos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Mockups: index.html y menú vertical</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Bocetos en gris de cada pantalla, antes de escribir el HTML</a:t>
            </a:r>
            <a:endParaRPr lang="en-US" sz="1600" dirty="0"/>
          </a:p>
        </p:txBody>
      </p:sp>
      <p:sp>
        <p:nvSpPr>
          <p:cNvPr id="4" name="numero-42"/>
          <p:cNvSpPr/>
          <p:nvPr/>
        </p:nvSpPr>
        <p:spPr>
          <a:xfrm>
            <a:off x="548640" y="157276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o-43"/>
          <p:cNvSpPr txBox="1"/>
          <p:nvPr/>
        </p:nvSpPr>
        <p:spPr>
          <a:xfrm>
            <a:off x="1024128" y="1600200"/>
            <a:ext cx="4882896" cy="310896"/>
          </a:xfrm>
          <a:prstGeom prst="rect">
            <a:avLst/>
          </a:prstGeom>
          <a:noFill/>
          <a:ln/>
        </p:spPr>
        <p:txBody>
          <a:bodyPr wrap="square" lIns="0" tIns="0" rIns="0" bIns="0" rtlCol="0" anchor="ctr"/>
          <a:lstStyle/>
          <a:p>
            <a:pPr indent="0" marL="0">
              <a:buNone/>
            </a:pPr>
            <a:r>
              <a:rPr lang="en-US" sz="1600" b="1" dirty="0">
                <a:solidFill>
                  <a:schemeClr val="tx2"/>
                </a:solidFill>
              </a:rPr>
              <a:t>index.html · página de inicio</a:t>
            </a:r>
            <a:endParaRPr lang="en-US" sz="1600" dirty="0"/>
          </a:p>
        </p:txBody>
      </p:sp>
      <p:sp>
        <p:nvSpPr>
          <p:cNvPr id="6" name="numero-44"/>
          <p:cNvSpPr/>
          <p:nvPr/>
        </p:nvSpPr>
        <p:spPr>
          <a:xfrm>
            <a:off x="6284671" y="157276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 name="texto-45"/>
          <p:cNvSpPr txBox="1"/>
          <p:nvPr/>
        </p:nvSpPr>
        <p:spPr>
          <a:xfrm>
            <a:off x="6760159" y="1600200"/>
            <a:ext cx="4882896" cy="310896"/>
          </a:xfrm>
          <a:prstGeom prst="rect">
            <a:avLst/>
          </a:prstGeom>
          <a:noFill/>
          <a:ln/>
        </p:spPr>
        <p:txBody>
          <a:bodyPr wrap="square" lIns="0" tIns="0" rIns="0" bIns="0" rtlCol="0" anchor="ctr"/>
          <a:lstStyle/>
          <a:p>
            <a:pPr indent="0" marL="0">
              <a:buNone/>
            </a:pPr>
            <a:r>
              <a:rPr lang="en-US" sz="1600" b="1" dirty="0">
                <a:solidFill>
                  <a:schemeClr val="tx2"/>
                </a:solidFill>
              </a:rPr>
              <a:t>Menú vertical</a:t>
            </a:r>
            <a:endParaRPr lang="en-US" sz="1600" dirty="0"/>
          </a:p>
        </p:txBody>
      </p:sp>
      <p:sp>
        <p:nvSpPr>
          <p:cNvPr id="8" name="navegador-46"/>
          <p:cNvSpPr/>
          <p:nvPr/>
        </p:nvSpPr>
        <p:spPr>
          <a:xfrm>
            <a:off x="548640" y="2057400"/>
            <a:ext cx="5358384" cy="3529584"/>
          </a:xfrm>
          <a:prstGeom prst="roundRect">
            <a:avLst>
              <a:gd name="adj" fmla="val 2073"/>
            </a:avLst>
          </a:prstGeom>
          <a:solidFill>
            <a:srgbClr val="DDE3E0"/>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9" name="punto-47"/>
          <p:cNvSpPr/>
          <p:nvPr/>
        </p:nvSpPr>
        <p:spPr>
          <a:xfrm>
            <a:off x="685800" y="2171700"/>
            <a:ext cx="100584" cy="100584"/>
          </a:xfrm>
          <a:prstGeom prst="ellipse">
            <a:avLst/>
          </a:prstGeom>
          <a:solidFill>
            <a:srgbClr val="A9B3AE"/>
          </a:solidFill>
          <a:ln/>
        </p:spPr>
      </p:sp>
      <p:sp>
        <p:nvSpPr>
          <p:cNvPr id="10" name="punto-48"/>
          <p:cNvSpPr/>
          <p:nvPr/>
        </p:nvSpPr>
        <p:spPr>
          <a:xfrm>
            <a:off x="841248" y="2171700"/>
            <a:ext cx="100584" cy="100584"/>
          </a:xfrm>
          <a:prstGeom prst="ellipse">
            <a:avLst/>
          </a:prstGeom>
          <a:solidFill>
            <a:srgbClr val="A9B3AE"/>
          </a:solidFill>
          <a:ln/>
        </p:spPr>
      </p:sp>
      <p:sp>
        <p:nvSpPr>
          <p:cNvPr id="11" name="punto-49"/>
          <p:cNvSpPr/>
          <p:nvPr/>
        </p:nvSpPr>
        <p:spPr>
          <a:xfrm>
            <a:off x="996696" y="2171700"/>
            <a:ext cx="100584" cy="100584"/>
          </a:xfrm>
          <a:prstGeom prst="ellipse">
            <a:avLst/>
          </a:prstGeom>
          <a:solidFill>
            <a:srgbClr val="A9B3AE"/>
          </a:solidFill>
          <a:ln/>
        </p:spPr>
      </p:sp>
      <p:sp>
        <p:nvSpPr>
          <p:cNvPr id="12" name="url-50"/>
          <p:cNvSpPr/>
          <p:nvPr/>
        </p:nvSpPr>
        <p:spPr>
          <a:xfrm>
            <a:off x="1207008" y="2121408"/>
            <a:ext cx="4535424"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rgbClr val="5E6964"/>
                </a:solidFill>
              </a:rPr>
              <a:t>/alumnos/</a:t>
            </a:r>
            <a:endParaRPr lang="en-US" sz="1000" dirty="0"/>
          </a:p>
        </p:txBody>
      </p:sp>
      <p:sp>
        <p:nvSpPr>
          <p:cNvPr id="13" name="lienzo-51"/>
          <p:cNvSpPr/>
          <p:nvPr/>
        </p:nvSpPr>
        <p:spPr>
          <a:xfrm>
            <a:off x="594360" y="2386584"/>
            <a:ext cx="5266944" cy="3154680"/>
          </a:xfrm>
          <a:prstGeom prst="rect">
            <a:avLst/>
          </a:prstGeom>
          <a:solidFill>
            <a:srgbClr val="FFFFFF"/>
          </a:solidFill>
          <a:ln/>
        </p:spPr>
      </p:sp>
      <p:sp>
        <p:nvSpPr>
          <p:cNvPr id="14" name="wf-cabecera-52"/>
          <p:cNvSpPr/>
          <p:nvPr/>
        </p:nvSpPr>
        <p:spPr>
          <a:xfrm>
            <a:off x="594360" y="2386584"/>
            <a:ext cx="5266944" cy="310896"/>
          </a:xfrm>
          <a:prstGeom prst="rect">
            <a:avLst/>
          </a:prstGeom>
          <a:solidFill>
            <a:srgbClr val="F6F8F7"/>
          </a:solidFill>
          <a:ln w="6350">
            <a:solidFill>
              <a:srgbClr val="CDD5D1"/>
            </a:solidFill>
            <a:prstDash val="solid"/>
          </a:ln>
        </p:spPr>
      </p:sp>
      <p:sp>
        <p:nvSpPr>
          <p:cNvPr id="15" name="wf-menu-53"/>
          <p:cNvSpPr/>
          <p:nvPr/>
        </p:nvSpPr>
        <p:spPr>
          <a:xfrm>
            <a:off x="704088" y="2441448"/>
            <a:ext cx="256032" cy="201168"/>
          </a:xfrm>
          <a:prstGeom prst="roundRect">
            <a:avLst>
              <a:gd name="adj" fmla="val 18182"/>
            </a:avLst>
          </a:prstGeom>
          <a:solidFill>
            <a:srgbClr val="FFFFFF"/>
          </a:solidFill>
          <a:ln w="9525">
            <a:solidFill>
              <a:srgbClr val="7E8984"/>
            </a:solidFill>
            <a:prstDash val="solid"/>
          </a:ln>
        </p:spPr>
      </p:sp>
      <p:sp>
        <p:nvSpPr>
          <p:cNvPr id="16" name="wf-raya-54"/>
          <p:cNvSpPr/>
          <p:nvPr/>
        </p:nvSpPr>
        <p:spPr>
          <a:xfrm>
            <a:off x="768096" y="2491740"/>
            <a:ext cx="128016" cy="16459"/>
          </a:xfrm>
          <a:prstGeom prst="rect">
            <a:avLst/>
          </a:prstGeom>
          <a:solidFill>
            <a:srgbClr val="7E8984"/>
          </a:solidFill>
          <a:ln/>
        </p:spPr>
      </p:sp>
      <p:sp>
        <p:nvSpPr>
          <p:cNvPr id="17" name="wf-raya-55"/>
          <p:cNvSpPr/>
          <p:nvPr/>
        </p:nvSpPr>
        <p:spPr>
          <a:xfrm>
            <a:off x="768096" y="2532888"/>
            <a:ext cx="128016" cy="16459"/>
          </a:xfrm>
          <a:prstGeom prst="rect">
            <a:avLst/>
          </a:prstGeom>
          <a:solidFill>
            <a:srgbClr val="7E8984"/>
          </a:solidFill>
          <a:ln/>
        </p:spPr>
      </p:sp>
      <p:sp>
        <p:nvSpPr>
          <p:cNvPr id="18" name="wf-raya-56"/>
          <p:cNvSpPr/>
          <p:nvPr/>
        </p:nvSpPr>
        <p:spPr>
          <a:xfrm>
            <a:off x="768096" y="2574036"/>
            <a:ext cx="128016" cy="16459"/>
          </a:xfrm>
          <a:prstGeom prst="rect">
            <a:avLst/>
          </a:prstGeom>
          <a:solidFill>
            <a:srgbClr val="7E8984"/>
          </a:solidFill>
          <a:ln/>
        </p:spPr>
      </p:sp>
      <p:sp>
        <p:nvSpPr>
          <p:cNvPr id="19" name="wf-texto-57"/>
          <p:cNvSpPr txBox="1"/>
          <p:nvPr/>
        </p:nvSpPr>
        <p:spPr>
          <a:xfrm>
            <a:off x="1033272" y="2441448"/>
            <a:ext cx="1097280" cy="201168"/>
          </a:xfrm>
          <a:prstGeom prst="rect">
            <a:avLst/>
          </a:prstGeom>
          <a:noFill/>
          <a:ln/>
        </p:spPr>
        <p:txBody>
          <a:bodyPr wrap="square" lIns="0" tIns="0" rIns="0" bIns="0" rtlCol="0" anchor="ctr"/>
          <a:lstStyle/>
          <a:p>
            <a:pPr indent="0" marL="0">
              <a:buNone/>
            </a:pPr>
            <a:r>
              <a:rPr lang="en-US" sz="1000" b="1" dirty="0">
                <a:solidFill>
                  <a:srgbClr val="5E6964"/>
                </a:solidFill>
              </a:rPr>
              <a:t>Proyecto</a:t>
            </a:r>
            <a:endParaRPr lang="en-US" sz="1000" dirty="0"/>
          </a:p>
        </p:txBody>
      </p:sp>
      <p:sp>
        <p:nvSpPr>
          <p:cNvPr id="20" name="wf-texto-58"/>
          <p:cNvSpPr txBox="1"/>
          <p:nvPr/>
        </p:nvSpPr>
        <p:spPr>
          <a:xfrm>
            <a:off x="868680" y="2843784"/>
            <a:ext cx="2743200" cy="292608"/>
          </a:xfrm>
          <a:prstGeom prst="rect">
            <a:avLst/>
          </a:prstGeom>
          <a:noFill/>
          <a:ln/>
        </p:spPr>
        <p:txBody>
          <a:bodyPr wrap="square" lIns="0" tIns="0" rIns="0" bIns="0" rtlCol="0" anchor="ctr"/>
          <a:lstStyle/>
          <a:p>
            <a:pPr indent="0" marL="0">
              <a:buNone/>
            </a:pPr>
            <a:r>
              <a:rPr lang="en-US" sz="1400" b="1" dirty="0">
                <a:solidFill>
                  <a:srgbClr val="4A5550"/>
                </a:solidFill>
              </a:rPr>
              <a:t>Proyecto Certamen 2</a:t>
            </a:r>
            <a:endParaRPr lang="en-US" sz="1400" dirty="0"/>
          </a:p>
        </p:txBody>
      </p:sp>
      <p:sp>
        <p:nvSpPr>
          <p:cNvPr id="21" name="wf-tarjeta-59"/>
          <p:cNvSpPr/>
          <p:nvPr/>
        </p:nvSpPr>
        <p:spPr>
          <a:xfrm>
            <a:off x="868680" y="3300984"/>
            <a:ext cx="2267712" cy="1188720"/>
          </a:xfrm>
          <a:prstGeom prst="roundRect">
            <a:avLst>
              <a:gd name="adj" fmla="val 4615"/>
            </a:avLst>
          </a:prstGeom>
          <a:solidFill>
            <a:srgbClr val="FFFFFF"/>
          </a:solidFill>
          <a:ln w="12700">
            <a:solidFill>
              <a:srgbClr val="9DA8A3"/>
            </a:solidFill>
            <a:prstDash val="solid"/>
          </a:ln>
        </p:spPr>
      </p:sp>
      <p:sp>
        <p:nvSpPr>
          <p:cNvPr id="22" name="wf-texto-60"/>
          <p:cNvSpPr txBox="1"/>
          <p:nvPr/>
        </p:nvSpPr>
        <p:spPr>
          <a:xfrm>
            <a:off x="1014984" y="3419856"/>
            <a:ext cx="1993392" cy="256032"/>
          </a:xfrm>
          <a:prstGeom prst="rect">
            <a:avLst/>
          </a:prstGeom>
          <a:noFill/>
          <a:ln/>
        </p:spPr>
        <p:txBody>
          <a:bodyPr wrap="square" lIns="0" tIns="0" rIns="0" bIns="0" rtlCol="0" anchor="ctr"/>
          <a:lstStyle/>
          <a:p>
            <a:pPr indent="0" marL="0">
              <a:buNone/>
            </a:pPr>
            <a:r>
              <a:rPr lang="en-US" sz="1200" b="1" dirty="0">
                <a:solidFill>
                  <a:srgbClr val="4A5550"/>
                </a:solidFill>
              </a:rPr>
              <a:t>Listado de datos</a:t>
            </a:r>
            <a:endParaRPr lang="en-US" sz="1200" dirty="0"/>
          </a:p>
        </p:txBody>
      </p:sp>
      <p:sp>
        <p:nvSpPr>
          <p:cNvPr id="23" name="wf-linea-61"/>
          <p:cNvSpPr/>
          <p:nvPr/>
        </p:nvSpPr>
        <p:spPr>
          <a:xfrm>
            <a:off x="1014984" y="3803904"/>
            <a:ext cx="1594714" cy="64008"/>
          </a:xfrm>
          <a:prstGeom prst="rect">
            <a:avLst/>
          </a:prstGeom>
          <a:solidFill>
            <a:srgbClr val="CDD5D1"/>
          </a:solidFill>
          <a:ln/>
        </p:spPr>
      </p:sp>
      <p:sp>
        <p:nvSpPr>
          <p:cNvPr id="24" name="wf-boton-62"/>
          <p:cNvSpPr/>
          <p:nvPr/>
        </p:nvSpPr>
        <p:spPr>
          <a:xfrm>
            <a:off x="1014984" y="4050792"/>
            <a:ext cx="1005840" cy="246888"/>
          </a:xfrm>
          <a:prstGeom prst="roundRect">
            <a:avLst>
              <a:gd name="adj" fmla="val 18519"/>
            </a:avLst>
          </a:prstGeom>
          <a:solidFill>
            <a:srgbClr val="7E8984"/>
          </a:solidFill>
          <a:ln w="9525">
            <a:solidFill>
              <a:srgbClr val="7E8984"/>
            </a:solidFill>
          </a:ln>
        </p:spPr>
        <p:txBody>
          <a:bodyPr wrap="square" lIns="0" tIns="0" rIns="0" bIns="0" rtlCol="0" anchor="ctr"/>
          <a:lstStyle/>
          <a:p>
            <a:pPr algn="ctr" indent="0" marL="0">
              <a:buNone/>
            </a:pPr>
            <a:r>
              <a:rPr lang="en-US" sz="1000" dirty="0">
                <a:solidFill>
                  <a:srgbClr val="FFFFFF"/>
                </a:solidFill>
              </a:rPr>
              <a:t>Ver listado</a:t>
            </a:r>
            <a:endParaRPr lang="en-US" sz="1000" dirty="0"/>
          </a:p>
        </p:txBody>
      </p:sp>
      <p:sp>
        <p:nvSpPr>
          <p:cNvPr id="25" name="wf-tarjeta-63"/>
          <p:cNvSpPr/>
          <p:nvPr/>
        </p:nvSpPr>
        <p:spPr>
          <a:xfrm>
            <a:off x="3319272" y="3300984"/>
            <a:ext cx="2267712" cy="1188720"/>
          </a:xfrm>
          <a:prstGeom prst="roundRect">
            <a:avLst>
              <a:gd name="adj" fmla="val 4615"/>
            </a:avLst>
          </a:prstGeom>
          <a:solidFill>
            <a:srgbClr val="FFFFFF"/>
          </a:solidFill>
          <a:ln w="12700">
            <a:solidFill>
              <a:srgbClr val="9DA8A3"/>
            </a:solidFill>
            <a:prstDash val="solid"/>
          </a:ln>
        </p:spPr>
      </p:sp>
      <p:sp>
        <p:nvSpPr>
          <p:cNvPr id="26" name="wf-texto-64"/>
          <p:cNvSpPr txBox="1"/>
          <p:nvPr/>
        </p:nvSpPr>
        <p:spPr>
          <a:xfrm>
            <a:off x="3465576" y="3419856"/>
            <a:ext cx="1993392" cy="256032"/>
          </a:xfrm>
          <a:prstGeom prst="rect">
            <a:avLst/>
          </a:prstGeom>
          <a:noFill/>
          <a:ln/>
        </p:spPr>
        <p:txBody>
          <a:bodyPr wrap="square" lIns="0" tIns="0" rIns="0" bIns="0" rtlCol="0" anchor="ctr"/>
          <a:lstStyle/>
          <a:p>
            <a:pPr indent="0" marL="0">
              <a:buNone/>
            </a:pPr>
            <a:r>
              <a:rPr lang="en-US" sz="1200" b="1" dirty="0">
                <a:solidFill>
                  <a:srgbClr val="4A5550"/>
                </a:solidFill>
              </a:rPr>
              <a:t>Gráficos</a:t>
            </a:r>
            <a:endParaRPr lang="en-US" sz="1200" dirty="0"/>
          </a:p>
        </p:txBody>
      </p:sp>
      <p:sp>
        <p:nvSpPr>
          <p:cNvPr id="27" name="wf-linea-65"/>
          <p:cNvSpPr/>
          <p:nvPr/>
        </p:nvSpPr>
        <p:spPr>
          <a:xfrm>
            <a:off x="3465576" y="3803904"/>
            <a:ext cx="1594714" cy="64008"/>
          </a:xfrm>
          <a:prstGeom prst="rect">
            <a:avLst/>
          </a:prstGeom>
          <a:solidFill>
            <a:srgbClr val="CDD5D1"/>
          </a:solidFill>
          <a:ln/>
        </p:spPr>
      </p:sp>
      <p:sp>
        <p:nvSpPr>
          <p:cNvPr id="28" name="wf-boton-66"/>
          <p:cNvSpPr/>
          <p:nvPr/>
        </p:nvSpPr>
        <p:spPr>
          <a:xfrm>
            <a:off x="3465576" y="4050792"/>
            <a:ext cx="1005840" cy="246888"/>
          </a:xfrm>
          <a:prstGeom prst="roundRect">
            <a:avLst>
              <a:gd name="adj" fmla="val 18519"/>
            </a:avLst>
          </a:prstGeom>
          <a:solidFill>
            <a:srgbClr val="7E8984"/>
          </a:solidFill>
          <a:ln w="9525">
            <a:solidFill>
              <a:srgbClr val="7E8984"/>
            </a:solidFill>
          </a:ln>
        </p:spPr>
        <p:txBody>
          <a:bodyPr wrap="square" lIns="0" tIns="0" rIns="0" bIns="0" rtlCol="0" anchor="ctr"/>
          <a:lstStyle/>
          <a:p>
            <a:pPr algn="ctr" indent="0" marL="0">
              <a:buNone/>
            </a:pPr>
            <a:r>
              <a:rPr lang="en-US" sz="1000" dirty="0">
                <a:solidFill>
                  <a:srgbClr val="FFFFFF"/>
                </a:solidFill>
              </a:rPr>
              <a:t>Ver gráficos</a:t>
            </a:r>
            <a:endParaRPr lang="en-US" sz="1000" dirty="0"/>
          </a:p>
        </p:txBody>
      </p:sp>
      <p:sp>
        <p:nvSpPr>
          <p:cNvPr id="29" name="navegador-67"/>
          <p:cNvSpPr/>
          <p:nvPr/>
        </p:nvSpPr>
        <p:spPr>
          <a:xfrm>
            <a:off x="6284671" y="2057400"/>
            <a:ext cx="5358384" cy="3529584"/>
          </a:xfrm>
          <a:prstGeom prst="roundRect">
            <a:avLst>
              <a:gd name="adj" fmla="val 2073"/>
            </a:avLst>
          </a:prstGeom>
          <a:solidFill>
            <a:srgbClr val="DDE3E0"/>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30" name="punto-68"/>
          <p:cNvSpPr/>
          <p:nvPr/>
        </p:nvSpPr>
        <p:spPr>
          <a:xfrm>
            <a:off x="6421831" y="2171700"/>
            <a:ext cx="100584" cy="100584"/>
          </a:xfrm>
          <a:prstGeom prst="ellipse">
            <a:avLst/>
          </a:prstGeom>
          <a:solidFill>
            <a:srgbClr val="A9B3AE"/>
          </a:solidFill>
          <a:ln/>
        </p:spPr>
      </p:sp>
      <p:sp>
        <p:nvSpPr>
          <p:cNvPr id="31" name="punto-69"/>
          <p:cNvSpPr/>
          <p:nvPr/>
        </p:nvSpPr>
        <p:spPr>
          <a:xfrm>
            <a:off x="6577279" y="2171700"/>
            <a:ext cx="100584" cy="100584"/>
          </a:xfrm>
          <a:prstGeom prst="ellipse">
            <a:avLst/>
          </a:prstGeom>
          <a:solidFill>
            <a:srgbClr val="A9B3AE"/>
          </a:solidFill>
          <a:ln/>
        </p:spPr>
      </p:sp>
      <p:sp>
        <p:nvSpPr>
          <p:cNvPr id="32" name="punto-70"/>
          <p:cNvSpPr/>
          <p:nvPr/>
        </p:nvSpPr>
        <p:spPr>
          <a:xfrm>
            <a:off x="6732727" y="2171700"/>
            <a:ext cx="100584" cy="100584"/>
          </a:xfrm>
          <a:prstGeom prst="ellipse">
            <a:avLst/>
          </a:prstGeom>
          <a:solidFill>
            <a:srgbClr val="A9B3AE"/>
          </a:solidFill>
          <a:ln/>
        </p:spPr>
      </p:sp>
      <p:sp>
        <p:nvSpPr>
          <p:cNvPr id="33" name="url-71"/>
          <p:cNvSpPr/>
          <p:nvPr/>
        </p:nvSpPr>
        <p:spPr>
          <a:xfrm>
            <a:off x="6943039" y="2121408"/>
            <a:ext cx="4535424"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rgbClr val="5E6964"/>
                </a:solidFill>
              </a:rPr>
              <a:t>/alumnos/  ·  menú abierto</a:t>
            </a:r>
            <a:endParaRPr lang="en-US" sz="1000" dirty="0"/>
          </a:p>
        </p:txBody>
      </p:sp>
      <p:sp>
        <p:nvSpPr>
          <p:cNvPr id="34" name="lienzo-72"/>
          <p:cNvSpPr/>
          <p:nvPr/>
        </p:nvSpPr>
        <p:spPr>
          <a:xfrm>
            <a:off x="6330391" y="2386584"/>
            <a:ext cx="5266944" cy="3154680"/>
          </a:xfrm>
          <a:prstGeom prst="rect">
            <a:avLst/>
          </a:prstGeom>
          <a:solidFill>
            <a:srgbClr val="FFFFFF"/>
          </a:solidFill>
          <a:ln/>
        </p:spPr>
      </p:sp>
      <p:sp>
        <p:nvSpPr>
          <p:cNvPr id="35" name="wf-cabecera-73"/>
          <p:cNvSpPr/>
          <p:nvPr/>
        </p:nvSpPr>
        <p:spPr>
          <a:xfrm>
            <a:off x="6330391" y="2386584"/>
            <a:ext cx="5266944" cy="310896"/>
          </a:xfrm>
          <a:prstGeom prst="rect">
            <a:avLst/>
          </a:prstGeom>
          <a:solidFill>
            <a:srgbClr val="F6F8F7"/>
          </a:solidFill>
          <a:ln w="6350">
            <a:solidFill>
              <a:srgbClr val="CDD5D1"/>
            </a:solidFill>
            <a:prstDash val="solid"/>
          </a:ln>
        </p:spPr>
      </p:sp>
      <p:sp>
        <p:nvSpPr>
          <p:cNvPr id="36" name="wf-menu-74"/>
          <p:cNvSpPr/>
          <p:nvPr/>
        </p:nvSpPr>
        <p:spPr>
          <a:xfrm>
            <a:off x="6440119" y="2441448"/>
            <a:ext cx="256032" cy="201168"/>
          </a:xfrm>
          <a:prstGeom prst="roundRect">
            <a:avLst>
              <a:gd name="adj" fmla="val 18182"/>
            </a:avLst>
          </a:prstGeom>
          <a:solidFill>
            <a:srgbClr val="FFFFFF"/>
          </a:solidFill>
          <a:ln w="9525">
            <a:solidFill>
              <a:srgbClr val="7E8984"/>
            </a:solidFill>
            <a:prstDash val="solid"/>
          </a:ln>
        </p:spPr>
      </p:sp>
      <p:sp>
        <p:nvSpPr>
          <p:cNvPr id="37" name="wf-raya-75"/>
          <p:cNvSpPr/>
          <p:nvPr/>
        </p:nvSpPr>
        <p:spPr>
          <a:xfrm>
            <a:off x="6504127" y="2491740"/>
            <a:ext cx="128016" cy="16459"/>
          </a:xfrm>
          <a:prstGeom prst="rect">
            <a:avLst/>
          </a:prstGeom>
          <a:solidFill>
            <a:srgbClr val="7E8984"/>
          </a:solidFill>
          <a:ln/>
        </p:spPr>
      </p:sp>
      <p:sp>
        <p:nvSpPr>
          <p:cNvPr id="38" name="wf-raya-76"/>
          <p:cNvSpPr/>
          <p:nvPr/>
        </p:nvSpPr>
        <p:spPr>
          <a:xfrm>
            <a:off x="6504127" y="2532888"/>
            <a:ext cx="128016" cy="16459"/>
          </a:xfrm>
          <a:prstGeom prst="rect">
            <a:avLst/>
          </a:prstGeom>
          <a:solidFill>
            <a:srgbClr val="7E8984"/>
          </a:solidFill>
          <a:ln/>
        </p:spPr>
      </p:sp>
      <p:sp>
        <p:nvSpPr>
          <p:cNvPr id="39" name="wf-raya-77"/>
          <p:cNvSpPr/>
          <p:nvPr/>
        </p:nvSpPr>
        <p:spPr>
          <a:xfrm>
            <a:off x="6504127" y="2574036"/>
            <a:ext cx="128016" cy="16459"/>
          </a:xfrm>
          <a:prstGeom prst="rect">
            <a:avLst/>
          </a:prstGeom>
          <a:solidFill>
            <a:srgbClr val="7E8984"/>
          </a:solidFill>
          <a:ln/>
        </p:spPr>
      </p:sp>
      <p:sp>
        <p:nvSpPr>
          <p:cNvPr id="40" name="wf-texto-78"/>
          <p:cNvSpPr txBox="1"/>
          <p:nvPr/>
        </p:nvSpPr>
        <p:spPr>
          <a:xfrm>
            <a:off x="6769303" y="2441448"/>
            <a:ext cx="1097280" cy="201168"/>
          </a:xfrm>
          <a:prstGeom prst="rect">
            <a:avLst/>
          </a:prstGeom>
          <a:noFill/>
          <a:ln/>
        </p:spPr>
        <p:txBody>
          <a:bodyPr wrap="square" lIns="0" tIns="0" rIns="0" bIns="0" rtlCol="0" anchor="ctr"/>
          <a:lstStyle/>
          <a:p>
            <a:pPr indent="0" marL="0">
              <a:buNone/>
            </a:pPr>
            <a:r>
              <a:rPr lang="en-US" sz="1000" b="1" dirty="0">
                <a:solidFill>
                  <a:srgbClr val="5E6964"/>
                </a:solidFill>
              </a:rPr>
              <a:t>Proyecto</a:t>
            </a:r>
            <a:endParaRPr lang="en-US" sz="1000" dirty="0"/>
          </a:p>
        </p:txBody>
      </p:sp>
      <p:sp>
        <p:nvSpPr>
          <p:cNvPr id="41" name="wf-texto-79"/>
          <p:cNvSpPr txBox="1"/>
          <p:nvPr/>
        </p:nvSpPr>
        <p:spPr>
          <a:xfrm>
            <a:off x="6604711" y="2843784"/>
            <a:ext cx="2743200" cy="292608"/>
          </a:xfrm>
          <a:prstGeom prst="rect">
            <a:avLst/>
          </a:prstGeom>
          <a:noFill/>
          <a:ln/>
        </p:spPr>
        <p:txBody>
          <a:bodyPr wrap="square" lIns="0" tIns="0" rIns="0" bIns="0" rtlCol="0" anchor="ctr"/>
          <a:lstStyle/>
          <a:p>
            <a:pPr indent="0" marL="0">
              <a:buNone/>
            </a:pPr>
            <a:r>
              <a:rPr lang="en-US" sz="1400" b="1" dirty="0">
                <a:solidFill>
                  <a:srgbClr val="4A5550"/>
                </a:solidFill>
              </a:rPr>
              <a:t>Proyecto Certamen 2</a:t>
            </a:r>
            <a:endParaRPr lang="en-US" sz="1400" dirty="0"/>
          </a:p>
        </p:txBody>
      </p:sp>
      <p:sp>
        <p:nvSpPr>
          <p:cNvPr id="42" name="wf-tarjeta-80"/>
          <p:cNvSpPr/>
          <p:nvPr/>
        </p:nvSpPr>
        <p:spPr>
          <a:xfrm>
            <a:off x="6604711" y="3300984"/>
            <a:ext cx="2267712" cy="1188720"/>
          </a:xfrm>
          <a:prstGeom prst="roundRect">
            <a:avLst>
              <a:gd name="adj" fmla="val 4615"/>
            </a:avLst>
          </a:prstGeom>
          <a:solidFill>
            <a:srgbClr val="FFFFFF"/>
          </a:solidFill>
          <a:ln w="12700">
            <a:solidFill>
              <a:srgbClr val="9DA8A3"/>
            </a:solidFill>
            <a:prstDash val="solid"/>
          </a:ln>
        </p:spPr>
      </p:sp>
      <p:sp>
        <p:nvSpPr>
          <p:cNvPr id="43" name="wf-texto-81"/>
          <p:cNvSpPr txBox="1"/>
          <p:nvPr/>
        </p:nvSpPr>
        <p:spPr>
          <a:xfrm>
            <a:off x="6751015" y="3419856"/>
            <a:ext cx="1993392" cy="256032"/>
          </a:xfrm>
          <a:prstGeom prst="rect">
            <a:avLst/>
          </a:prstGeom>
          <a:noFill/>
          <a:ln/>
        </p:spPr>
        <p:txBody>
          <a:bodyPr wrap="square" lIns="0" tIns="0" rIns="0" bIns="0" rtlCol="0" anchor="ctr"/>
          <a:lstStyle/>
          <a:p>
            <a:pPr indent="0" marL="0">
              <a:buNone/>
            </a:pPr>
            <a:r>
              <a:rPr lang="en-US" sz="1200" b="1" dirty="0">
                <a:solidFill>
                  <a:srgbClr val="4A5550"/>
                </a:solidFill>
              </a:rPr>
              <a:t>Listado de datos</a:t>
            </a:r>
            <a:endParaRPr lang="en-US" sz="1200" dirty="0"/>
          </a:p>
        </p:txBody>
      </p:sp>
      <p:sp>
        <p:nvSpPr>
          <p:cNvPr id="44" name="wf-linea-82"/>
          <p:cNvSpPr/>
          <p:nvPr/>
        </p:nvSpPr>
        <p:spPr>
          <a:xfrm>
            <a:off x="6751015" y="3803904"/>
            <a:ext cx="1594714" cy="64008"/>
          </a:xfrm>
          <a:prstGeom prst="rect">
            <a:avLst/>
          </a:prstGeom>
          <a:solidFill>
            <a:srgbClr val="CDD5D1"/>
          </a:solidFill>
          <a:ln/>
        </p:spPr>
      </p:sp>
      <p:sp>
        <p:nvSpPr>
          <p:cNvPr id="45" name="wf-boton-83"/>
          <p:cNvSpPr/>
          <p:nvPr/>
        </p:nvSpPr>
        <p:spPr>
          <a:xfrm>
            <a:off x="6751015" y="4050792"/>
            <a:ext cx="1005840" cy="246888"/>
          </a:xfrm>
          <a:prstGeom prst="roundRect">
            <a:avLst>
              <a:gd name="adj" fmla="val 18519"/>
            </a:avLst>
          </a:prstGeom>
          <a:solidFill>
            <a:srgbClr val="7E8984"/>
          </a:solidFill>
          <a:ln w="9525">
            <a:solidFill>
              <a:srgbClr val="7E8984"/>
            </a:solidFill>
          </a:ln>
        </p:spPr>
        <p:txBody>
          <a:bodyPr wrap="square" lIns="0" tIns="0" rIns="0" bIns="0" rtlCol="0" anchor="ctr"/>
          <a:lstStyle/>
          <a:p>
            <a:pPr algn="ctr" indent="0" marL="0">
              <a:buNone/>
            </a:pPr>
            <a:r>
              <a:rPr lang="en-US" sz="1000" dirty="0">
                <a:solidFill>
                  <a:srgbClr val="FFFFFF"/>
                </a:solidFill>
              </a:rPr>
              <a:t>Ver listado</a:t>
            </a:r>
            <a:endParaRPr lang="en-US" sz="1000" dirty="0"/>
          </a:p>
        </p:txBody>
      </p:sp>
      <p:sp>
        <p:nvSpPr>
          <p:cNvPr id="46" name="wf-tarjeta-84"/>
          <p:cNvSpPr/>
          <p:nvPr/>
        </p:nvSpPr>
        <p:spPr>
          <a:xfrm>
            <a:off x="9055303" y="3300984"/>
            <a:ext cx="2267712" cy="1188720"/>
          </a:xfrm>
          <a:prstGeom prst="roundRect">
            <a:avLst>
              <a:gd name="adj" fmla="val 4615"/>
            </a:avLst>
          </a:prstGeom>
          <a:solidFill>
            <a:srgbClr val="FFFFFF"/>
          </a:solidFill>
          <a:ln w="12700">
            <a:solidFill>
              <a:srgbClr val="9DA8A3"/>
            </a:solidFill>
            <a:prstDash val="solid"/>
          </a:ln>
        </p:spPr>
      </p:sp>
      <p:sp>
        <p:nvSpPr>
          <p:cNvPr id="47" name="wf-texto-85"/>
          <p:cNvSpPr txBox="1"/>
          <p:nvPr/>
        </p:nvSpPr>
        <p:spPr>
          <a:xfrm>
            <a:off x="9201607" y="3419856"/>
            <a:ext cx="1993392" cy="256032"/>
          </a:xfrm>
          <a:prstGeom prst="rect">
            <a:avLst/>
          </a:prstGeom>
          <a:noFill/>
          <a:ln/>
        </p:spPr>
        <p:txBody>
          <a:bodyPr wrap="square" lIns="0" tIns="0" rIns="0" bIns="0" rtlCol="0" anchor="ctr"/>
          <a:lstStyle/>
          <a:p>
            <a:pPr indent="0" marL="0">
              <a:buNone/>
            </a:pPr>
            <a:r>
              <a:rPr lang="en-US" sz="1200" b="1" dirty="0">
                <a:solidFill>
                  <a:srgbClr val="4A5550"/>
                </a:solidFill>
              </a:rPr>
              <a:t>Gráficos</a:t>
            </a:r>
            <a:endParaRPr lang="en-US" sz="1200" dirty="0"/>
          </a:p>
        </p:txBody>
      </p:sp>
      <p:sp>
        <p:nvSpPr>
          <p:cNvPr id="48" name="wf-linea-86"/>
          <p:cNvSpPr/>
          <p:nvPr/>
        </p:nvSpPr>
        <p:spPr>
          <a:xfrm>
            <a:off x="9201607" y="3803904"/>
            <a:ext cx="1594714" cy="64008"/>
          </a:xfrm>
          <a:prstGeom prst="rect">
            <a:avLst/>
          </a:prstGeom>
          <a:solidFill>
            <a:srgbClr val="CDD5D1"/>
          </a:solidFill>
          <a:ln/>
        </p:spPr>
      </p:sp>
      <p:sp>
        <p:nvSpPr>
          <p:cNvPr id="49" name="wf-boton-87"/>
          <p:cNvSpPr/>
          <p:nvPr/>
        </p:nvSpPr>
        <p:spPr>
          <a:xfrm>
            <a:off x="9201607" y="4050792"/>
            <a:ext cx="1005840" cy="246888"/>
          </a:xfrm>
          <a:prstGeom prst="roundRect">
            <a:avLst>
              <a:gd name="adj" fmla="val 18519"/>
            </a:avLst>
          </a:prstGeom>
          <a:solidFill>
            <a:srgbClr val="7E8984"/>
          </a:solidFill>
          <a:ln w="9525">
            <a:solidFill>
              <a:srgbClr val="7E8984"/>
            </a:solidFill>
          </a:ln>
        </p:spPr>
        <p:txBody>
          <a:bodyPr wrap="square" lIns="0" tIns="0" rIns="0" bIns="0" rtlCol="0" anchor="ctr"/>
          <a:lstStyle/>
          <a:p>
            <a:pPr algn="ctr" indent="0" marL="0">
              <a:buNone/>
            </a:pPr>
            <a:r>
              <a:rPr lang="en-US" sz="1000" dirty="0">
                <a:solidFill>
                  <a:srgbClr val="FFFFFF"/>
                </a:solidFill>
              </a:rPr>
              <a:t>Ver gráficos</a:t>
            </a:r>
            <a:endParaRPr lang="en-US" sz="1000" dirty="0"/>
          </a:p>
        </p:txBody>
      </p:sp>
      <p:sp>
        <p:nvSpPr>
          <p:cNvPr id="50" name="wf-sombra-88"/>
          <p:cNvSpPr/>
          <p:nvPr/>
        </p:nvSpPr>
        <p:spPr>
          <a:xfrm>
            <a:off x="6330391" y="2386584"/>
            <a:ext cx="5266944" cy="3154680"/>
          </a:xfrm>
          <a:prstGeom prst="rect">
            <a:avLst/>
          </a:prstGeom>
          <a:solidFill>
            <a:srgbClr val="56615C">
              <a:alpha val="55000"/>
            </a:srgbClr>
          </a:solidFill>
          <a:ln/>
        </p:spPr>
      </p:sp>
      <p:sp>
        <p:nvSpPr>
          <p:cNvPr id="51" name="wf-panel-89"/>
          <p:cNvSpPr/>
          <p:nvPr/>
        </p:nvSpPr>
        <p:spPr>
          <a:xfrm>
            <a:off x="6330391" y="2386584"/>
            <a:ext cx="2148840" cy="3154680"/>
          </a:xfrm>
          <a:prstGeom prst="rect">
            <a:avLst/>
          </a:prstGeom>
          <a:solidFill>
            <a:srgbClr val="FFFFFF"/>
          </a:solidFill>
          <a:ln/>
        </p:spPr>
      </p:sp>
      <p:sp>
        <p:nvSpPr>
          <p:cNvPr id="52" name="wf-texto-90"/>
          <p:cNvSpPr txBox="1"/>
          <p:nvPr/>
        </p:nvSpPr>
        <p:spPr>
          <a:xfrm>
            <a:off x="6467551" y="2459736"/>
            <a:ext cx="1097280" cy="237744"/>
          </a:xfrm>
          <a:prstGeom prst="rect">
            <a:avLst/>
          </a:prstGeom>
          <a:noFill/>
          <a:ln/>
        </p:spPr>
        <p:txBody>
          <a:bodyPr wrap="square" lIns="0" tIns="0" rIns="0" bIns="0" rtlCol="0" anchor="ctr"/>
          <a:lstStyle/>
          <a:p>
            <a:pPr indent="0" marL="0">
              <a:buNone/>
            </a:pPr>
            <a:r>
              <a:rPr lang="en-US" sz="1000" b="1" dirty="0">
                <a:solidFill>
                  <a:srgbClr val="5E6964"/>
                </a:solidFill>
              </a:rPr>
              <a:t>Proyecto</a:t>
            </a:r>
            <a:endParaRPr lang="en-US" sz="1000" dirty="0"/>
          </a:p>
        </p:txBody>
      </p:sp>
      <p:sp>
        <p:nvSpPr>
          <p:cNvPr id="53" name="wf-texto-91"/>
          <p:cNvSpPr txBox="1"/>
          <p:nvPr/>
        </p:nvSpPr>
        <p:spPr>
          <a:xfrm>
            <a:off x="8159191" y="2459736"/>
            <a:ext cx="201168" cy="237744"/>
          </a:xfrm>
          <a:prstGeom prst="rect">
            <a:avLst/>
          </a:prstGeom>
          <a:noFill/>
          <a:ln/>
        </p:spPr>
        <p:txBody>
          <a:bodyPr wrap="square" lIns="0" tIns="0" rIns="0" bIns="0" rtlCol="0" anchor="ctr"/>
          <a:lstStyle/>
          <a:p>
            <a:pPr algn="ctr" indent="0" marL="0">
              <a:buNone/>
            </a:pPr>
            <a:r>
              <a:rPr lang="en-US" sz="1100" dirty="0">
                <a:solidFill>
                  <a:srgbClr val="5E6964"/>
                </a:solidFill>
              </a:rPr>
              <a:t>✕</a:t>
            </a:r>
            <a:endParaRPr lang="en-US" sz="1100" dirty="0"/>
          </a:p>
        </p:txBody>
      </p:sp>
      <p:sp>
        <p:nvSpPr>
          <p:cNvPr id="54" name="wf-linea-92"/>
          <p:cNvSpPr/>
          <p:nvPr/>
        </p:nvSpPr>
        <p:spPr>
          <a:xfrm>
            <a:off x="6330391" y="2788920"/>
            <a:ext cx="2148840" cy="10973"/>
          </a:xfrm>
          <a:prstGeom prst="rect">
            <a:avLst/>
          </a:prstGeom>
          <a:solidFill>
            <a:srgbClr val="CDD5D1"/>
          </a:solidFill>
          <a:ln/>
        </p:spPr>
      </p:sp>
      <p:sp>
        <p:nvSpPr>
          <p:cNvPr id="55" name="wf-texto-93"/>
          <p:cNvSpPr txBox="1"/>
          <p:nvPr/>
        </p:nvSpPr>
        <p:spPr>
          <a:xfrm>
            <a:off x="6467551" y="2916936"/>
            <a:ext cx="1280160" cy="237744"/>
          </a:xfrm>
          <a:prstGeom prst="rect">
            <a:avLst/>
          </a:prstGeom>
          <a:noFill/>
          <a:ln/>
        </p:spPr>
        <p:txBody>
          <a:bodyPr wrap="square" lIns="0" tIns="0" rIns="0" bIns="0" rtlCol="0" anchor="ctr"/>
          <a:lstStyle/>
          <a:p>
            <a:pPr indent="0" marL="0">
              <a:buNone/>
            </a:pPr>
            <a:r>
              <a:rPr lang="en-US" sz="1100" dirty="0">
                <a:solidFill>
                  <a:srgbClr val="5E6964"/>
                </a:solidFill>
              </a:rPr>
              <a:t>Listado de datos</a:t>
            </a:r>
            <a:endParaRPr lang="en-US" sz="1100" dirty="0"/>
          </a:p>
        </p:txBody>
      </p:sp>
      <p:sp>
        <p:nvSpPr>
          <p:cNvPr id="56" name="wf-flecha-94"/>
          <p:cNvSpPr/>
          <p:nvPr/>
        </p:nvSpPr>
        <p:spPr>
          <a:xfrm rot="10800000">
            <a:off x="7656271" y="3008376"/>
            <a:ext cx="100584" cy="64008"/>
          </a:xfrm>
          <a:prstGeom prst="triangle">
            <a:avLst/>
          </a:prstGeom>
          <a:solidFill>
            <a:srgbClr val="5E6964"/>
          </a:solidFill>
          <a:ln/>
        </p:spPr>
      </p:sp>
      <p:sp>
        <p:nvSpPr>
          <p:cNvPr id="57" name="wf-submenu-95"/>
          <p:cNvSpPr/>
          <p:nvPr/>
        </p:nvSpPr>
        <p:spPr>
          <a:xfrm>
            <a:off x="6440119" y="3227832"/>
            <a:ext cx="1929384" cy="868680"/>
          </a:xfrm>
          <a:prstGeom prst="roundRect">
            <a:avLst>
              <a:gd name="adj" fmla="val 5263"/>
            </a:avLst>
          </a:prstGeom>
          <a:solidFill>
            <a:srgbClr val="FFFFFF"/>
          </a:solidFill>
          <a:ln w="9525">
            <a:solidFill>
              <a:srgbClr val="CDD5D1"/>
            </a:solidFill>
            <a:prstDash val="solid"/>
          </a:ln>
        </p:spPr>
      </p:sp>
      <p:sp>
        <p:nvSpPr>
          <p:cNvPr id="58" name="wf-texto-96"/>
          <p:cNvSpPr txBox="1"/>
          <p:nvPr/>
        </p:nvSpPr>
        <p:spPr>
          <a:xfrm>
            <a:off x="6558991" y="3291840"/>
            <a:ext cx="1783080" cy="237744"/>
          </a:xfrm>
          <a:prstGeom prst="rect">
            <a:avLst/>
          </a:prstGeom>
          <a:noFill/>
          <a:ln/>
        </p:spPr>
        <p:txBody>
          <a:bodyPr wrap="square" lIns="0" tIns="0" rIns="0" bIns="0" rtlCol="0" anchor="ctr"/>
          <a:lstStyle/>
          <a:p>
            <a:pPr indent="0" marL="0">
              <a:buNone/>
            </a:pPr>
            <a:r>
              <a:rPr lang="en-US" sz="1000" dirty="0">
                <a:solidFill>
                  <a:srgbClr val="5E6964"/>
                </a:solidFill>
              </a:rPr>
              <a:t>Trabajadores por industria</a:t>
            </a:r>
            <a:endParaRPr lang="en-US" sz="1000" dirty="0"/>
          </a:p>
        </p:txBody>
      </p:sp>
      <p:sp>
        <p:nvSpPr>
          <p:cNvPr id="59" name="wf-texto-97"/>
          <p:cNvSpPr txBox="1"/>
          <p:nvPr/>
        </p:nvSpPr>
        <p:spPr>
          <a:xfrm>
            <a:off x="6558991" y="3547872"/>
            <a:ext cx="1783080" cy="237744"/>
          </a:xfrm>
          <a:prstGeom prst="rect">
            <a:avLst/>
          </a:prstGeom>
          <a:noFill/>
          <a:ln/>
        </p:spPr>
        <p:txBody>
          <a:bodyPr wrap="square" lIns="0" tIns="0" rIns="0" bIns="0" rtlCol="0" anchor="ctr"/>
          <a:lstStyle/>
          <a:p>
            <a:pPr indent="0" marL="0">
              <a:buNone/>
            </a:pPr>
            <a:r>
              <a:rPr lang="en-US" sz="1000" dirty="0">
                <a:solidFill>
                  <a:srgbClr val="5E6964"/>
                </a:solidFill>
              </a:rPr>
              <a:t>Horas según edad</a:t>
            </a:r>
            <a:endParaRPr lang="en-US" sz="1000" dirty="0"/>
          </a:p>
        </p:txBody>
      </p:sp>
      <p:sp>
        <p:nvSpPr>
          <p:cNvPr id="60" name="wf-texto-98"/>
          <p:cNvSpPr txBox="1"/>
          <p:nvPr/>
        </p:nvSpPr>
        <p:spPr>
          <a:xfrm>
            <a:off x="6558991" y="3803904"/>
            <a:ext cx="1783080" cy="237744"/>
          </a:xfrm>
          <a:prstGeom prst="rect">
            <a:avLst/>
          </a:prstGeom>
          <a:noFill/>
          <a:ln/>
        </p:spPr>
        <p:txBody>
          <a:bodyPr wrap="square" lIns="0" tIns="0" rIns="0" bIns="0" rtlCol="0" anchor="ctr"/>
          <a:lstStyle/>
          <a:p>
            <a:pPr indent="0" marL="0">
              <a:buNone/>
            </a:pPr>
            <a:r>
              <a:rPr lang="en-US" sz="1000" dirty="0">
                <a:solidFill>
                  <a:srgbClr val="5E6964"/>
                </a:solidFill>
              </a:rPr>
              <a:t>Equilibrio vida-trabajo</a:t>
            </a:r>
            <a:endParaRPr lang="en-US" sz="1000" dirty="0"/>
          </a:p>
        </p:txBody>
      </p:sp>
      <p:sp>
        <p:nvSpPr>
          <p:cNvPr id="61" name="wf-texto-99"/>
          <p:cNvSpPr txBox="1"/>
          <p:nvPr/>
        </p:nvSpPr>
        <p:spPr>
          <a:xfrm>
            <a:off x="6467551" y="4215384"/>
            <a:ext cx="914400" cy="237744"/>
          </a:xfrm>
          <a:prstGeom prst="rect">
            <a:avLst/>
          </a:prstGeom>
          <a:noFill/>
          <a:ln/>
        </p:spPr>
        <p:txBody>
          <a:bodyPr wrap="square" lIns="0" tIns="0" rIns="0" bIns="0" rtlCol="0" anchor="ctr"/>
          <a:lstStyle/>
          <a:p>
            <a:pPr indent="0" marL="0">
              <a:buNone/>
            </a:pPr>
            <a:r>
              <a:rPr lang="en-US" sz="1100" dirty="0">
                <a:solidFill>
                  <a:srgbClr val="5E6964"/>
                </a:solidFill>
              </a:rPr>
              <a:t>Gráficos</a:t>
            </a:r>
            <a:endParaRPr lang="en-US" sz="1100" dirty="0"/>
          </a:p>
        </p:txBody>
      </p:sp>
      <p:sp>
        <p:nvSpPr>
          <p:cNvPr id="62" name="wf-flecha-100"/>
          <p:cNvSpPr/>
          <p:nvPr/>
        </p:nvSpPr>
        <p:spPr>
          <a:xfrm rot="10800000">
            <a:off x="7107631" y="4306824"/>
            <a:ext cx="100584" cy="64008"/>
          </a:xfrm>
          <a:prstGeom prst="triangle">
            <a:avLst/>
          </a:prstGeom>
          <a:solidFill>
            <a:srgbClr val="5E6964"/>
          </a:solidFill>
          <a:ln/>
        </p:spPr>
      </p:sp>
      <p:sp>
        <p:nvSpPr>
          <p:cNvPr id="63" name="texto-101"/>
          <p:cNvSpPr txBox="1"/>
          <p:nvPr/>
        </p:nvSpPr>
        <p:spPr>
          <a:xfrm>
            <a:off x="548640" y="5724144"/>
            <a:ext cx="5358384" cy="320040"/>
          </a:xfrm>
          <a:prstGeom prst="rect">
            <a:avLst/>
          </a:prstGeom>
          <a:noFill/>
          <a:ln/>
        </p:spPr>
        <p:txBody>
          <a:bodyPr wrap="square" lIns="0" tIns="0" rIns="0" bIns="0" rtlCol="0" anchor="t"/>
          <a:lstStyle/>
          <a:p>
            <a:pPr indent="0" marL="0">
              <a:buNone/>
            </a:pPr>
            <a:r>
              <a:rPr lang="en-US" sz="1400" dirty="0">
                <a:solidFill>
                  <a:schemeClr val="accent5"/>
                </a:solidFill>
              </a:rPr>
              <a:t>Dos tarjetas: una lleva a las tablas y otra a los gráficos.</a:t>
            </a:r>
            <a:endParaRPr lang="en-US" sz="1400" dirty="0"/>
          </a:p>
        </p:txBody>
      </p:sp>
      <p:sp>
        <p:nvSpPr>
          <p:cNvPr id="64" name="texto-102"/>
          <p:cNvSpPr txBox="1"/>
          <p:nvPr/>
        </p:nvSpPr>
        <p:spPr>
          <a:xfrm>
            <a:off x="6284671" y="5724144"/>
            <a:ext cx="5358384" cy="320040"/>
          </a:xfrm>
          <a:prstGeom prst="rect">
            <a:avLst/>
          </a:prstGeom>
          <a:noFill/>
          <a:ln/>
        </p:spPr>
        <p:txBody>
          <a:bodyPr wrap="square" lIns="0" tIns="0" rIns="0" bIns="0" rtlCol="0" anchor="t"/>
          <a:lstStyle/>
          <a:p>
            <a:pPr indent="0" marL="0">
              <a:buNone/>
            </a:pPr>
            <a:r>
              <a:rPr lang="en-US" sz="1400" dirty="0">
                <a:solidFill>
                  <a:schemeClr val="accent5"/>
                </a:solidFill>
              </a:rPr>
              <a:t>Se abre con ☰ desde la izquierda y agrupa las 6 vistas.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Mockups: las páginas internas</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Selección, tabla y gráfico comparten la misma estructura</a:t>
            </a:r>
            <a:endParaRPr lang="en-US" sz="1600" dirty="0"/>
          </a:p>
        </p:txBody>
      </p:sp>
      <p:sp>
        <p:nvSpPr>
          <p:cNvPr id="4" name="numero-103"/>
          <p:cNvSpPr/>
          <p:nvPr/>
        </p:nvSpPr>
        <p:spPr>
          <a:xfrm>
            <a:off x="548640" y="157276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 name="texto-104"/>
          <p:cNvSpPr txBox="1"/>
          <p:nvPr/>
        </p:nvSpPr>
        <p:spPr>
          <a:xfrm>
            <a:off x="1024128" y="1600200"/>
            <a:ext cx="3009290" cy="310896"/>
          </a:xfrm>
          <a:prstGeom prst="rect">
            <a:avLst/>
          </a:prstGeom>
          <a:noFill/>
          <a:ln/>
        </p:spPr>
        <p:txBody>
          <a:bodyPr wrap="square" lIns="0" tIns="0" rIns="0" bIns="0" rtlCol="0" anchor="ctr"/>
          <a:lstStyle/>
          <a:p>
            <a:pPr indent="0" marL="0">
              <a:buNone/>
            </a:pPr>
            <a:r>
              <a:rPr lang="en-US" sz="1600" b="1" dirty="0">
                <a:solidFill>
                  <a:schemeClr val="tx2"/>
                </a:solidFill>
              </a:rPr>
              <a:t>Página de selección</a:t>
            </a:r>
            <a:endParaRPr lang="en-US" sz="1600" dirty="0"/>
          </a:p>
        </p:txBody>
      </p:sp>
      <p:sp>
        <p:nvSpPr>
          <p:cNvPr id="6" name="navegador-105"/>
          <p:cNvSpPr/>
          <p:nvPr/>
        </p:nvSpPr>
        <p:spPr>
          <a:xfrm>
            <a:off x="548640" y="2057400"/>
            <a:ext cx="3484778" cy="3300984"/>
          </a:xfrm>
          <a:prstGeom prst="roundRect">
            <a:avLst>
              <a:gd name="adj" fmla="val 2216"/>
            </a:avLst>
          </a:prstGeom>
          <a:solidFill>
            <a:srgbClr val="DDE3E0"/>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7" name="punto-106"/>
          <p:cNvSpPr/>
          <p:nvPr/>
        </p:nvSpPr>
        <p:spPr>
          <a:xfrm>
            <a:off x="685800" y="2171700"/>
            <a:ext cx="100584" cy="100584"/>
          </a:xfrm>
          <a:prstGeom prst="ellipse">
            <a:avLst/>
          </a:prstGeom>
          <a:solidFill>
            <a:srgbClr val="A9B3AE"/>
          </a:solidFill>
          <a:ln/>
        </p:spPr>
      </p:sp>
      <p:sp>
        <p:nvSpPr>
          <p:cNvPr id="8" name="punto-107"/>
          <p:cNvSpPr/>
          <p:nvPr/>
        </p:nvSpPr>
        <p:spPr>
          <a:xfrm>
            <a:off x="841248" y="2171700"/>
            <a:ext cx="100584" cy="100584"/>
          </a:xfrm>
          <a:prstGeom prst="ellipse">
            <a:avLst/>
          </a:prstGeom>
          <a:solidFill>
            <a:srgbClr val="A9B3AE"/>
          </a:solidFill>
          <a:ln/>
        </p:spPr>
      </p:sp>
      <p:sp>
        <p:nvSpPr>
          <p:cNvPr id="9" name="punto-108"/>
          <p:cNvSpPr/>
          <p:nvPr/>
        </p:nvSpPr>
        <p:spPr>
          <a:xfrm>
            <a:off x="996696" y="2171700"/>
            <a:ext cx="100584" cy="100584"/>
          </a:xfrm>
          <a:prstGeom prst="ellipse">
            <a:avLst/>
          </a:prstGeom>
          <a:solidFill>
            <a:srgbClr val="A9B3AE"/>
          </a:solidFill>
          <a:ln/>
        </p:spPr>
      </p:sp>
      <p:sp>
        <p:nvSpPr>
          <p:cNvPr id="10" name="url-109"/>
          <p:cNvSpPr/>
          <p:nvPr/>
        </p:nvSpPr>
        <p:spPr>
          <a:xfrm>
            <a:off x="1207008" y="2121408"/>
            <a:ext cx="2661818"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rgbClr val="5E6964"/>
                </a:solidFill>
              </a:rPr>
              <a:t>/alumnos/graficos/</a:t>
            </a:r>
            <a:endParaRPr lang="en-US" sz="1000" dirty="0"/>
          </a:p>
        </p:txBody>
      </p:sp>
      <p:sp>
        <p:nvSpPr>
          <p:cNvPr id="11" name="lienzo-110"/>
          <p:cNvSpPr/>
          <p:nvPr/>
        </p:nvSpPr>
        <p:spPr>
          <a:xfrm>
            <a:off x="594360" y="2386584"/>
            <a:ext cx="3393338" cy="2926080"/>
          </a:xfrm>
          <a:prstGeom prst="rect">
            <a:avLst/>
          </a:prstGeom>
          <a:solidFill>
            <a:srgbClr val="FFFFFF"/>
          </a:solidFill>
          <a:ln/>
        </p:spPr>
      </p:sp>
      <p:sp>
        <p:nvSpPr>
          <p:cNvPr id="12" name="wf-cabecera-111"/>
          <p:cNvSpPr/>
          <p:nvPr/>
        </p:nvSpPr>
        <p:spPr>
          <a:xfrm>
            <a:off x="594360" y="2386584"/>
            <a:ext cx="3393338" cy="310896"/>
          </a:xfrm>
          <a:prstGeom prst="rect">
            <a:avLst/>
          </a:prstGeom>
          <a:solidFill>
            <a:srgbClr val="F6F8F7"/>
          </a:solidFill>
          <a:ln w="6350">
            <a:solidFill>
              <a:srgbClr val="CDD5D1"/>
            </a:solidFill>
            <a:prstDash val="solid"/>
          </a:ln>
        </p:spPr>
      </p:sp>
      <p:sp>
        <p:nvSpPr>
          <p:cNvPr id="13" name="wf-menu-112"/>
          <p:cNvSpPr/>
          <p:nvPr/>
        </p:nvSpPr>
        <p:spPr>
          <a:xfrm>
            <a:off x="704088" y="2441448"/>
            <a:ext cx="256032" cy="201168"/>
          </a:xfrm>
          <a:prstGeom prst="roundRect">
            <a:avLst>
              <a:gd name="adj" fmla="val 18182"/>
            </a:avLst>
          </a:prstGeom>
          <a:solidFill>
            <a:srgbClr val="FFFFFF"/>
          </a:solidFill>
          <a:ln w="9525">
            <a:solidFill>
              <a:srgbClr val="7E8984"/>
            </a:solidFill>
            <a:prstDash val="solid"/>
          </a:ln>
        </p:spPr>
      </p:sp>
      <p:sp>
        <p:nvSpPr>
          <p:cNvPr id="14" name="wf-raya-113"/>
          <p:cNvSpPr/>
          <p:nvPr/>
        </p:nvSpPr>
        <p:spPr>
          <a:xfrm>
            <a:off x="768096" y="2491740"/>
            <a:ext cx="128016" cy="16459"/>
          </a:xfrm>
          <a:prstGeom prst="rect">
            <a:avLst/>
          </a:prstGeom>
          <a:solidFill>
            <a:srgbClr val="7E8984"/>
          </a:solidFill>
          <a:ln/>
        </p:spPr>
      </p:sp>
      <p:sp>
        <p:nvSpPr>
          <p:cNvPr id="15" name="wf-raya-114"/>
          <p:cNvSpPr/>
          <p:nvPr/>
        </p:nvSpPr>
        <p:spPr>
          <a:xfrm>
            <a:off x="768096" y="2532888"/>
            <a:ext cx="128016" cy="16459"/>
          </a:xfrm>
          <a:prstGeom prst="rect">
            <a:avLst/>
          </a:prstGeom>
          <a:solidFill>
            <a:srgbClr val="7E8984"/>
          </a:solidFill>
          <a:ln/>
        </p:spPr>
      </p:sp>
      <p:sp>
        <p:nvSpPr>
          <p:cNvPr id="16" name="wf-raya-115"/>
          <p:cNvSpPr/>
          <p:nvPr/>
        </p:nvSpPr>
        <p:spPr>
          <a:xfrm>
            <a:off x="768096" y="2574036"/>
            <a:ext cx="128016" cy="16459"/>
          </a:xfrm>
          <a:prstGeom prst="rect">
            <a:avLst/>
          </a:prstGeom>
          <a:solidFill>
            <a:srgbClr val="7E8984"/>
          </a:solidFill>
          <a:ln/>
        </p:spPr>
      </p:sp>
      <p:sp>
        <p:nvSpPr>
          <p:cNvPr id="17" name="wf-texto-116"/>
          <p:cNvSpPr txBox="1"/>
          <p:nvPr/>
        </p:nvSpPr>
        <p:spPr>
          <a:xfrm>
            <a:off x="1033272" y="2441448"/>
            <a:ext cx="1097280" cy="201168"/>
          </a:xfrm>
          <a:prstGeom prst="rect">
            <a:avLst/>
          </a:prstGeom>
          <a:noFill/>
          <a:ln/>
        </p:spPr>
        <p:txBody>
          <a:bodyPr wrap="square" lIns="0" tIns="0" rIns="0" bIns="0" rtlCol="0" anchor="ctr"/>
          <a:lstStyle/>
          <a:p>
            <a:pPr indent="0" marL="0">
              <a:buNone/>
            </a:pPr>
            <a:r>
              <a:rPr lang="en-US" sz="1000" b="1" dirty="0">
                <a:solidFill>
                  <a:srgbClr val="5E6964"/>
                </a:solidFill>
              </a:rPr>
              <a:t>Proyecto</a:t>
            </a:r>
            <a:endParaRPr lang="en-US" sz="1000" dirty="0"/>
          </a:p>
        </p:txBody>
      </p:sp>
      <p:sp>
        <p:nvSpPr>
          <p:cNvPr id="18" name="wf-texto-117"/>
          <p:cNvSpPr txBox="1"/>
          <p:nvPr/>
        </p:nvSpPr>
        <p:spPr>
          <a:xfrm>
            <a:off x="822960" y="2816352"/>
            <a:ext cx="1828800" cy="274320"/>
          </a:xfrm>
          <a:prstGeom prst="rect">
            <a:avLst/>
          </a:prstGeom>
          <a:noFill/>
          <a:ln/>
        </p:spPr>
        <p:txBody>
          <a:bodyPr wrap="square" lIns="0" tIns="0" rIns="0" bIns="0" rtlCol="0" anchor="ctr"/>
          <a:lstStyle/>
          <a:p>
            <a:pPr indent="0" marL="0">
              <a:buNone/>
            </a:pPr>
            <a:r>
              <a:rPr lang="en-US" sz="1300" b="1" dirty="0">
                <a:solidFill>
                  <a:srgbClr val="4A5550"/>
                </a:solidFill>
              </a:rPr>
              <a:t>Gráficos</a:t>
            </a:r>
            <a:endParaRPr lang="en-US" sz="1300" dirty="0"/>
          </a:p>
        </p:txBody>
      </p:sp>
      <p:sp>
        <p:nvSpPr>
          <p:cNvPr id="19" name="wf-linea-118"/>
          <p:cNvSpPr/>
          <p:nvPr/>
        </p:nvSpPr>
        <p:spPr>
          <a:xfrm>
            <a:off x="822960" y="3191256"/>
            <a:ext cx="1737360" cy="64008"/>
          </a:xfrm>
          <a:prstGeom prst="rect">
            <a:avLst/>
          </a:prstGeom>
          <a:solidFill>
            <a:srgbClr val="CDD5D1"/>
          </a:solidFill>
          <a:ln/>
        </p:spPr>
      </p:sp>
      <p:sp>
        <p:nvSpPr>
          <p:cNvPr id="20" name="wf-tarjeta-119"/>
          <p:cNvSpPr/>
          <p:nvPr/>
        </p:nvSpPr>
        <p:spPr>
          <a:xfrm>
            <a:off x="822960" y="3374136"/>
            <a:ext cx="2936138" cy="384048"/>
          </a:xfrm>
          <a:prstGeom prst="roundRect">
            <a:avLst>
              <a:gd name="adj" fmla="val 11905"/>
            </a:avLst>
          </a:prstGeom>
          <a:solidFill>
            <a:srgbClr val="FFFFFF"/>
          </a:solidFill>
          <a:ln w="12700">
            <a:solidFill>
              <a:srgbClr val="9DA8A3"/>
            </a:solidFill>
            <a:prstDash val="solid"/>
          </a:ln>
        </p:spPr>
      </p:sp>
      <p:sp>
        <p:nvSpPr>
          <p:cNvPr id="21" name="wf-texto-120"/>
          <p:cNvSpPr txBox="1"/>
          <p:nvPr/>
        </p:nvSpPr>
        <p:spPr>
          <a:xfrm>
            <a:off x="960120" y="3447288"/>
            <a:ext cx="1828800" cy="237744"/>
          </a:xfrm>
          <a:prstGeom prst="rect">
            <a:avLst/>
          </a:prstGeom>
          <a:noFill/>
          <a:ln/>
        </p:spPr>
        <p:txBody>
          <a:bodyPr wrap="square" lIns="0" tIns="0" rIns="0" bIns="0" rtlCol="0" anchor="ctr"/>
          <a:lstStyle/>
          <a:p>
            <a:pPr indent="0" marL="0">
              <a:buNone/>
            </a:pPr>
            <a:r>
              <a:rPr lang="en-US" sz="1100" b="1" dirty="0">
                <a:solidFill>
                  <a:srgbClr val="4A5550"/>
                </a:solidFill>
              </a:rPr>
              <a:t>Gráfico 1</a:t>
            </a:r>
            <a:endParaRPr lang="en-US" sz="1100" dirty="0"/>
          </a:p>
        </p:txBody>
      </p:sp>
      <p:sp>
        <p:nvSpPr>
          <p:cNvPr id="22" name="wf-tarjeta-121"/>
          <p:cNvSpPr/>
          <p:nvPr/>
        </p:nvSpPr>
        <p:spPr>
          <a:xfrm>
            <a:off x="822960" y="3849624"/>
            <a:ext cx="2936138" cy="384048"/>
          </a:xfrm>
          <a:prstGeom prst="roundRect">
            <a:avLst>
              <a:gd name="adj" fmla="val 11905"/>
            </a:avLst>
          </a:prstGeom>
          <a:solidFill>
            <a:srgbClr val="FFFFFF"/>
          </a:solidFill>
          <a:ln w="12700">
            <a:solidFill>
              <a:srgbClr val="9DA8A3"/>
            </a:solidFill>
            <a:prstDash val="solid"/>
          </a:ln>
        </p:spPr>
      </p:sp>
      <p:sp>
        <p:nvSpPr>
          <p:cNvPr id="23" name="wf-texto-122"/>
          <p:cNvSpPr txBox="1"/>
          <p:nvPr/>
        </p:nvSpPr>
        <p:spPr>
          <a:xfrm>
            <a:off x="960120" y="3922776"/>
            <a:ext cx="1828800" cy="237744"/>
          </a:xfrm>
          <a:prstGeom prst="rect">
            <a:avLst/>
          </a:prstGeom>
          <a:noFill/>
          <a:ln/>
        </p:spPr>
        <p:txBody>
          <a:bodyPr wrap="square" lIns="0" tIns="0" rIns="0" bIns="0" rtlCol="0" anchor="ctr"/>
          <a:lstStyle/>
          <a:p>
            <a:pPr indent="0" marL="0">
              <a:buNone/>
            </a:pPr>
            <a:r>
              <a:rPr lang="en-US" sz="1100" b="1" dirty="0">
                <a:solidFill>
                  <a:srgbClr val="4A5550"/>
                </a:solidFill>
              </a:rPr>
              <a:t>Gráfico 2</a:t>
            </a:r>
            <a:endParaRPr lang="en-US" sz="1100" dirty="0"/>
          </a:p>
        </p:txBody>
      </p:sp>
      <p:sp>
        <p:nvSpPr>
          <p:cNvPr id="24" name="wf-tarjeta-123"/>
          <p:cNvSpPr/>
          <p:nvPr/>
        </p:nvSpPr>
        <p:spPr>
          <a:xfrm>
            <a:off x="822960" y="4325112"/>
            <a:ext cx="2936138" cy="384048"/>
          </a:xfrm>
          <a:prstGeom prst="roundRect">
            <a:avLst>
              <a:gd name="adj" fmla="val 11905"/>
            </a:avLst>
          </a:prstGeom>
          <a:solidFill>
            <a:srgbClr val="FFFFFF"/>
          </a:solidFill>
          <a:ln w="12700">
            <a:solidFill>
              <a:srgbClr val="9DA8A3"/>
            </a:solidFill>
            <a:prstDash val="solid"/>
          </a:ln>
        </p:spPr>
      </p:sp>
      <p:sp>
        <p:nvSpPr>
          <p:cNvPr id="25" name="wf-texto-124"/>
          <p:cNvSpPr txBox="1"/>
          <p:nvPr/>
        </p:nvSpPr>
        <p:spPr>
          <a:xfrm>
            <a:off x="960120" y="4398264"/>
            <a:ext cx="1828800" cy="237744"/>
          </a:xfrm>
          <a:prstGeom prst="rect">
            <a:avLst/>
          </a:prstGeom>
          <a:noFill/>
          <a:ln/>
        </p:spPr>
        <p:txBody>
          <a:bodyPr wrap="square" lIns="0" tIns="0" rIns="0" bIns="0" rtlCol="0" anchor="ctr"/>
          <a:lstStyle/>
          <a:p>
            <a:pPr indent="0" marL="0">
              <a:buNone/>
            </a:pPr>
            <a:r>
              <a:rPr lang="en-US" sz="1100" b="1" dirty="0">
                <a:solidFill>
                  <a:srgbClr val="4A5550"/>
                </a:solidFill>
              </a:rPr>
              <a:t>Gráfico 3</a:t>
            </a:r>
            <a:endParaRPr lang="en-US" sz="1100" dirty="0"/>
          </a:p>
        </p:txBody>
      </p:sp>
      <p:sp>
        <p:nvSpPr>
          <p:cNvPr id="26" name="wf-boton-125"/>
          <p:cNvSpPr/>
          <p:nvPr/>
        </p:nvSpPr>
        <p:spPr>
          <a:xfrm>
            <a:off x="822960" y="4873752"/>
            <a:ext cx="1097280" cy="246888"/>
          </a:xfrm>
          <a:prstGeom prst="roundRect">
            <a:avLst>
              <a:gd name="adj" fmla="val 18519"/>
            </a:avLst>
          </a:prstGeom>
          <a:solidFill>
            <a:srgbClr val="FFFFFF"/>
          </a:solidFill>
          <a:ln w="9525">
            <a:solidFill>
              <a:srgbClr val="7E8984"/>
            </a:solidFill>
          </a:ln>
        </p:spPr>
        <p:txBody>
          <a:bodyPr wrap="square" lIns="0" tIns="0" rIns="0" bIns="0" rtlCol="0" anchor="ctr"/>
          <a:lstStyle/>
          <a:p>
            <a:pPr algn="ctr" indent="0" marL="0">
              <a:buNone/>
            </a:pPr>
            <a:r>
              <a:rPr lang="en-US" sz="1000" dirty="0">
                <a:solidFill>
                  <a:srgbClr val="5E6964"/>
                </a:solidFill>
              </a:rPr>
              <a:t>Volver a inicio</a:t>
            </a:r>
            <a:endParaRPr lang="en-US" sz="1000" dirty="0"/>
          </a:p>
        </p:txBody>
      </p:sp>
      <p:sp>
        <p:nvSpPr>
          <p:cNvPr id="27" name="texto-126"/>
          <p:cNvSpPr txBox="1"/>
          <p:nvPr/>
        </p:nvSpPr>
        <p:spPr>
          <a:xfrm>
            <a:off x="548640" y="5495544"/>
            <a:ext cx="3484778" cy="548640"/>
          </a:xfrm>
          <a:prstGeom prst="rect">
            <a:avLst/>
          </a:prstGeom>
          <a:noFill/>
          <a:ln/>
        </p:spPr>
        <p:txBody>
          <a:bodyPr wrap="square" lIns="0" tIns="0" rIns="0" bIns="0" rtlCol="0" anchor="t"/>
          <a:lstStyle/>
          <a:p>
            <a:pPr indent="0" marL="0">
              <a:buNone/>
            </a:pPr>
            <a:r>
              <a:rPr lang="en-US" sz="1400" dirty="0">
                <a:solidFill>
                  <a:schemeClr val="accent5"/>
                </a:solidFill>
              </a:rPr>
              <a:t>Una tarjeta por tabla o gráfico.</a:t>
            </a:r>
            <a:endParaRPr lang="en-US" sz="1400" dirty="0"/>
          </a:p>
        </p:txBody>
      </p:sp>
      <p:sp>
        <p:nvSpPr>
          <p:cNvPr id="28" name="numero-127"/>
          <p:cNvSpPr/>
          <p:nvPr/>
        </p:nvSpPr>
        <p:spPr>
          <a:xfrm>
            <a:off x="4353458" y="157276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9" name="texto-128"/>
          <p:cNvSpPr txBox="1"/>
          <p:nvPr/>
        </p:nvSpPr>
        <p:spPr>
          <a:xfrm>
            <a:off x="4828946" y="1600200"/>
            <a:ext cx="3009290" cy="310896"/>
          </a:xfrm>
          <a:prstGeom prst="rect">
            <a:avLst/>
          </a:prstGeom>
          <a:noFill/>
          <a:ln/>
        </p:spPr>
        <p:txBody>
          <a:bodyPr wrap="square" lIns="0" tIns="0" rIns="0" bIns="0" rtlCol="0" anchor="ctr"/>
          <a:lstStyle/>
          <a:p>
            <a:pPr indent="0" marL="0">
              <a:buNone/>
            </a:pPr>
            <a:r>
              <a:rPr lang="en-US" sz="1600" b="1" dirty="0">
                <a:solidFill>
                  <a:schemeClr val="tx2"/>
                </a:solidFill>
              </a:rPr>
              <a:t>Página de tabla</a:t>
            </a:r>
            <a:endParaRPr lang="en-US" sz="1600" dirty="0"/>
          </a:p>
        </p:txBody>
      </p:sp>
      <p:sp>
        <p:nvSpPr>
          <p:cNvPr id="30" name="navegador-129"/>
          <p:cNvSpPr/>
          <p:nvPr/>
        </p:nvSpPr>
        <p:spPr>
          <a:xfrm>
            <a:off x="4353458" y="2057400"/>
            <a:ext cx="3484778" cy="3300984"/>
          </a:xfrm>
          <a:prstGeom prst="roundRect">
            <a:avLst>
              <a:gd name="adj" fmla="val 2216"/>
            </a:avLst>
          </a:prstGeom>
          <a:solidFill>
            <a:srgbClr val="DDE3E0"/>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31" name="punto-130"/>
          <p:cNvSpPr/>
          <p:nvPr/>
        </p:nvSpPr>
        <p:spPr>
          <a:xfrm>
            <a:off x="4490618" y="2171700"/>
            <a:ext cx="100584" cy="100584"/>
          </a:xfrm>
          <a:prstGeom prst="ellipse">
            <a:avLst/>
          </a:prstGeom>
          <a:solidFill>
            <a:srgbClr val="A9B3AE"/>
          </a:solidFill>
          <a:ln/>
        </p:spPr>
      </p:sp>
      <p:sp>
        <p:nvSpPr>
          <p:cNvPr id="32" name="punto-131"/>
          <p:cNvSpPr/>
          <p:nvPr/>
        </p:nvSpPr>
        <p:spPr>
          <a:xfrm>
            <a:off x="4646066" y="2171700"/>
            <a:ext cx="100584" cy="100584"/>
          </a:xfrm>
          <a:prstGeom prst="ellipse">
            <a:avLst/>
          </a:prstGeom>
          <a:solidFill>
            <a:srgbClr val="A9B3AE"/>
          </a:solidFill>
          <a:ln/>
        </p:spPr>
      </p:sp>
      <p:sp>
        <p:nvSpPr>
          <p:cNvPr id="33" name="punto-132"/>
          <p:cNvSpPr/>
          <p:nvPr/>
        </p:nvSpPr>
        <p:spPr>
          <a:xfrm>
            <a:off x="4801514" y="2171700"/>
            <a:ext cx="100584" cy="100584"/>
          </a:xfrm>
          <a:prstGeom prst="ellipse">
            <a:avLst/>
          </a:prstGeom>
          <a:solidFill>
            <a:srgbClr val="A9B3AE"/>
          </a:solidFill>
          <a:ln/>
        </p:spPr>
      </p:sp>
      <p:sp>
        <p:nvSpPr>
          <p:cNvPr id="34" name="url-133"/>
          <p:cNvSpPr/>
          <p:nvPr/>
        </p:nvSpPr>
        <p:spPr>
          <a:xfrm>
            <a:off x="5011826" y="2121408"/>
            <a:ext cx="2661818"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rgbClr val="5E6964"/>
                </a:solidFill>
              </a:rPr>
              <a:t>/alumnos/listados/…</a:t>
            </a:r>
            <a:endParaRPr lang="en-US" sz="1000" dirty="0"/>
          </a:p>
        </p:txBody>
      </p:sp>
      <p:sp>
        <p:nvSpPr>
          <p:cNvPr id="35" name="lienzo-134"/>
          <p:cNvSpPr/>
          <p:nvPr/>
        </p:nvSpPr>
        <p:spPr>
          <a:xfrm>
            <a:off x="4399178" y="2386584"/>
            <a:ext cx="3393338" cy="2926080"/>
          </a:xfrm>
          <a:prstGeom prst="rect">
            <a:avLst/>
          </a:prstGeom>
          <a:solidFill>
            <a:srgbClr val="FFFFFF"/>
          </a:solidFill>
          <a:ln/>
        </p:spPr>
      </p:sp>
      <p:sp>
        <p:nvSpPr>
          <p:cNvPr id="36" name="wf-cabecera-135"/>
          <p:cNvSpPr/>
          <p:nvPr/>
        </p:nvSpPr>
        <p:spPr>
          <a:xfrm>
            <a:off x="4399178" y="2386584"/>
            <a:ext cx="3393338" cy="310896"/>
          </a:xfrm>
          <a:prstGeom prst="rect">
            <a:avLst/>
          </a:prstGeom>
          <a:solidFill>
            <a:srgbClr val="F6F8F7"/>
          </a:solidFill>
          <a:ln w="6350">
            <a:solidFill>
              <a:srgbClr val="CDD5D1"/>
            </a:solidFill>
            <a:prstDash val="solid"/>
          </a:ln>
        </p:spPr>
      </p:sp>
      <p:sp>
        <p:nvSpPr>
          <p:cNvPr id="37" name="wf-menu-136"/>
          <p:cNvSpPr/>
          <p:nvPr/>
        </p:nvSpPr>
        <p:spPr>
          <a:xfrm>
            <a:off x="4508906" y="2441448"/>
            <a:ext cx="256032" cy="201168"/>
          </a:xfrm>
          <a:prstGeom prst="roundRect">
            <a:avLst>
              <a:gd name="adj" fmla="val 18182"/>
            </a:avLst>
          </a:prstGeom>
          <a:solidFill>
            <a:srgbClr val="FFFFFF"/>
          </a:solidFill>
          <a:ln w="9525">
            <a:solidFill>
              <a:srgbClr val="7E8984"/>
            </a:solidFill>
            <a:prstDash val="solid"/>
          </a:ln>
        </p:spPr>
      </p:sp>
      <p:sp>
        <p:nvSpPr>
          <p:cNvPr id="38" name="wf-raya-137"/>
          <p:cNvSpPr/>
          <p:nvPr/>
        </p:nvSpPr>
        <p:spPr>
          <a:xfrm>
            <a:off x="4572914" y="2491740"/>
            <a:ext cx="128016" cy="16459"/>
          </a:xfrm>
          <a:prstGeom prst="rect">
            <a:avLst/>
          </a:prstGeom>
          <a:solidFill>
            <a:srgbClr val="7E8984"/>
          </a:solidFill>
          <a:ln/>
        </p:spPr>
      </p:sp>
      <p:sp>
        <p:nvSpPr>
          <p:cNvPr id="39" name="wf-raya-138"/>
          <p:cNvSpPr/>
          <p:nvPr/>
        </p:nvSpPr>
        <p:spPr>
          <a:xfrm>
            <a:off x="4572914" y="2532888"/>
            <a:ext cx="128016" cy="16459"/>
          </a:xfrm>
          <a:prstGeom prst="rect">
            <a:avLst/>
          </a:prstGeom>
          <a:solidFill>
            <a:srgbClr val="7E8984"/>
          </a:solidFill>
          <a:ln/>
        </p:spPr>
      </p:sp>
      <p:sp>
        <p:nvSpPr>
          <p:cNvPr id="40" name="wf-raya-139"/>
          <p:cNvSpPr/>
          <p:nvPr/>
        </p:nvSpPr>
        <p:spPr>
          <a:xfrm>
            <a:off x="4572914" y="2574036"/>
            <a:ext cx="128016" cy="16459"/>
          </a:xfrm>
          <a:prstGeom prst="rect">
            <a:avLst/>
          </a:prstGeom>
          <a:solidFill>
            <a:srgbClr val="7E8984"/>
          </a:solidFill>
          <a:ln/>
        </p:spPr>
      </p:sp>
      <p:sp>
        <p:nvSpPr>
          <p:cNvPr id="41" name="wf-texto-140"/>
          <p:cNvSpPr txBox="1"/>
          <p:nvPr/>
        </p:nvSpPr>
        <p:spPr>
          <a:xfrm>
            <a:off x="4838090" y="2441448"/>
            <a:ext cx="1097280" cy="201168"/>
          </a:xfrm>
          <a:prstGeom prst="rect">
            <a:avLst/>
          </a:prstGeom>
          <a:noFill/>
          <a:ln/>
        </p:spPr>
        <p:txBody>
          <a:bodyPr wrap="square" lIns="0" tIns="0" rIns="0" bIns="0" rtlCol="0" anchor="ctr"/>
          <a:lstStyle/>
          <a:p>
            <a:pPr indent="0" marL="0">
              <a:buNone/>
            </a:pPr>
            <a:r>
              <a:rPr lang="en-US" sz="1000" b="1" dirty="0">
                <a:solidFill>
                  <a:srgbClr val="5E6964"/>
                </a:solidFill>
              </a:rPr>
              <a:t>Proyecto</a:t>
            </a:r>
            <a:endParaRPr lang="en-US" sz="1000" dirty="0"/>
          </a:p>
        </p:txBody>
      </p:sp>
      <p:sp>
        <p:nvSpPr>
          <p:cNvPr id="42" name="wf-texto-141"/>
          <p:cNvSpPr txBox="1"/>
          <p:nvPr/>
        </p:nvSpPr>
        <p:spPr>
          <a:xfrm>
            <a:off x="4627778" y="2816352"/>
            <a:ext cx="2377440" cy="274320"/>
          </a:xfrm>
          <a:prstGeom prst="rect">
            <a:avLst/>
          </a:prstGeom>
          <a:noFill/>
          <a:ln/>
        </p:spPr>
        <p:txBody>
          <a:bodyPr wrap="square" lIns="0" tIns="0" rIns="0" bIns="0" rtlCol="0" anchor="ctr"/>
          <a:lstStyle/>
          <a:p>
            <a:pPr indent="0" marL="0">
              <a:buNone/>
            </a:pPr>
            <a:r>
              <a:rPr lang="en-US" sz="1300" b="1" dirty="0">
                <a:solidFill>
                  <a:srgbClr val="4A5550"/>
                </a:solidFill>
              </a:rPr>
              <a:t>Título de la tabla</a:t>
            </a:r>
            <a:endParaRPr lang="en-US" sz="1300" dirty="0"/>
          </a:p>
        </p:txBody>
      </p:sp>
      <p:sp>
        <p:nvSpPr>
          <p:cNvPr id="43" name="wf-linea-142"/>
          <p:cNvSpPr/>
          <p:nvPr/>
        </p:nvSpPr>
        <p:spPr>
          <a:xfrm>
            <a:off x="4627778" y="3191256"/>
            <a:ext cx="2103120" cy="64008"/>
          </a:xfrm>
          <a:prstGeom prst="rect">
            <a:avLst/>
          </a:prstGeom>
          <a:solidFill>
            <a:srgbClr val="CDD5D1"/>
          </a:solidFill>
          <a:ln/>
        </p:spPr>
      </p:sp>
      <p:sp>
        <p:nvSpPr>
          <p:cNvPr id="44" name="wf-encabezado-143"/>
          <p:cNvSpPr/>
          <p:nvPr/>
        </p:nvSpPr>
        <p:spPr>
          <a:xfrm>
            <a:off x="4627778" y="3374136"/>
            <a:ext cx="2936138" cy="256032"/>
          </a:xfrm>
          <a:prstGeom prst="rect">
            <a:avLst/>
          </a:prstGeom>
          <a:solidFill>
            <a:srgbClr val="E4E9E6"/>
          </a:solidFill>
          <a:ln w="9525">
            <a:solidFill>
              <a:srgbClr val="9DA8A3"/>
            </a:solidFill>
            <a:prstDash val="solid"/>
          </a:ln>
        </p:spPr>
      </p:sp>
      <p:sp>
        <p:nvSpPr>
          <p:cNvPr id="45" name="wf-texto-144"/>
          <p:cNvSpPr txBox="1"/>
          <p:nvPr/>
        </p:nvSpPr>
        <p:spPr>
          <a:xfrm>
            <a:off x="4719218" y="3392424"/>
            <a:ext cx="1097280" cy="219456"/>
          </a:xfrm>
          <a:prstGeom prst="rect">
            <a:avLst/>
          </a:prstGeom>
          <a:noFill/>
          <a:ln/>
        </p:spPr>
        <p:txBody>
          <a:bodyPr wrap="square" lIns="0" tIns="0" rIns="0" bIns="0" rtlCol="0" anchor="ctr"/>
          <a:lstStyle/>
          <a:p>
            <a:pPr indent="0" marL="0">
              <a:buNone/>
            </a:pPr>
            <a:r>
              <a:rPr lang="en-US" sz="1000" b="1" dirty="0">
                <a:solidFill>
                  <a:srgbClr val="5E6964"/>
                </a:solidFill>
              </a:rPr>
              <a:t>Columna A</a:t>
            </a:r>
            <a:endParaRPr lang="en-US" sz="1000" dirty="0"/>
          </a:p>
        </p:txBody>
      </p:sp>
      <p:sp>
        <p:nvSpPr>
          <p:cNvPr id="46" name="wf-texto-145"/>
          <p:cNvSpPr txBox="1"/>
          <p:nvPr/>
        </p:nvSpPr>
        <p:spPr>
          <a:xfrm>
            <a:off x="6040481" y="3392424"/>
            <a:ext cx="1097280" cy="219456"/>
          </a:xfrm>
          <a:prstGeom prst="rect">
            <a:avLst/>
          </a:prstGeom>
          <a:noFill/>
          <a:ln/>
        </p:spPr>
        <p:txBody>
          <a:bodyPr wrap="square" lIns="0" tIns="0" rIns="0" bIns="0" rtlCol="0" anchor="ctr"/>
          <a:lstStyle/>
          <a:p>
            <a:pPr indent="0" marL="0">
              <a:buNone/>
            </a:pPr>
            <a:r>
              <a:rPr lang="en-US" sz="1000" b="1" dirty="0">
                <a:solidFill>
                  <a:srgbClr val="5E6964"/>
                </a:solidFill>
              </a:rPr>
              <a:t>Columna B</a:t>
            </a:r>
            <a:endParaRPr lang="en-US" sz="1000" dirty="0"/>
          </a:p>
        </p:txBody>
      </p:sp>
      <p:sp>
        <p:nvSpPr>
          <p:cNvPr id="47" name="wf-fila-146"/>
          <p:cNvSpPr/>
          <p:nvPr/>
        </p:nvSpPr>
        <p:spPr>
          <a:xfrm>
            <a:off x="4627778" y="3630168"/>
            <a:ext cx="2936138" cy="228600"/>
          </a:xfrm>
          <a:prstGeom prst="rect">
            <a:avLst/>
          </a:prstGeom>
          <a:solidFill>
            <a:srgbClr val="F1F4F2"/>
          </a:solidFill>
          <a:ln w="6350">
            <a:solidFill>
              <a:srgbClr val="CDD5D1"/>
            </a:solidFill>
            <a:prstDash val="solid"/>
          </a:ln>
        </p:spPr>
      </p:sp>
      <p:sp>
        <p:nvSpPr>
          <p:cNvPr id="48" name="wf-linea-147"/>
          <p:cNvSpPr/>
          <p:nvPr/>
        </p:nvSpPr>
        <p:spPr>
          <a:xfrm>
            <a:off x="4719218" y="3712464"/>
            <a:ext cx="502920" cy="64008"/>
          </a:xfrm>
          <a:prstGeom prst="rect">
            <a:avLst/>
          </a:prstGeom>
          <a:solidFill>
            <a:srgbClr val="CDD5D1"/>
          </a:solidFill>
          <a:ln/>
        </p:spPr>
      </p:sp>
      <p:sp>
        <p:nvSpPr>
          <p:cNvPr id="49" name="wf-linea-148"/>
          <p:cNvSpPr/>
          <p:nvPr/>
        </p:nvSpPr>
        <p:spPr>
          <a:xfrm>
            <a:off x="6040481" y="3712464"/>
            <a:ext cx="320040" cy="64008"/>
          </a:xfrm>
          <a:prstGeom prst="rect">
            <a:avLst/>
          </a:prstGeom>
          <a:solidFill>
            <a:srgbClr val="CDD5D1"/>
          </a:solidFill>
          <a:ln/>
        </p:spPr>
      </p:sp>
      <p:sp>
        <p:nvSpPr>
          <p:cNvPr id="50" name="wf-fila-149"/>
          <p:cNvSpPr/>
          <p:nvPr/>
        </p:nvSpPr>
        <p:spPr>
          <a:xfrm>
            <a:off x="4627778" y="3858768"/>
            <a:ext cx="2936138" cy="228600"/>
          </a:xfrm>
          <a:prstGeom prst="rect">
            <a:avLst/>
          </a:prstGeom>
          <a:solidFill>
            <a:srgbClr val="FFFFFF"/>
          </a:solidFill>
          <a:ln w="6350">
            <a:solidFill>
              <a:srgbClr val="CDD5D1"/>
            </a:solidFill>
            <a:prstDash val="solid"/>
          </a:ln>
        </p:spPr>
      </p:sp>
      <p:sp>
        <p:nvSpPr>
          <p:cNvPr id="51" name="wf-linea-150"/>
          <p:cNvSpPr/>
          <p:nvPr/>
        </p:nvSpPr>
        <p:spPr>
          <a:xfrm>
            <a:off x="4719218" y="3941064"/>
            <a:ext cx="640080" cy="64008"/>
          </a:xfrm>
          <a:prstGeom prst="rect">
            <a:avLst/>
          </a:prstGeom>
          <a:solidFill>
            <a:srgbClr val="CDD5D1"/>
          </a:solidFill>
          <a:ln/>
        </p:spPr>
      </p:sp>
      <p:sp>
        <p:nvSpPr>
          <p:cNvPr id="52" name="wf-linea-151"/>
          <p:cNvSpPr/>
          <p:nvPr/>
        </p:nvSpPr>
        <p:spPr>
          <a:xfrm>
            <a:off x="6040481" y="3941064"/>
            <a:ext cx="320040" cy="64008"/>
          </a:xfrm>
          <a:prstGeom prst="rect">
            <a:avLst/>
          </a:prstGeom>
          <a:solidFill>
            <a:srgbClr val="CDD5D1"/>
          </a:solidFill>
          <a:ln/>
        </p:spPr>
      </p:sp>
      <p:sp>
        <p:nvSpPr>
          <p:cNvPr id="53" name="wf-fila-152"/>
          <p:cNvSpPr/>
          <p:nvPr/>
        </p:nvSpPr>
        <p:spPr>
          <a:xfrm>
            <a:off x="4627778" y="4087368"/>
            <a:ext cx="2936138" cy="228600"/>
          </a:xfrm>
          <a:prstGeom prst="rect">
            <a:avLst/>
          </a:prstGeom>
          <a:solidFill>
            <a:srgbClr val="F1F4F2"/>
          </a:solidFill>
          <a:ln w="6350">
            <a:solidFill>
              <a:srgbClr val="CDD5D1"/>
            </a:solidFill>
            <a:prstDash val="solid"/>
          </a:ln>
        </p:spPr>
      </p:sp>
      <p:sp>
        <p:nvSpPr>
          <p:cNvPr id="54" name="wf-linea-153"/>
          <p:cNvSpPr/>
          <p:nvPr/>
        </p:nvSpPr>
        <p:spPr>
          <a:xfrm>
            <a:off x="4719218" y="4169664"/>
            <a:ext cx="777240" cy="64008"/>
          </a:xfrm>
          <a:prstGeom prst="rect">
            <a:avLst/>
          </a:prstGeom>
          <a:solidFill>
            <a:srgbClr val="CDD5D1"/>
          </a:solidFill>
          <a:ln/>
        </p:spPr>
      </p:sp>
      <p:sp>
        <p:nvSpPr>
          <p:cNvPr id="55" name="wf-linea-154"/>
          <p:cNvSpPr/>
          <p:nvPr/>
        </p:nvSpPr>
        <p:spPr>
          <a:xfrm>
            <a:off x="6040481" y="4169664"/>
            <a:ext cx="320040" cy="64008"/>
          </a:xfrm>
          <a:prstGeom prst="rect">
            <a:avLst/>
          </a:prstGeom>
          <a:solidFill>
            <a:srgbClr val="CDD5D1"/>
          </a:solidFill>
          <a:ln/>
        </p:spPr>
      </p:sp>
      <p:sp>
        <p:nvSpPr>
          <p:cNvPr id="56" name="wf-fila-155"/>
          <p:cNvSpPr/>
          <p:nvPr/>
        </p:nvSpPr>
        <p:spPr>
          <a:xfrm>
            <a:off x="4627778" y="4315968"/>
            <a:ext cx="2936138" cy="228600"/>
          </a:xfrm>
          <a:prstGeom prst="rect">
            <a:avLst/>
          </a:prstGeom>
          <a:solidFill>
            <a:srgbClr val="FFFFFF"/>
          </a:solidFill>
          <a:ln w="6350">
            <a:solidFill>
              <a:srgbClr val="CDD5D1"/>
            </a:solidFill>
            <a:prstDash val="solid"/>
          </a:ln>
        </p:spPr>
      </p:sp>
      <p:sp>
        <p:nvSpPr>
          <p:cNvPr id="57" name="wf-linea-156"/>
          <p:cNvSpPr/>
          <p:nvPr/>
        </p:nvSpPr>
        <p:spPr>
          <a:xfrm>
            <a:off x="4719218" y="4398264"/>
            <a:ext cx="502920" cy="64008"/>
          </a:xfrm>
          <a:prstGeom prst="rect">
            <a:avLst/>
          </a:prstGeom>
          <a:solidFill>
            <a:srgbClr val="CDD5D1"/>
          </a:solidFill>
          <a:ln/>
        </p:spPr>
      </p:sp>
      <p:sp>
        <p:nvSpPr>
          <p:cNvPr id="58" name="wf-linea-157"/>
          <p:cNvSpPr/>
          <p:nvPr/>
        </p:nvSpPr>
        <p:spPr>
          <a:xfrm>
            <a:off x="6040481" y="4398264"/>
            <a:ext cx="320040" cy="64008"/>
          </a:xfrm>
          <a:prstGeom prst="rect">
            <a:avLst/>
          </a:prstGeom>
          <a:solidFill>
            <a:srgbClr val="CDD5D1"/>
          </a:solidFill>
          <a:ln/>
        </p:spPr>
      </p:sp>
      <p:sp>
        <p:nvSpPr>
          <p:cNvPr id="59" name="wf-fila-158"/>
          <p:cNvSpPr/>
          <p:nvPr/>
        </p:nvSpPr>
        <p:spPr>
          <a:xfrm>
            <a:off x="4627778" y="4544568"/>
            <a:ext cx="2936138" cy="228600"/>
          </a:xfrm>
          <a:prstGeom prst="rect">
            <a:avLst/>
          </a:prstGeom>
          <a:solidFill>
            <a:srgbClr val="F1F4F2"/>
          </a:solidFill>
          <a:ln w="6350">
            <a:solidFill>
              <a:srgbClr val="CDD5D1"/>
            </a:solidFill>
            <a:prstDash val="solid"/>
          </a:ln>
        </p:spPr>
      </p:sp>
      <p:sp>
        <p:nvSpPr>
          <p:cNvPr id="60" name="wf-linea-159"/>
          <p:cNvSpPr/>
          <p:nvPr/>
        </p:nvSpPr>
        <p:spPr>
          <a:xfrm>
            <a:off x="4719218" y="4626864"/>
            <a:ext cx="640080" cy="64008"/>
          </a:xfrm>
          <a:prstGeom prst="rect">
            <a:avLst/>
          </a:prstGeom>
          <a:solidFill>
            <a:srgbClr val="CDD5D1"/>
          </a:solidFill>
          <a:ln/>
        </p:spPr>
      </p:sp>
      <p:sp>
        <p:nvSpPr>
          <p:cNvPr id="61" name="wf-linea-160"/>
          <p:cNvSpPr/>
          <p:nvPr/>
        </p:nvSpPr>
        <p:spPr>
          <a:xfrm>
            <a:off x="6040481" y="4626864"/>
            <a:ext cx="320040" cy="64008"/>
          </a:xfrm>
          <a:prstGeom prst="rect">
            <a:avLst/>
          </a:prstGeom>
          <a:solidFill>
            <a:srgbClr val="CDD5D1"/>
          </a:solidFill>
          <a:ln/>
        </p:spPr>
      </p:sp>
      <p:sp>
        <p:nvSpPr>
          <p:cNvPr id="62" name="linea-161"/>
          <p:cNvSpPr/>
          <p:nvPr/>
        </p:nvSpPr>
        <p:spPr>
          <a:xfrm>
            <a:off x="5949041" y="3374136"/>
            <a:ext cx="0" cy="1399032"/>
          </a:xfrm>
          <a:prstGeom prst="line">
            <a:avLst/>
          </a:prstGeom>
          <a:noFill/>
          <a:ln w="9525">
            <a:solidFill>
              <a:srgbClr val="9DA8A3"/>
            </a:solidFill>
            <a:prstDash val="solid"/>
          </a:ln>
        </p:spPr>
      </p:sp>
      <p:sp>
        <p:nvSpPr>
          <p:cNvPr id="63" name="wf-boton-162"/>
          <p:cNvSpPr/>
          <p:nvPr/>
        </p:nvSpPr>
        <p:spPr>
          <a:xfrm>
            <a:off x="4627778" y="4873752"/>
            <a:ext cx="1097280" cy="246888"/>
          </a:xfrm>
          <a:prstGeom prst="roundRect">
            <a:avLst>
              <a:gd name="adj" fmla="val 18519"/>
            </a:avLst>
          </a:prstGeom>
          <a:solidFill>
            <a:srgbClr val="FFFFFF"/>
          </a:solidFill>
          <a:ln w="9525">
            <a:solidFill>
              <a:srgbClr val="7E8984"/>
            </a:solidFill>
          </a:ln>
        </p:spPr>
        <p:txBody>
          <a:bodyPr wrap="square" lIns="0" tIns="0" rIns="0" bIns="0" rtlCol="0" anchor="ctr"/>
          <a:lstStyle/>
          <a:p>
            <a:pPr algn="ctr" indent="0" marL="0">
              <a:buNone/>
            </a:pPr>
            <a:r>
              <a:rPr lang="en-US" sz="1000" dirty="0">
                <a:solidFill>
                  <a:srgbClr val="5E6964"/>
                </a:solidFill>
              </a:rPr>
              <a:t>Volver a inicio</a:t>
            </a:r>
            <a:endParaRPr lang="en-US" sz="1000" dirty="0"/>
          </a:p>
        </p:txBody>
      </p:sp>
      <p:sp>
        <p:nvSpPr>
          <p:cNvPr id="64" name="wf-boton-163"/>
          <p:cNvSpPr/>
          <p:nvPr/>
        </p:nvSpPr>
        <p:spPr>
          <a:xfrm>
            <a:off x="5816498" y="4873752"/>
            <a:ext cx="1188720" cy="246888"/>
          </a:xfrm>
          <a:prstGeom prst="roundRect">
            <a:avLst>
              <a:gd name="adj" fmla="val 18519"/>
            </a:avLst>
          </a:prstGeom>
          <a:solidFill>
            <a:srgbClr val="FFFFFF"/>
          </a:solidFill>
          <a:ln w="9525">
            <a:solidFill>
              <a:srgbClr val="7E8984"/>
            </a:solidFill>
          </a:ln>
        </p:spPr>
        <p:txBody>
          <a:bodyPr wrap="square" lIns="0" tIns="0" rIns="0" bIns="0" rtlCol="0" anchor="ctr"/>
          <a:lstStyle/>
          <a:p>
            <a:pPr algn="ctr" indent="0" marL="0">
              <a:buNone/>
            </a:pPr>
            <a:r>
              <a:rPr lang="en-US" sz="1000" dirty="0">
                <a:solidFill>
                  <a:srgbClr val="5E6964"/>
                </a:solidFill>
              </a:rPr>
              <a:t>Volver a listados</a:t>
            </a:r>
            <a:endParaRPr lang="en-US" sz="1000" dirty="0"/>
          </a:p>
        </p:txBody>
      </p:sp>
      <p:sp>
        <p:nvSpPr>
          <p:cNvPr id="65" name="texto-164"/>
          <p:cNvSpPr txBox="1"/>
          <p:nvPr/>
        </p:nvSpPr>
        <p:spPr>
          <a:xfrm>
            <a:off x="4353458" y="5495544"/>
            <a:ext cx="3484778" cy="548640"/>
          </a:xfrm>
          <a:prstGeom prst="rect">
            <a:avLst/>
          </a:prstGeom>
          <a:noFill/>
          <a:ln/>
        </p:spPr>
        <p:txBody>
          <a:bodyPr wrap="square" lIns="0" tIns="0" rIns="0" bIns="0" rtlCol="0" anchor="t"/>
          <a:lstStyle/>
          <a:p>
            <a:pPr indent="0" marL="0">
              <a:buNone/>
            </a:pPr>
            <a:r>
              <a:rPr lang="en-US" sz="1400" dirty="0">
                <a:solidFill>
                  <a:schemeClr val="accent5"/>
                </a:solidFill>
              </a:rPr>
              <a:t>Título, explicación, tabla y botones para volver.</a:t>
            </a:r>
            <a:endParaRPr lang="en-US" sz="1400" dirty="0"/>
          </a:p>
        </p:txBody>
      </p:sp>
      <p:sp>
        <p:nvSpPr>
          <p:cNvPr id="66" name="numero-165"/>
          <p:cNvSpPr/>
          <p:nvPr/>
        </p:nvSpPr>
        <p:spPr>
          <a:xfrm>
            <a:off x="8158277" y="157276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67" name="texto-166"/>
          <p:cNvSpPr txBox="1"/>
          <p:nvPr/>
        </p:nvSpPr>
        <p:spPr>
          <a:xfrm>
            <a:off x="8633765" y="1600200"/>
            <a:ext cx="3009290" cy="310896"/>
          </a:xfrm>
          <a:prstGeom prst="rect">
            <a:avLst/>
          </a:prstGeom>
          <a:noFill/>
          <a:ln/>
        </p:spPr>
        <p:txBody>
          <a:bodyPr wrap="square" lIns="0" tIns="0" rIns="0" bIns="0" rtlCol="0" anchor="ctr"/>
          <a:lstStyle/>
          <a:p>
            <a:pPr indent="0" marL="0">
              <a:buNone/>
            </a:pPr>
            <a:r>
              <a:rPr lang="en-US" sz="1600" b="1" dirty="0">
                <a:solidFill>
                  <a:schemeClr val="tx2"/>
                </a:solidFill>
              </a:rPr>
              <a:t>Página de gráfico</a:t>
            </a:r>
            <a:endParaRPr lang="en-US" sz="1600" dirty="0"/>
          </a:p>
        </p:txBody>
      </p:sp>
      <p:sp>
        <p:nvSpPr>
          <p:cNvPr id="68" name="navegador-167"/>
          <p:cNvSpPr/>
          <p:nvPr/>
        </p:nvSpPr>
        <p:spPr>
          <a:xfrm>
            <a:off x="8158277" y="2057400"/>
            <a:ext cx="3484778" cy="3300984"/>
          </a:xfrm>
          <a:prstGeom prst="roundRect">
            <a:avLst>
              <a:gd name="adj" fmla="val 2216"/>
            </a:avLst>
          </a:prstGeom>
          <a:solidFill>
            <a:srgbClr val="DDE3E0"/>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69" name="punto-168"/>
          <p:cNvSpPr/>
          <p:nvPr/>
        </p:nvSpPr>
        <p:spPr>
          <a:xfrm>
            <a:off x="8295437" y="2171700"/>
            <a:ext cx="100584" cy="100584"/>
          </a:xfrm>
          <a:prstGeom prst="ellipse">
            <a:avLst/>
          </a:prstGeom>
          <a:solidFill>
            <a:srgbClr val="A9B3AE"/>
          </a:solidFill>
          <a:ln/>
        </p:spPr>
      </p:sp>
      <p:sp>
        <p:nvSpPr>
          <p:cNvPr id="70" name="punto-169"/>
          <p:cNvSpPr/>
          <p:nvPr/>
        </p:nvSpPr>
        <p:spPr>
          <a:xfrm>
            <a:off x="8450885" y="2171700"/>
            <a:ext cx="100584" cy="100584"/>
          </a:xfrm>
          <a:prstGeom prst="ellipse">
            <a:avLst/>
          </a:prstGeom>
          <a:solidFill>
            <a:srgbClr val="A9B3AE"/>
          </a:solidFill>
          <a:ln/>
        </p:spPr>
      </p:sp>
      <p:sp>
        <p:nvSpPr>
          <p:cNvPr id="71" name="punto-170"/>
          <p:cNvSpPr/>
          <p:nvPr/>
        </p:nvSpPr>
        <p:spPr>
          <a:xfrm>
            <a:off x="8606333" y="2171700"/>
            <a:ext cx="100584" cy="100584"/>
          </a:xfrm>
          <a:prstGeom prst="ellipse">
            <a:avLst/>
          </a:prstGeom>
          <a:solidFill>
            <a:srgbClr val="A9B3AE"/>
          </a:solidFill>
          <a:ln/>
        </p:spPr>
      </p:sp>
      <p:sp>
        <p:nvSpPr>
          <p:cNvPr id="72" name="url-171"/>
          <p:cNvSpPr/>
          <p:nvPr/>
        </p:nvSpPr>
        <p:spPr>
          <a:xfrm>
            <a:off x="8816645" y="2121408"/>
            <a:ext cx="2661818"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rgbClr val="5E6964"/>
                </a:solidFill>
              </a:rPr>
              <a:t>/alumnos/graficos/…</a:t>
            </a:r>
            <a:endParaRPr lang="en-US" sz="1000" dirty="0"/>
          </a:p>
        </p:txBody>
      </p:sp>
      <p:sp>
        <p:nvSpPr>
          <p:cNvPr id="73" name="lienzo-172"/>
          <p:cNvSpPr/>
          <p:nvPr/>
        </p:nvSpPr>
        <p:spPr>
          <a:xfrm>
            <a:off x="8203997" y="2386584"/>
            <a:ext cx="3393338" cy="2926080"/>
          </a:xfrm>
          <a:prstGeom prst="rect">
            <a:avLst/>
          </a:prstGeom>
          <a:solidFill>
            <a:srgbClr val="FFFFFF"/>
          </a:solidFill>
          <a:ln/>
        </p:spPr>
      </p:sp>
      <p:sp>
        <p:nvSpPr>
          <p:cNvPr id="74" name="wf-cabecera-173"/>
          <p:cNvSpPr/>
          <p:nvPr/>
        </p:nvSpPr>
        <p:spPr>
          <a:xfrm>
            <a:off x="8203997" y="2386584"/>
            <a:ext cx="3393338" cy="310896"/>
          </a:xfrm>
          <a:prstGeom prst="rect">
            <a:avLst/>
          </a:prstGeom>
          <a:solidFill>
            <a:srgbClr val="F6F8F7"/>
          </a:solidFill>
          <a:ln w="6350">
            <a:solidFill>
              <a:srgbClr val="CDD5D1"/>
            </a:solidFill>
            <a:prstDash val="solid"/>
          </a:ln>
        </p:spPr>
      </p:sp>
      <p:sp>
        <p:nvSpPr>
          <p:cNvPr id="75" name="wf-menu-174"/>
          <p:cNvSpPr/>
          <p:nvPr/>
        </p:nvSpPr>
        <p:spPr>
          <a:xfrm>
            <a:off x="8313725" y="2441448"/>
            <a:ext cx="256032" cy="201168"/>
          </a:xfrm>
          <a:prstGeom prst="roundRect">
            <a:avLst>
              <a:gd name="adj" fmla="val 18182"/>
            </a:avLst>
          </a:prstGeom>
          <a:solidFill>
            <a:srgbClr val="FFFFFF"/>
          </a:solidFill>
          <a:ln w="9525">
            <a:solidFill>
              <a:srgbClr val="7E8984"/>
            </a:solidFill>
            <a:prstDash val="solid"/>
          </a:ln>
        </p:spPr>
      </p:sp>
      <p:sp>
        <p:nvSpPr>
          <p:cNvPr id="76" name="wf-raya-175"/>
          <p:cNvSpPr/>
          <p:nvPr/>
        </p:nvSpPr>
        <p:spPr>
          <a:xfrm>
            <a:off x="8377733" y="2491740"/>
            <a:ext cx="128016" cy="16459"/>
          </a:xfrm>
          <a:prstGeom prst="rect">
            <a:avLst/>
          </a:prstGeom>
          <a:solidFill>
            <a:srgbClr val="7E8984"/>
          </a:solidFill>
          <a:ln/>
        </p:spPr>
      </p:sp>
      <p:sp>
        <p:nvSpPr>
          <p:cNvPr id="77" name="wf-raya-176"/>
          <p:cNvSpPr/>
          <p:nvPr/>
        </p:nvSpPr>
        <p:spPr>
          <a:xfrm>
            <a:off x="8377733" y="2532888"/>
            <a:ext cx="128016" cy="16459"/>
          </a:xfrm>
          <a:prstGeom prst="rect">
            <a:avLst/>
          </a:prstGeom>
          <a:solidFill>
            <a:srgbClr val="7E8984"/>
          </a:solidFill>
          <a:ln/>
        </p:spPr>
      </p:sp>
      <p:sp>
        <p:nvSpPr>
          <p:cNvPr id="78" name="wf-raya-177"/>
          <p:cNvSpPr/>
          <p:nvPr/>
        </p:nvSpPr>
        <p:spPr>
          <a:xfrm>
            <a:off x="8377733" y="2574036"/>
            <a:ext cx="128016" cy="16459"/>
          </a:xfrm>
          <a:prstGeom prst="rect">
            <a:avLst/>
          </a:prstGeom>
          <a:solidFill>
            <a:srgbClr val="7E8984"/>
          </a:solidFill>
          <a:ln/>
        </p:spPr>
      </p:sp>
      <p:sp>
        <p:nvSpPr>
          <p:cNvPr id="79" name="wf-texto-178"/>
          <p:cNvSpPr txBox="1"/>
          <p:nvPr/>
        </p:nvSpPr>
        <p:spPr>
          <a:xfrm>
            <a:off x="8642909" y="2441448"/>
            <a:ext cx="1097280" cy="201168"/>
          </a:xfrm>
          <a:prstGeom prst="rect">
            <a:avLst/>
          </a:prstGeom>
          <a:noFill/>
          <a:ln/>
        </p:spPr>
        <p:txBody>
          <a:bodyPr wrap="square" lIns="0" tIns="0" rIns="0" bIns="0" rtlCol="0" anchor="ctr"/>
          <a:lstStyle/>
          <a:p>
            <a:pPr indent="0" marL="0">
              <a:buNone/>
            </a:pPr>
            <a:r>
              <a:rPr lang="en-US" sz="1000" b="1" dirty="0">
                <a:solidFill>
                  <a:srgbClr val="5E6964"/>
                </a:solidFill>
              </a:rPr>
              <a:t>Proyecto</a:t>
            </a:r>
            <a:endParaRPr lang="en-US" sz="1000" dirty="0"/>
          </a:p>
        </p:txBody>
      </p:sp>
      <p:sp>
        <p:nvSpPr>
          <p:cNvPr id="80" name="wf-texto-179"/>
          <p:cNvSpPr txBox="1"/>
          <p:nvPr/>
        </p:nvSpPr>
        <p:spPr>
          <a:xfrm>
            <a:off x="8432597" y="2816352"/>
            <a:ext cx="2377440" cy="274320"/>
          </a:xfrm>
          <a:prstGeom prst="rect">
            <a:avLst/>
          </a:prstGeom>
          <a:noFill/>
          <a:ln/>
        </p:spPr>
        <p:txBody>
          <a:bodyPr wrap="square" lIns="0" tIns="0" rIns="0" bIns="0" rtlCol="0" anchor="ctr"/>
          <a:lstStyle/>
          <a:p>
            <a:pPr indent="0" marL="0">
              <a:buNone/>
            </a:pPr>
            <a:r>
              <a:rPr lang="en-US" sz="1300" b="1" dirty="0">
                <a:solidFill>
                  <a:srgbClr val="4A5550"/>
                </a:solidFill>
              </a:rPr>
              <a:t>Título del gráfico</a:t>
            </a:r>
            <a:endParaRPr lang="en-US" sz="1300" dirty="0"/>
          </a:p>
        </p:txBody>
      </p:sp>
      <p:sp>
        <p:nvSpPr>
          <p:cNvPr id="81" name="wf-linea-180"/>
          <p:cNvSpPr/>
          <p:nvPr/>
        </p:nvSpPr>
        <p:spPr>
          <a:xfrm>
            <a:off x="8432597" y="3191256"/>
            <a:ext cx="2103120" cy="64008"/>
          </a:xfrm>
          <a:prstGeom prst="rect">
            <a:avLst/>
          </a:prstGeom>
          <a:solidFill>
            <a:srgbClr val="CDD5D1"/>
          </a:solidFill>
          <a:ln/>
        </p:spPr>
      </p:sp>
      <p:sp>
        <p:nvSpPr>
          <p:cNvPr id="82" name="linea-181"/>
          <p:cNvSpPr/>
          <p:nvPr/>
        </p:nvSpPr>
        <p:spPr>
          <a:xfrm>
            <a:off x="8752637" y="3410712"/>
            <a:ext cx="0" cy="1261872"/>
          </a:xfrm>
          <a:prstGeom prst="line">
            <a:avLst/>
          </a:prstGeom>
          <a:noFill/>
          <a:ln w="12700">
            <a:solidFill>
              <a:srgbClr val="7E8984"/>
            </a:solidFill>
            <a:prstDash val="solid"/>
          </a:ln>
        </p:spPr>
      </p:sp>
      <p:sp>
        <p:nvSpPr>
          <p:cNvPr id="83" name="linea-182"/>
          <p:cNvSpPr/>
          <p:nvPr/>
        </p:nvSpPr>
        <p:spPr>
          <a:xfrm>
            <a:off x="8752637" y="4672584"/>
            <a:ext cx="2478938" cy="0"/>
          </a:xfrm>
          <a:prstGeom prst="line">
            <a:avLst/>
          </a:prstGeom>
          <a:noFill/>
          <a:ln w="12700">
            <a:solidFill>
              <a:srgbClr val="7E8984"/>
            </a:solidFill>
            <a:prstDash val="solid"/>
          </a:ln>
        </p:spPr>
      </p:sp>
      <p:sp>
        <p:nvSpPr>
          <p:cNvPr id="84" name="wf-barra-183"/>
          <p:cNvSpPr/>
          <p:nvPr/>
        </p:nvSpPr>
        <p:spPr>
          <a:xfrm>
            <a:off x="8844077" y="3803904"/>
            <a:ext cx="273207" cy="868680"/>
          </a:xfrm>
          <a:prstGeom prst="rect">
            <a:avLst/>
          </a:prstGeom>
          <a:solidFill>
            <a:srgbClr val="CDD5D1"/>
          </a:solidFill>
          <a:ln/>
        </p:spPr>
      </p:sp>
      <p:sp>
        <p:nvSpPr>
          <p:cNvPr id="85" name="wf-barra-184"/>
          <p:cNvSpPr/>
          <p:nvPr/>
        </p:nvSpPr>
        <p:spPr>
          <a:xfrm>
            <a:off x="9234373" y="3666744"/>
            <a:ext cx="273207" cy="1005840"/>
          </a:xfrm>
          <a:prstGeom prst="rect">
            <a:avLst/>
          </a:prstGeom>
          <a:solidFill>
            <a:srgbClr val="CDD5D1"/>
          </a:solidFill>
          <a:ln/>
        </p:spPr>
      </p:sp>
      <p:sp>
        <p:nvSpPr>
          <p:cNvPr id="86" name="wf-barra-185"/>
          <p:cNvSpPr/>
          <p:nvPr/>
        </p:nvSpPr>
        <p:spPr>
          <a:xfrm>
            <a:off x="9624670" y="4032504"/>
            <a:ext cx="273207" cy="640080"/>
          </a:xfrm>
          <a:prstGeom prst="rect">
            <a:avLst/>
          </a:prstGeom>
          <a:solidFill>
            <a:srgbClr val="CDD5D1"/>
          </a:solidFill>
          <a:ln/>
        </p:spPr>
      </p:sp>
      <p:sp>
        <p:nvSpPr>
          <p:cNvPr id="87" name="wf-barra-186"/>
          <p:cNvSpPr/>
          <p:nvPr/>
        </p:nvSpPr>
        <p:spPr>
          <a:xfrm>
            <a:off x="10014966" y="3621024"/>
            <a:ext cx="273207" cy="1051560"/>
          </a:xfrm>
          <a:prstGeom prst="rect">
            <a:avLst/>
          </a:prstGeom>
          <a:solidFill>
            <a:srgbClr val="CDD5D1"/>
          </a:solidFill>
          <a:ln/>
        </p:spPr>
      </p:sp>
      <p:sp>
        <p:nvSpPr>
          <p:cNvPr id="88" name="wf-barra-187"/>
          <p:cNvSpPr/>
          <p:nvPr/>
        </p:nvSpPr>
        <p:spPr>
          <a:xfrm>
            <a:off x="10405262" y="4123944"/>
            <a:ext cx="273207" cy="548640"/>
          </a:xfrm>
          <a:prstGeom prst="rect">
            <a:avLst/>
          </a:prstGeom>
          <a:solidFill>
            <a:srgbClr val="CDD5D1"/>
          </a:solidFill>
          <a:ln/>
        </p:spPr>
      </p:sp>
      <p:sp>
        <p:nvSpPr>
          <p:cNvPr id="89" name="wf-barra-188"/>
          <p:cNvSpPr/>
          <p:nvPr/>
        </p:nvSpPr>
        <p:spPr>
          <a:xfrm>
            <a:off x="10795559" y="3895344"/>
            <a:ext cx="273207" cy="777240"/>
          </a:xfrm>
          <a:prstGeom prst="rect">
            <a:avLst/>
          </a:prstGeom>
          <a:solidFill>
            <a:srgbClr val="CDD5D1"/>
          </a:solidFill>
          <a:ln/>
        </p:spPr>
      </p:sp>
      <p:sp>
        <p:nvSpPr>
          <p:cNvPr id="90" name="wf-boton-189"/>
          <p:cNvSpPr/>
          <p:nvPr/>
        </p:nvSpPr>
        <p:spPr>
          <a:xfrm>
            <a:off x="8432597" y="4873752"/>
            <a:ext cx="1097280" cy="246888"/>
          </a:xfrm>
          <a:prstGeom prst="roundRect">
            <a:avLst>
              <a:gd name="adj" fmla="val 18519"/>
            </a:avLst>
          </a:prstGeom>
          <a:solidFill>
            <a:srgbClr val="FFFFFF"/>
          </a:solidFill>
          <a:ln w="9525">
            <a:solidFill>
              <a:srgbClr val="7E8984"/>
            </a:solidFill>
          </a:ln>
        </p:spPr>
        <p:txBody>
          <a:bodyPr wrap="square" lIns="0" tIns="0" rIns="0" bIns="0" rtlCol="0" anchor="ctr"/>
          <a:lstStyle/>
          <a:p>
            <a:pPr algn="ctr" indent="0" marL="0">
              <a:buNone/>
            </a:pPr>
            <a:r>
              <a:rPr lang="en-US" sz="1000" dirty="0">
                <a:solidFill>
                  <a:srgbClr val="5E6964"/>
                </a:solidFill>
              </a:rPr>
              <a:t>Volver a inicio</a:t>
            </a:r>
            <a:endParaRPr lang="en-US" sz="1000" dirty="0"/>
          </a:p>
        </p:txBody>
      </p:sp>
      <p:sp>
        <p:nvSpPr>
          <p:cNvPr id="91" name="wf-boton-190"/>
          <p:cNvSpPr/>
          <p:nvPr/>
        </p:nvSpPr>
        <p:spPr>
          <a:xfrm>
            <a:off x="9621317" y="4873752"/>
            <a:ext cx="1188720" cy="246888"/>
          </a:xfrm>
          <a:prstGeom prst="roundRect">
            <a:avLst>
              <a:gd name="adj" fmla="val 18519"/>
            </a:avLst>
          </a:prstGeom>
          <a:solidFill>
            <a:srgbClr val="FFFFFF"/>
          </a:solidFill>
          <a:ln w="9525">
            <a:solidFill>
              <a:srgbClr val="7E8984"/>
            </a:solidFill>
          </a:ln>
        </p:spPr>
        <p:txBody>
          <a:bodyPr wrap="square" lIns="0" tIns="0" rIns="0" bIns="0" rtlCol="0" anchor="ctr"/>
          <a:lstStyle/>
          <a:p>
            <a:pPr algn="ctr" indent="0" marL="0">
              <a:buNone/>
            </a:pPr>
            <a:r>
              <a:rPr lang="en-US" sz="1000" dirty="0">
                <a:solidFill>
                  <a:srgbClr val="5E6964"/>
                </a:solidFill>
              </a:rPr>
              <a:t>Volver a gráficos</a:t>
            </a:r>
            <a:endParaRPr lang="en-US" sz="1000" dirty="0"/>
          </a:p>
        </p:txBody>
      </p:sp>
      <p:sp>
        <p:nvSpPr>
          <p:cNvPr id="92" name="texto-191"/>
          <p:cNvSpPr txBox="1"/>
          <p:nvPr/>
        </p:nvSpPr>
        <p:spPr>
          <a:xfrm>
            <a:off x="8158277" y="5495544"/>
            <a:ext cx="3484778" cy="548640"/>
          </a:xfrm>
          <a:prstGeom prst="rect">
            <a:avLst/>
          </a:prstGeom>
          <a:noFill/>
          <a:ln/>
        </p:spPr>
        <p:txBody>
          <a:bodyPr wrap="square" lIns="0" tIns="0" rIns="0" bIns="0" rtlCol="0" anchor="t"/>
          <a:lstStyle/>
          <a:p>
            <a:pPr indent="0" marL="0">
              <a:buNone/>
            </a:pPr>
            <a:r>
              <a:rPr lang="en-US" sz="1400" dirty="0">
                <a:solidFill>
                  <a:schemeClr val="accent5"/>
                </a:solidFill>
              </a:rPr>
              <a:t>Misma estructura, con el gráfico al centro.</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Del mockup al HTML</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Cada boceto pasó a ser una plantilla de Django, con Bootstrap 5.3</a:t>
            </a:r>
            <a:endParaRPr lang="en-US" sz="1600" dirty="0"/>
          </a:p>
        </p:txBody>
      </p:sp>
      <p:sp>
        <p:nvSpPr>
          <p:cNvPr id="4" name="numero-192"/>
          <p:cNvSpPr/>
          <p:nvPr/>
        </p:nvSpPr>
        <p:spPr>
          <a:xfrm>
            <a:off x="548640" y="1810512"/>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o-193"/>
          <p:cNvSpPr txBox="1"/>
          <p:nvPr/>
        </p:nvSpPr>
        <p:spPr>
          <a:xfrm>
            <a:off x="1143000" y="1737360"/>
            <a:ext cx="4206240" cy="310896"/>
          </a:xfrm>
          <a:prstGeom prst="rect">
            <a:avLst/>
          </a:prstGeom>
          <a:noFill/>
          <a:ln/>
        </p:spPr>
        <p:txBody>
          <a:bodyPr wrap="square" lIns="0" tIns="0" rIns="0" bIns="0" rtlCol="0" anchor="t"/>
          <a:lstStyle/>
          <a:p>
            <a:pPr indent="0" marL="0">
              <a:buNone/>
            </a:pPr>
            <a:r>
              <a:rPr lang="en-US" sz="1700" b="1" dirty="0">
                <a:solidFill>
                  <a:schemeClr val="tx2"/>
                </a:solidFill>
              </a:rPr>
              <a:t>Inicio</a:t>
            </a:r>
            <a:endParaRPr lang="en-US" sz="1700" dirty="0"/>
          </a:p>
        </p:txBody>
      </p:sp>
      <p:sp>
        <p:nvSpPr>
          <p:cNvPr id="6" name="texto-194"/>
          <p:cNvSpPr txBox="1"/>
          <p:nvPr/>
        </p:nvSpPr>
        <p:spPr>
          <a:xfrm>
            <a:off x="1143000" y="2084832"/>
            <a:ext cx="4480560" cy="2743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index.html</a:t>
            </a:r>
            <a:endParaRPr lang="en-US" sz="1300" dirty="0"/>
          </a:p>
        </p:txBody>
      </p:sp>
      <p:sp>
        <p:nvSpPr>
          <p:cNvPr id="7" name="numero-195"/>
          <p:cNvSpPr/>
          <p:nvPr/>
        </p:nvSpPr>
        <p:spPr>
          <a:xfrm>
            <a:off x="548640" y="269748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o-196"/>
          <p:cNvSpPr txBox="1"/>
          <p:nvPr/>
        </p:nvSpPr>
        <p:spPr>
          <a:xfrm>
            <a:off x="1143000" y="2624328"/>
            <a:ext cx="4206240" cy="310896"/>
          </a:xfrm>
          <a:prstGeom prst="rect">
            <a:avLst/>
          </a:prstGeom>
          <a:noFill/>
          <a:ln/>
        </p:spPr>
        <p:txBody>
          <a:bodyPr wrap="square" lIns="0" tIns="0" rIns="0" bIns="0" rtlCol="0" anchor="t"/>
          <a:lstStyle/>
          <a:p>
            <a:pPr indent="0" marL="0">
              <a:buNone/>
            </a:pPr>
            <a:r>
              <a:rPr lang="en-US" sz="1700" b="1" dirty="0">
                <a:solidFill>
                  <a:schemeClr val="tx2"/>
                </a:solidFill>
              </a:rPr>
              <a:t>Menú vertical</a:t>
            </a:r>
            <a:endParaRPr lang="en-US" sz="1700" dirty="0"/>
          </a:p>
        </p:txBody>
      </p:sp>
      <p:sp>
        <p:nvSpPr>
          <p:cNvPr id="9" name="texto-197"/>
          <p:cNvSpPr txBox="1"/>
          <p:nvPr/>
        </p:nvSpPr>
        <p:spPr>
          <a:xfrm>
            <a:off x="1143000" y="2971800"/>
            <a:ext cx="4480560" cy="2743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menu.html</a:t>
            </a:r>
            <a:endParaRPr lang="en-US" sz="1300" dirty="0"/>
          </a:p>
        </p:txBody>
      </p:sp>
      <p:sp>
        <p:nvSpPr>
          <p:cNvPr id="10" name="numero-198"/>
          <p:cNvSpPr/>
          <p:nvPr/>
        </p:nvSpPr>
        <p:spPr>
          <a:xfrm>
            <a:off x="548640" y="3584448"/>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o-199"/>
          <p:cNvSpPr txBox="1"/>
          <p:nvPr/>
        </p:nvSpPr>
        <p:spPr>
          <a:xfrm>
            <a:off x="1143000" y="3511296"/>
            <a:ext cx="4206240" cy="310896"/>
          </a:xfrm>
          <a:prstGeom prst="rect">
            <a:avLst/>
          </a:prstGeom>
          <a:noFill/>
          <a:ln/>
        </p:spPr>
        <p:txBody>
          <a:bodyPr wrap="square" lIns="0" tIns="0" rIns="0" bIns="0" rtlCol="0" anchor="t"/>
          <a:lstStyle/>
          <a:p>
            <a:pPr indent="0" marL="0">
              <a:buNone/>
            </a:pPr>
            <a:r>
              <a:rPr lang="en-US" sz="1700" b="1" dirty="0">
                <a:solidFill>
                  <a:schemeClr val="tx2"/>
                </a:solidFill>
              </a:rPr>
              <a:t>Selección</a:t>
            </a:r>
            <a:endParaRPr lang="en-US" sz="1700" dirty="0"/>
          </a:p>
        </p:txBody>
      </p:sp>
      <p:sp>
        <p:nvSpPr>
          <p:cNvPr id="12" name="texto-200"/>
          <p:cNvSpPr txBox="1"/>
          <p:nvPr/>
        </p:nvSpPr>
        <p:spPr>
          <a:xfrm>
            <a:off x="1143000" y="3858768"/>
            <a:ext cx="4480560" cy="2743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pagina_listados.html · pagina_graficos.html</a:t>
            </a:r>
            <a:endParaRPr lang="en-US" sz="1300" dirty="0"/>
          </a:p>
        </p:txBody>
      </p:sp>
      <p:sp>
        <p:nvSpPr>
          <p:cNvPr id="13" name="numero-201"/>
          <p:cNvSpPr/>
          <p:nvPr/>
        </p:nvSpPr>
        <p:spPr>
          <a:xfrm>
            <a:off x="548640" y="4471416"/>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o-202"/>
          <p:cNvSpPr txBox="1"/>
          <p:nvPr/>
        </p:nvSpPr>
        <p:spPr>
          <a:xfrm>
            <a:off x="1143000" y="4398264"/>
            <a:ext cx="4206240" cy="310896"/>
          </a:xfrm>
          <a:prstGeom prst="rect">
            <a:avLst/>
          </a:prstGeom>
          <a:noFill/>
          <a:ln/>
        </p:spPr>
        <p:txBody>
          <a:bodyPr wrap="square" lIns="0" tIns="0" rIns="0" bIns="0" rtlCol="0" anchor="t"/>
          <a:lstStyle/>
          <a:p>
            <a:pPr indent="0" marL="0">
              <a:buNone/>
            </a:pPr>
            <a:r>
              <a:rPr lang="en-US" sz="1700" b="1" dirty="0">
                <a:solidFill>
                  <a:schemeClr val="tx2"/>
                </a:solidFill>
              </a:rPr>
              <a:t>Tabla</a:t>
            </a:r>
            <a:endParaRPr lang="en-US" sz="1700" dirty="0"/>
          </a:p>
        </p:txBody>
      </p:sp>
      <p:sp>
        <p:nvSpPr>
          <p:cNvPr id="15" name="texto-203"/>
          <p:cNvSpPr txBox="1"/>
          <p:nvPr/>
        </p:nvSpPr>
        <p:spPr>
          <a:xfrm>
            <a:off x="1143000" y="4745736"/>
            <a:ext cx="4480560" cy="2743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listado.html</a:t>
            </a:r>
            <a:endParaRPr lang="en-US" sz="1300" dirty="0"/>
          </a:p>
        </p:txBody>
      </p:sp>
      <p:sp>
        <p:nvSpPr>
          <p:cNvPr id="16" name="numero-204"/>
          <p:cNvSpPr/>
          <p:nvPr/>
        </p:nvSpPr>
        <p:spPr>
          <a:xfrm>
            <a:off x="548640" y="5358384"/>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o-205"/>
          <p:cNvSpPr txBox="1"/>
          <p:nvPr/>
        </p:nvSpPr>
        <p:spPr>
          <a:xfrm>
            <a:off x="1143000" y="5285232"/>
            <a:ext cx="4206240" cy="310896"/>
          </a:xfrm>
          <a:prstGeom prst="rect">
            <a:avLst/>
          </a:prstGeom>
          <a:noFill/>
          <a:ln/>
        </p:spPr>
        <p:txBody>
          <a:bodyPr wrap="square" lIns="0" tIns="0" rIns="0" bIns="0" rtlCol="0" anchor="t"/>
          <a:lstStyle/>
          <a:p>
            <a:pPr indent="0" marL="0">
              <a:buNone/>
            </a:pPr>
            <a:r>
              <a:rPr lang="en-US" sz="1700" b="1" dirty="0">
                <a:solidFill>
                  <a:schemeClr val="tx2"/>
                </a:solidFill>
              </a:rPr>
              <a:t>Gráfico</a:t>
            </a:r>
            <a:endParaRPr lang="en-US" sz="1700" dirty="0"/>
          </a:p>
        </p:txBody>
      </p:sp>
      <p:sp>
        <p:nvSpPr>
          <p:cNvPr id="18" name="texto-206"/>
          <p:cNvSpPr txBox="1"/>
          <p:nvPr/>
        </p:nvSpPr>
        <p:spPr>
          <a:xfrm>
            <a:off x="1143000" y="5632704"/>
            <a:ext cx="4480560" cy="2743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grafico.html</a:t>
            </a:r>
            <a:endParaRPr lang="en-US" sz="1300" dirty="0"/>
          </a:p>
        </p:txBody>
      </p:sp>
      <p:sp>
        <p:nvSpPr>
          <p:cNvPr id="19" name="navegador-207"/>
          <p:cNvSpPr/>
          <p:nvPr/>
        </p:nvSpPr>
        <p:spPr>
          <a:xfrm>
            <a:off x="5897880" y="1691640"/>
            <a:ext cx="5745175" cy="1664662"/>
          </a:xfrm>
          <a:prstGeom prst="roundRect">
            <a:avLst>
              <a:gd name="adj" fmla="val 4394"/>
            </a:avLst>
          </a:prstGeom>
          <a:solidFill>
            <a:srgbClr val="E2E9E5"/>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20" name="punto-208"/>
          <p:cNvSpPr/>
          <p:nvPr/>
        </p:nvSpPr>
        <p:spPr>
          <a:xfrm>
            <a:off x="6035040" y="1805940"/>
            <a:ext cx="100584" cy="100584"/>
          </a:xfrm>
          <a:prstGeom prst="ellipse">
            <a:avLst/>
          </a:prstGeom>
          <a:solidFill>
            <a:srgbClr val="E06C5F"/>
          </a:solidFill>
          <a:ln/>
        </p:spPr>
      </p:sp>
      <p:sp>
        <p:nvSpPr>
          <p:cNvPr id="21" name="punto-209"/>
          <p:cNvSpPr/>
          <p:nvPr/>
        </p:nvSpPr>
        <p:spPr>
          <a:xfrm>
            <a:off x="6190488" y="1805940"/>
            <a:ext cx="100584" cy="100584"/>
          </a:xfrm>
          <a:prstGeom prst="ellipse">
            <a:avLst/>
          </a:prstGeom>
          <a:solidFill>
            <a:srgbClr val="E9B949"/>
          </a:solidFill>
          <a:ln/>
        </p:spPr>
      </p:sp>
      <p:sp>
        <p:nvSpPr>
          <p:cNvPr id="22" name="punto-210"/>
          <p:cNvSpPr/>
          <p:nvPr/>
        </p:nvSpPr>
        <p:spPr>
          <a:xfrm>
            <a:off x="6345936" y="1805940"/>
            <a:ext cx="100584" cy="100584"/>
          </a:xfrm>
          <a:prstGeom prst="ellipse">
            <a:avLst/>
          </a:prstGeom>
          <a:solidFill>
            <a:srgbClr val="5DB872"/>
          </a:solidFill>
          <a:ln/>
        </p:spPr>
      </p:sp>
      <p:sp>
        <p:nvSpPr>
          <p:cNvPr id="23" name="url-211"/>
          <p:cNvSpPr/>
          <p:nvPr/>
        </p:nvSpPr>
        <p:spPr>
          <a:xfrm>
            <a:off x="6556248" y="1755648"/>
            <a:ext cx="4922215"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chemeClr val="accent5"/>
                </a:solidFill>
              </a:rPr>
              <a:t>127.0.0.1:8000/alumnos/</a:t>
            </a:r>
            <a:endParaRPr lang="en-US" sz="1000" dirty="0"/>
          </a:p>
        </p:txBody>
      </p:sp>
      <p:pic>
        <p:nvPicPr>
          <p:cNvPr id="24" name="captura-212" descr="/private/tmp/claude-501/-Users-pablovaldiviamonzon-Desktop-cert-menes/6974cfb1-314e-48ac-991e-539c4c5dc99b/scratchpad/img/index.jpg">    </p:cNvPr>
          <p:cNvPicPr>
            <a:picLocks noChangeAspect="1"/>
          </p:cNvPicPr>
          <p:nvPr/>
        </p:nvPicPr>
        <p:blipFill>
          <a:blip r:embed="rId1"/>
          <a:stretch>
            <a:fillRect/>
          </a:stretch>
        </p:blipFill>
        <p:spPr>
          <a:xfrm>
            <a:off x="5943600" y="2020824"/>
            <a:ext cx="5653735" cy="1289758"/>
          </a:xfrm>
          <a:prstGeom prst="rect">
            <a:avLst/>
          </a:prstGeom>
        </p:spPr>
      </p:pic>
      <p:sp>
        <p:nvSpPr>
          <p:cNvPr id="25" name="navegador-213"/>
          <p:cNvSpPr/>
          <p:nvPr/>
        </p:nvSpPr>
        <p:spPr>
          <a:xfrm>
            <a:off x="5897880" y="3630622"/>
            <a:ext cx="5745175" cy="2530391"/>
          </a:xfrm>
          <a:prstGeom prst="roundRect">
            <a:avLst>
              <a:gd name="adj" fmla="val 2891"/>
            </a:avLst>
          </a:prstGeom>
          <a:solidFill>
            <a:srgbClr val="E2E9E5"/>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26" name="punto-214"/>
          <p:cNvSpPr/>
          <p:nvPr/>
        </p:nvSpPr>
        <p:spPr>
          <a:xfrm>
            <a:off x="6035040" y="3744922"/>
            <a:ext cx="100584" cy="100584"/>
          </a:xfrm>
          <a:prstGeom prst="ellipse">
            <a:avLst/>
          </a:prstGeom>
          <a:solidFill>
            <a:srgbClr val="E06C5F"/>
          </a:solidFill>
          <a:ln/>
        </p:spPr>
      </p:sp>
      <p:sp>
        <p:nvSpPr>
          <p:cNvPr id="27" name="punto-215"/>
          <p:cNvSpPr/>
          <p:nvPr/>
        </p:nvSpPr>
        <p:spPr>
          <a:xfrm>
            <a:off x="6190488" y="3744922"/>
            <a:ext cx="100584" cy="100584"/>
          </a:xfrm>
          <a:prstGeom prst="ellipse">
            <a:avLst/>
          </a:prstGeom>
          <a:solidFill>
            <a:srgbClr val="E9B949"/>
          </a:solidFill>
          <a:ln/>
        </p:spPr>
      </p:sp>
      <p:sp>
        <p:nvSpPr>
          <p:cNvPr id="28" name="punto-216"/>
          <p:cNvSpPr/>
          <p:nvPr/>
        </p:nvSpPr>
        <p:spPr>
          <a:xfrm>
            <a:off x="6345936" y="3744922"/>
            <a:ext cx="100584" cy="100584"/>
          </a:xfrm>
          <a:prstGeom prst="ellipse">
            <a:avLst/>
          </a:prstGeom>
          <a:solidFill>
            <a:srgbClr val="5DB872"/>
          </a:solidFill>
          <a:ln/>
        </p:spPr>
      </p:sp>
      <p:sp>
        <p:nvSpPr>
          <p:cNvPr id="29" name="url-217"/>
          <p:cNvSpPr/>
          <p:nvPr/>
        </p:nvSpPr>
        <p:spPr>
          <a:xfrm>
            <a:off x="6556248" y="3694630"/>
            <a:ext cx="4922215"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chemeClr val="accent5"/>
                </a:solidFill>
              </a:rPr>
              <a:t>127.0.0.1:8000/alumnos/graficos/</a:t>
            </a:r>
            <a:endParaRPr lang="en-US" sz="1000" dirty="0"/>
          </a:p>
        </p:txBody>
      </p:sp>
      <p:pic>
        <p:nvPicPr>
          <p:cNvPr id="30" name="captura-218" descr="/private/tmp/claude-501/-Users-pablovaldiviamonzon-Desktop-cert-menes/6974cfb1-314e-48ac-991e-539c4c5dc99b/scratchpad/img/pag_graficos.jpg">    </p:cNvPr>
          <p:cNvPicPr>
            <a:picLocks noChangeAspect="1"/>
          </p:cNvPicPr>
          <p:nvPr/>
        </p:nvPicPr>
        <p:blipFill>
          <a:blip r:embed="rId2"/>
          <a:stretch>
            <a:fillRect/>
          </a:stretch>
        </p:blipFill>
        <p:spPr>
          <a:xfrm>
            <a:off x="5943600" y="3959806"/>
            <a:ext cx="5653735" cy="2155487"/>
          </a:xfrm>
          <a:prstGeom prst="rect">
            <a:avLst/>
          </a:prstGeom>
        </p:spPr>
      </p:pic>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Menú vertical con herencia de plantilla</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El menú se escribe una vez en base.html y lo heredan las 9 páginas</a:t>
            </a:r>
            <a:endParaRPr lang="en-US" sz="1600" dirty="0"/>
          </a:p>
        </p:txBody>
      </p:sp>
      <p:sp>
        <p:nvSpPr>
          <p:cNvPr id="4" name="tarjeta-219"/>
          <p:cNvSpPr/>
          <p:nvPr/>
        </p:nvSpPr>
        <p:spPr>
          <a:xfrm>
            <a:off x="548640" y="1691640"/>
            <a:ext cx="6172200" cy="1508760"/>
          </a:xfrm>
          <a:prstGeom prst="roundRect">
            <a:avLst>
              <a:gd name="adj" fmla="val 6061"/>
            </a:avLst>
          </a:prstGeom>
          <a:solidFill>
            <a:schemeClr val="tx2"/>
          </a:solidFill>
          <a:ln/>
        </p:spPr>
      </p:sp>
      <p:sp>
        <p:nvSpPr>
          <p:cNvPr id="5" name="texto-220"/>
          <p:cNvSpPr txBox="1"/>
          <p:nvPr/>
        </p:nvSpPr>
        <p:spPr>
          <a:xfrm>
            <a:off x="822960" y="1810512"/>
            <a:ext cx="5623560" cy="329184"/>
          </a:xfrm>
          <a:prstGeom prst="rect">
            <a:avLst/>
          </a:prstGeom>
          <a:noFill/>
          <a:ln/>
        </p:spPr>
        <p:txBody>
          <a:bodyPr wrap="square" lIns="0" tIns="0" rIns="0" bIns="0" rtlCol="0" anchor="t"/>
          <a:lstStyle/>
          <a:p>
            <a:pPr indent="0" marL="0">
              <a:buNone/>
            </a:pPr>
            <a:r>
              <a:rPr lang="en-US" sz="1700" b="1" dirty="0">
                <a:solidFill>
                  <a:schemeClr val="bg1"/>
                </a:solidFill>
              </a:rPr>
              <a:t>base.html · plantilla madre</a:t>
            </a:r>
            <a:endParaRPr lang="en-US" sz="1700" dirty="0"/>
          </a:p>
        </p:txBody>
      </p:sp>
      <p:sp>
        <p:nvSpPr>
          <p:cNvPr id="6" name="texto-221"/>
          <p:cNvSpPr txBox="1"/>
          <p:nvPr/>
        </p:nvSpPr>
        <p:spPr>
          <a:xfrm>
            <a:off x="822960" y="2240280"/>
            <a:ext cx="5623560" cy="868680"/>
          </a:xfrm>
          <a:prstGeom prst="rect">
            <a:avLst/>
          </a:prstGeom>
          <a:noFill/>
          <a:ln/>
        </p:spPr>
        <p:txBody>
          <a:bodyPr wrap="square" lIns="0" tIns="0" rIns="0" bIns="0" rtlCol="0" anchor="t"/>
          <a:lstStyle/>
          <a:p>
            <a:pPr indent="0" marL="0">
              <a:spcAft>
                <a:spcPts val="300"/>
              </a:spcAft>
              <a:buNone/>
            </a:pPr>
            <a:r>
              <a:rPr lang="en-US" sz="1300" dirty="0">
                <a:solidFill>
                  <a:srgbClr val="CFE3D9"/>
                </a:solidFill>
                <a:latin typeface="Courier New" pitchFamily="34" charset="0"/>
                <a:ea typeface="Courier New" pitchFamily="34" charset="-122"/>
                <a:cs typeface="Courier New" pitchFamily="34" charset="-120"/>
              </a:rPr>
              <a:t>&lt;link … bootstrap.min.css&gt;</a:t>
            </a:r>
            <a:endParaRPr lang="en-US" sz="1300" dirty="0"/>
          </a:p>
          <a:p>
            <a:pPr indent="0" marL="0">
              <a:spcAft>
                <a:spcPts val="300"/>
              </a:spcAft>
              <a:buNone/>
            </a:pPr>
            <a:r>
              <a:rPr lang="en-US" sz="1300" dirty="0">
                <a:solidFill>
                  <a:srgbClr val="F2C46D"/>
                </a:solidFill>
                <a:latin typeface="Courier New" pitchFamily="34" charset="0"/>
                <a:ea typeface="Courier New" pitchFamily="34" charset="-122"/>
                <a:cs typeface="Courier New" pitchFamily="34" charset="-120"/>
              </a:rPr>
              <a:t>{% include 'alumnos/menu.html' %}</a:t>
            </a:r>
            <a:endParaRPr lang="en-US" sz="1300" dirty="0"/>
          </a:p>
          <a:p>
            <a:pPr indent="0" marL="0">
              <a:spcAft>
                <a:spcPts val="300"/>
              </a:spcAft>
              <a:buNone/>
            </a:pPr>
            <a:r>
              <a:rPr lang="en-US" sz="1300" dirty="0">
                <a:solidFill>
                  <a:srgbClr val="CFE3D9"/>
                </a:solidFill>
                <a:latin typeface="Courier New" pitchFamily="34" charset="0"/>
                <a:ea typeface="Courier New" pitchFamily="34" charset="-122"/>
                <a:cs typeface="Courier New" pitchFamily="34" charset="-120"/>
              </a:rPr>
              <a:t>{% block contenido %}{% endblock %}</a:t>
            </a:r>
            <a:endParaRPr lang="en-US" sz="1300" dirty="0"/>
          </a:p>
        </p:txBody>
      </p:sp>
      <p:sp>
        <p:nvSpPr>
          <p:cNvPr id="7" name="linea-222"/>
          <p:cNvSpPr/>
          <p:nvPr/>
        </p:nvSpPr>
        <p:spPr>
          <a:xfrm>
            <a:off x="1371600" y="3200400"/>
            <a:ext cx="0" cy="566928"/>
          </a:xfrm>
          <a:prstGeom prst="line">
            <a:avLst/>
          </a:prstGeom>
          <a:noFill/>
          <a:ln w="25400">
            <a:solidFill>
              <a:schemeClr val="accent1"/>
            </a:solidFill>
            <a:prstDash val="solid"/>
            <a:tailEnd type="triangle"/>
          </a:ln>
        </p:spPr>
      </p:sp>
      <p:sp>
        <p:nvSpPr>
          <p:cNvPr id="8" name="texto-223"/>
          <p:cNvSpPr txBox="1"/>
          <p:nvPr/>
        </p:nvSpPr>
        <p:spPr>
          <a:xfrm>
            <a:off x="1600200" y="3337560"/>
            <a:ext cx="5029200" cy="292608"/>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 extends 'alumnos/base.html' %}</a:t>
            </a:r>
            <a:endParaRPr lang="en-US" sz="1300" dirty="0"/>
          </a:p>
        </p:txBody>
      </p:sp>
      <p:sp>
        <p:nvSpPr>
          <p:cNvPr id="9" name="tarjeta-224"/>
          <p:cNvSpPr/>
          <p:nvPr/>
        </p:nvSpPr>
        <p:spPr>
          <a:xfrm>
            <a:off x="548640" y="3813048"/>
            <a:ext cx="6172200" cy="2377440"/>
          </a:xfrm>
          <a:prstGeom prst="roundRect">
            <a:avLst>
              <a:gd name="adj" fmla="val 3846"/>
            </a:avLst>
          </a:prstGeom>
          <a:solidFill>
            <a:schemeClr val="bg2"/>
          </a:solidFill>
          <a:ln/>
        </p:spPr>
      </p:sp>
      <p:sp>
        <p:nvSpPr>
          <p:cNvPr id="10" name="texto-225"/>
          <p:cNvSpPr txBox="1"/>
          <p:nvPr/>
        </p:nvSpPr>
        <p:spPr>
          <a:xfrm>
            <a:off x="777240" y="3931920"/>
            <a:ext cx="4572000" cy="292608"/>
          </a:xfrm>
          <a:prstGeom prst="rect">
            <a:avLst/>
          </a:prstGeom>
          <a:noFill/>
          <a:ln/>
        </p:spPr>
        <p:txBody>
          <a:bodyPr wrap="square" lIns="0" tIns="0" rIns="0" bIns="0" rtlCol="0" anchor="t"/>
          <a:lstStyle/>
          <a:p>
            <a:pPr indent="0" marL="0">
              <a:buNone/>
            </a:pPr>
            <a:r>
              <a:rPr lang="en-US" sz="1500" b="1" dirty="0">
                <a:solidFill>
                  <a:schemeClr val="tx2"/>
                </a:solidFill>
              </a:rPr>
              <a:t>5 plantillas hijas · 9 páginas</a:t>
            </a:r>
            <a:endParaRPr lang="en-US" sz="1500" dirty="0"/>
          </a:p>
        </p:txBody>
      </p:sp>
      <p:sp>
        <p:nvSpPr>
          <p:cNvPr id="11" name="tarjeta-226"/>
          <p:cNvSpPr/>
          <p:nvPr/>
        </p:nvSpPr>
        <p:spPr>
          <a:xfrm>
            <a:off x="777240" y="4370832"/>
            <a:ext cx="2788920" cy="731520"/>
          </a:xfrm>
          <a:prstGeom prst="roundRect">
            <a:avLst>
              <a:gd name="adj" fmla="val 12500"/>
            </a:avLst>
          </a:prstGeom>
          <a:solidFill>
            <a:schemeClr val="bg1"/>
          </a:solidFill>
          <a:ln w="9525">
            <a:solidFill>
              <a:schemeClr val="accent6"/>
            </a:solidFill>
            <a:prstDash val="solid"/>
          </a:ln>
        </p:spPr>
      </p:sp>
      <p:sp>
        <p:nvSpPr>
          <p:cNvPr id="12" name="texto-227"/>
          <p:cNvSpPr txBox="1"/>
          <p:nvPr/>
        </p:nvSpPr>
        <p:spPr>
          <a:xfrm>
            <a:off x="886968" y="4462272"/>
            <a:ext cx="2569464" cy="27432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pagina_listados.html</a:t>
            </a:r>
            <a:endParaRPr lang="en-US" sz="1300" dirty="0"/>
          </a:p>
        </p:txBody>
      </p:sp>
      <p:sp>
        <p:nvSpPr>
          <p:cNvPr id="13" name="texto-228"/>
          <p:cNvSpPr txBox="1"/>
          <p:nvPr/>
        </p:nvSpPr>
        <p:spPr>
          <a:xfrm>
            <a:off x="886968" y="4773168"/>
            <a:ext cx="2569464" cy="256032"/>
          </a:xfrm>
          <a:prstGeom prst="rect">
            <a:avLst/>
          </a:prstGeom>
          <a:noFill/>
          <a:ln/>
        </p:spPr>
        <p:txBody>
          <a:bodyPr wrap="square" lIns="0" tIns="0" rIns="0" bIns="0" rtlCol="0" anchor="t"/>
          <a:lstStyle/>
          <a:p>
            <a:pPr indent="0" marL="0">
              <a:buNone/>
            </a:pPr>
            <a:r>
              <a:rPr lang="en-US" sz="1300" dirty="0">
                <a:solidFill>
                  <a:schemeClr val="accent5"/>
                </a:solidFill>
              </a:rPr>
              <a:t>elegir tabla</a:t>
            </a:r>
            <a:endParaRPr lang="en-US" sz="1300" dirty="0"/>
          </a:p>
        </p:txBody>
      </p:sp>
      <p:sp>
        <p:nvSpPr>
          <p:cNvPr id="14" name="tarjeta-229"/>
          <p:cNvSpPr/>
          <p:nvPr/>
        </p:nvSpPr>
        <p:spPr>
          <a:xfrm>
            <a:off x="3703320" y="4370832"/>
            <a:ext cx="2788920" cy="731520"/>
          </a:xfrm>
          <a:prstGeom prst="roundRect">
            <a:avLst>
              <a:gd name="adj" fmla="val 12500"/>
            </a:avLst>
          </a:prstGeom>
          <a:solidFill>
            <a:schemeClr val="bg1"/>
          </a:solidFill>
          <a:ln w="9525">
            <a:solidFill>
              <a:schemeClr val="accent6"/>
            </a:solidFill>
            <a:prstDash val="solid"/>
          </a:ln>
        </p:spPr>
      </p:sp>
      <p:sp>
        <p:nvSpPr>
          <p:cNvPr id="15" name="texto-230"/>
          <p:cNvSpPr txBox="1"/>
          <p:nvPr/>
        </p:nvSpPr>
        <p:spPr>
          <a:xfrm>
            <a:off x="3813048" y="4462272"/>
            <a:ext cx="2569464" cy="27432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pagina_graficos.html</a:t>
            </a:r>
            <a:endParaRPr lang="en-US" sz="1300" dirty="0"/>
          </a:p>
        </p:txBody>
      </p:sp>
      <p:sp>
        <p:nvSpPr>
          <p:cNvPr id="16" name="texto-231"/>
          <p:cNvSpPr txBox="1"/>
          <p:nvPr/>
        </p:nvSpPr>
        <p:spPr>
          <a:xfrm>
            <a:off x="3813048" y="4773168"/>
            <a:ext cx="2569464" cy="256032"/>
          </a:xfrm>
          <a:prstGeom prst="rect">
            <a:avLst/>
          </a:prstGeom>
          <a:noFill/>
          <a:ln/>
        </p:spPr>
        <p:txBody>
          <a:bodyPr wrap="square" lIns="0" tIns="0" rIns="0" bIns="0" rtlCol="0" anchor="t"/>
          <a:lstStyle/>
          <a:p>
            <a:pPr indent="0" marL="0">
              <a:buNone/>
            </a:pPr>
            <a:r>
              <a:rPr lang="en-US" sz="1300" dirty="0">
                <a:solidFill>
                  <a:schemeClr val="accent5"/>
                </a:solidFill>
              </a:rPr>
              <a:t>elegir gráfico</a:t>
            </a:r>
            <a:endParaRPr lang="en-US" sz="1300" dirty="0"/>
          </a:p>
        </p:txBody>
      </p:sp>
      <p:sp>
        <p:nvSpPr>
          <p:cNvPr id="17" name="tarjeta-232"/>
          <p:cNvSpPr/>
          <p:nvPr/>
        </p:nvSpPr>
        <p:spPr>
          <a:xfrm>
            <a:off x="777240" y="5239512"/>
            <a:ext cx="1813560" cy="731520"/>
          </a:xfrm>
          <a:prstGeom prst="roundRect">
            <a:avLst>
              <a:gd name="adj" fmla="val 12500"/>
            </a:avLst>
          </a:prstGeom>
          <a:solidFill>
            <a:schemeClr val="bg1"/>
          </a:solidFill>
          <a:ln w="9525">
            <a:solidFill>
              <a:schemeClr val="accent6"/>
            </a:solidFill>
            <a:prstDash val="solid"/>
          </a:ln>
        </p:spPr>
      </p:sp>
      <p:sp>
        <p:nvSpPr>
          <p:cNvPr id="18" name="texto-233"/>
          <p:cNvSpPr txBox="1"/>
          <p:nvPr/>
        </p:nvSpPr>
        <p:spPr>
          <a:xfrm>
            <a:off x="886968" y="5330952"/>
            <a:ext cx="1594104" cy="27432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index.html</a:t>
            </a:r>
            <a:endParaRPr lang="en-US" sz="1300" dirty="0"/>
          </a:p>
        </p:txBody>
      </p:sp>
      <p:sp>
        <p:nvSpPr>
          <p:cNvPr id="19" name="texto-234"/>
          <p:cNvSpPr txBox="1"/>
          <p:nvPr/>
        </p:nvSpPr>
        <p:spPr>
          <a:xfrm>
            <a:off x="886968" y="5641848"/>
            <a:ext cx="1594104" cy="256032"/>
          </a:xfrm>
          <a:prstGeom prst="rect">
            <a:avLst/>
          </a:prstGeom>
          <a:noFill/>
          <a:ln/>
        </p:spPr>
        <p:txBody>
          <a:bodyPr wrap="square" lIns="0" tIns="0" rIns="0" bIns="0" rtlCol="0" anchor="t"/>
          <a:lstStyle/>
          <a:p>
            <a:pPr indent="0" marL="0">
              <a:buNone/>
            </a:pPr>
            <a:r>
              <a:rPr lang="en-US" sz="1300" dirty="0">
                <a:solidFill>
                  <a:schemeClr val="accent5"/>
                </a:solidFill>
              </a:rPr>
              <a:t>inicio</a:t>
            </a:r>
            <a:endParaRPr lang="en-US" sz="1300" dirty="0"/>
          </a:p>
        </p:txBody>
      </p:sp>
      <p:sp>
        <p:nvSpPr>
          <p:cNvPr id="20" name="tarjeta-235"/>
          <p:cNvSpPr/>
          <p:nvPr/>
        </p:nvSpPr>
        <p:spPr>
          <a:xfrm>
            <a:off x="2727960" y="5239512"/>
            <a:ext cx="1813560" cy="731520"/>
          </a:xfrm>
          <a:prstGeom prst="roundRect">
            <a:avLst>
              <a:gd name="adj" fmla="val 12500"/>
            </a:avLst>
          </a:prstGeom>
          <a:solidFill>
            <a:schemeClr val="bg1"/>
          </a:solidFill>
          <a:ln w="9525">
            <a:solidFill>
              <a:schemeClr val="accent6"/>
            </a:solidFill>
            <a:prstDash val="solid"/>
          </a:ln>
        </p:spPr>
      </p:sp>
      <p:sp>
        <p:nvSpPr>
          <p:cNvPr id="21" name="texto-236"/>
          <p:cNvSpPr txBox="1"/>
          <p:nvPr/>
        </p:nvSpPr>
        <p:spPr>
          <a:xfrm>
            <a:off x="2837688" y="5330952"/>
            <a:ext cx="1594104" cy="27432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listado.html</a:t>
            </a:r>
            <a:endParaRPr lang="en-US" sz="1300" dirty="0"/>
          </a:p>
        </p:txBody>
      </p:sp>
      <p:sp>
        <p:nvSpPr>
          <p:cNvPr id="22" name="texto-237"/>
          <p:cNvSpPr txBox="1"/>
          <p:nvPr/>
        </p:nvSpPr>
        <p:spPr>
          <a:xfrm>
            <a:off x="2837688" y="5641848"/>
            <a:ext cx="1594104" cy="256032"/>
          </a:xfrm>
          <a:prstGeom prst="rect">
            <a:avLst/>
          </a:prstGeom>
          <a:noFill/>
          <a:ln/>
        </p:spPr>
        <p:txBody>
          <a:bodyPr wrap="square" lIns="0" tIns="0" rIns="0" bIns="0" rtlCol="0" anchor="t"/>
          <a:lstStyle/>
          <a:p>
            <a:pPr indent="0" marL="0">
              <a:buNone/>
            </a:pPr>
            <a:r>
              <a:rPr lang="en-US" sz="1300" dirty="0">
                <a:solidFill>
                  <a:schemeClr val="accent5"/>
                </a:solidFill>
              </a:rPr>
              <a:t>las 3 tablas</a:t>
            </a:r>
            <a:endParaRPr lang="en-US" sz="1300" dirty="0"/>
          </a:p>
        </p:txBody>
      </p:sp>
      <p:sp>
        <p:nvSpPr>
          <p:cNvPr id="23" name="tarjeta-238"/>
          <p:cNvSpPr/>
          <p:nvPr/>
        </p:nvSpPr>
        <p:spPr>
          <a:xfrm>
            <a:off x="4678680" y="5239512"/>
            <a:ext cx="1813560" cy="731520"/>
          </a:xfrm>
          <a:prstGeom prst="roundRect">
            <a:avLst>
              <a:gd name="adj" fmla="val 12500"/>
            </a:avLst>
          </a:prstGeom>
          <a:solidFill>
            <a:schemeClr val="bg1"/>
          </a:solidFill>
          <a:ln w="9525">
            <a:solidFill>
              <a:schemeClr val="accent6"/>
            </a:solidFill>
            <a:prstDash val="solid"/>
          </a:ln>
        </p:spPr>
      </p:sp>
      <p:sp>
        <p:nvSpPr>
          <p:cNvPr id="24" name="texto-239"/>
          <p:cNvSpPr txBox="1"/>
          <p:nvPr/>
        </p:nvSpPr>
        <p:spPr>
          <a:xfrm>
            <a:off x="4788408" y="5330952"/>
            <a:ext cx="1594104" cy="27432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grafico.html</a:t>
            </a:r>
            <a:endParaRPr lang="en-US" sz="1300" dirty="0"/>
          </a:p>
        </p:txBody>
      </p:sp>
      <p:sp>
        <p:nvSpPr>
          <p:cNvPr id="25" name="texto-240"/>
          <p:cNvSpPr txBox="1"/>
          <p:nvPr/>
        </p:nvSpPr>
        <p:spPr>
          <a:xfrm>
            <a:off x="4788408" y="5641848"/>
            <a:ext cx="1594104" cy="256032"/>
          </a:xfrm>
          <a:prstGeom prst="rect">
            <a:avLst/>
          </a:prstGeom>
          <a:noFill/>
          <a:ln/>
        </p:spPr>
        <p:txBody>
          <a:bodyPr wrap="square" lIns="0" tIns="0" rIns="0" bIns="0" rtlCol="0" anchor="t"/>
          <a:lstStyle/>
          <a:p>
            <a:pPr indent="0" marL="0">
              <a:buNone/>
            </a:pPr>
            <a:r>
              <a:rPr lang="en-US" sz="1300" dirty="0">
                <a:solidFill>
                  <a:schemeClr val="accent5"/>
                </a:solidFill>
              </a:rPr>
              <a:t>los 3 gráficos</a:t>
            </a:r>
            <a:endParaRPr lang="en-US" sz="1300" dirty="0"/>
          </a:p>
        </p:txBody>
      </p:sp>
      <p:sp>
        <p:nvSpPr>
          <p:cNvPr id="26" name="navegador-241"/>
          <p:cNvSpPr/>
          <p:nvPr/>
        </p:nvSpPr>
        <p:spPr>
          <a:xfrm>
            <a:off x="7132320" y="1691640"/>
            <a:ext cx="4510735" cy="3047036"/>
          </a:xfrm>
          <a:prstGeom prst="roundRect">
            <a:avLst>
              <a:gd name="adj" fmla="val 2401"/>
            </a:avLst>
          </a:prstGeom>
          <a:solidFill>
            <a:srgbClr val="E2E9E5"/>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27" name="punto-242"/>
          <p:cNvSpPr/>
          <p:nvPr/>
        </p:nvSpPr>
        <p:spPr>
          <a:xfrm>
            <a:off x="7269480" y="1805940"/>
            <a:ext cx="100584" cy="100584"/>
          </a:xfrm>
          <a:prstGeom prst="ellipse">
            <a:avLst/>
          </a:prstGeom>
          <a:solidFill>
            <a:srgbClr val="E06C5F"/>
          </a:solidFill>
          <a:ln/>
        </p:spPr>
      </p:sp>
      <p:sp>
        <p:nvSpPr>
          <p:cNvPr id="28" name="punto-243"/>
          <p:cNvSpPr/>
          <p:nvPr/>
        </p:nvSpPr>
        <p:spPr>
          <a:xfrm>
            <a:off x="7424928" y="1805940"/>
            <a:ext cx="100584" cy="100584"/>
          </a:xfrm>
          <a:prstGeom prst="ellipse">
            <a:avLst/>
          </a:prstGeom>
          <a:solidFill>
            <a:srgbClr val="E9B949"/>
          </a:solidFill>
          <a:ln/>
        </p:spPr>
      </p:sp>
      <p:sp>
        <p:nvSpPr>
          <p:cNvPr id="29" name="punto-244"/>
          <p:cNvSpPr/>
          <p:nvPr/>
        </p:nvSpPr>
        <p:spPr>
          <a:xfrm>
            <a:off x="7580376" y="1805940"/>
            <a:ext cx="100584" cy="100584"/>
          </a:xfrm>
          <a:prstGeom prst="ellipse">
            <a:avLst/>
          </a:prstGeom>
          <a:solidFill>
            <a:srgbClr val="5DB872"/>
          </a:solidFill>
          <a:ln/>
        </p:spPr>
      </p:sp>
      <p:sp>
        <p:nvSpPr>
          <p:cNvPr id="30" name="url-245"/>
          <p:cNvSpPr/>
          <p:nvPr/>
        </p:nvSpPr>
        <p:spPr>
          <a:xfrm>
            <a:off x="7790688" y="1755648"/>
            <a:ext cx="3687775"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chemeClr val="accent5"/>
                </a:solidFill>
              </a:rPr>
              <a:t>menú lateral (offcanvas)</a:t>
            </a:r>
            <a:endParaRPr lang="en-US" sz="1000" dirty="0"/>
          </a:p>
        </p:txBody>
      </p:sp>
      <p:pic>
        <p:nvPicPr>
          <p:cNvPr id="31" name="captura-246" descr="/private/tmp/claude-501/-Users-pablovaldiviamonzon-Desktop-cert-menes/6974cfb1-314e-48ac-991e-539c4c5dc99b/scratchpad/img/menu_graficos_zoom.jpg">    </p:cNvPr>
          <p:cNvPicPr>
            <a:picLocks noChangeAspect="1"/>
          </p:cNvPicPr>
          <p:nvPr/>
        </p:nvPicPr>
        <p:blipFill>
          <a:blip r:embed="rId1"/>
          <a:stretch>
            <a:fillRect/>
          </a:stretch>
        </p:blipFill>
        <p:spPr>
          <a:xfrm>
            <a:off x="7178040" y="2020824"/>
            <a:ext cx="4419295" cy="2672132"/>
          </a:xfrm>
          <a:prstGeom prst="rect">
            <a:avLst/>
          </a:prstGeom>
        </p:spPr>
      </p:pic>
      <p:sp>
        <p:nvSpPr>
          <p:cNvPr id="32" name="texto-247"/>
          <p:cNvSpPr txBox="1"/>
          <p:nvPr/>
        </p:nvSpPr>
        <p:spPr>
          <a:xfrm>
            <a:off x="7132320" y="4921556"/>
            <a:ext cx="4510735" cy="822960"/>
          </a:xfrm>
          <a:prstGeom prst="rect">
            <a:avLst/>
          </a:prstGeom>
          <a:noFill/>
          <a:ln/>
        </p:spPr>
        <p:txBody>
          <a:bodyPr wrap="square" lIns="0" tIns="0" rIns="0" bIns="0" rtlCol="0" anchor="t"/>
          <a:lstStyle/>
          <a:p>
            <a:pPr indent="0" marL="0">
              <a:buNone/>
            </a:pPr>
            <a:r>
              <a:rPr lang="en-US" sz="1400" dirty="0">
                <a:solidFill>
                  <a:schemeClr val="accent5"/>
                </a:solidFill>
              </a:rPr>
              <a:t>menu.html dentro de base.html: el mismo menú en todas las páginas, con la sección Gráficos abierta.</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Cómo funciona Django en el proyecto</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Lo que pasa cuando alguien hace clic en un gráfico · proyecto universidad, aplicación alumnos, Django 5.1</a:t>
            </a:r>
            <a:endParaRPr lang="en-US" sz="1600" dirty="0"/>
          </a:p>
        </p:txBody>
      </p:sp>
      <p:sp>
        <p:nvSpPr>
          <p:cNvPr id="4" name="linea-248"/>
          <p:cNvSpPr/>
          <p:nvPr/>
        </p:nvSpPr>
        <p:spPr>
          <a:xfrm>
            <a:off x="777240" y="2057400"/>
            <a:ext cx="0" cy="3547872"/>
          </a:xfrm>
          <a:prstGeom prst="line">
            <a:avLst/>
          </a:prstGeom>
          <a:noFill/>
          <a:ln w="25400">
            <a:solidFill>
              <a:schemeClr val="accent6"/>
            </a:solidFill>
            <a:prstDash val="solid"/>
          </a:ln>
        </p:spPr>
      </p:sp>
      <p:sp>
        <p:nvSpPr>
          <p:cNvPr id="5" name="numero-249"/>
          <p:cNvSpPr/>
          <p:nvPr/>
        </p:nvSpPr>
        <p:spPr>
          <a:xfrm>
            <a:off x="548640" y="1837944"/>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o-250"/>
          <p:cNvSpPr txBox="1"/>
          <p:nvPr/>
        </p:nvSpPr>
        <p:spPr>
          <a:xfrm>
            <a:off x="1234440" y="1874520"/>
            <a:ext cx="1554480" cy="365760"/>
          </a:xfrm>
          <a:prstGeom prst="rect">
            <a:avLst/>
          </a:prstGeom>
          <a:noFill/>
          <a:ln/>
        </p:spPr>
        <p:txBody>
          <a:bodyPr wrap="square" lIns="0" tIns="0" rIns="0" bIns="0" rtlCol="0" anchor="t"/>
          <a:lstStyle/>
          <a:p>
            <a:pPr indent="0" marL="0">
              <a:buNone/>
            </a:pPr>
            <a:r>
              <a:rPr lang="en-US" sz="1800" b="1" dirty="0">
                <a:solidFill>
                  <a:schemeClr val="tx2"/>
                </a:solidFill>
              </a:rPr>
              <a:t>Navegador</a:t>
            </a:r>
            <a:endParaRPr lang="en-US" sz="1800" dirty="0"/>
          </a:p>
        </p:txBody>
      </p:sp>
      <p:sp>
        <p:nvSpPr>
          <p:cNvPr id="7" name="codigo-251"/>
          <p:cNvSpPr/>
          <p:nvPr/>
        </p:nvSpPr>
        <p:spPr>
          <a:xfrm>
            <a:off x="2788920" y="1819656"/>
            <a:ext cx="4069080" cy="493776"/>
          </a:xfrm>
          <a:prstGeom prst="roundRect">
            <a:avLst>
              <a:gd name="adj" fmla="val 11111"/>
            </a:avLst>
          </a:prstGeom>
          <a:solidFill>
            <a:schemeClr val="bg2"/>
          </a:solidFill>
          <a:ln/>
        </p:spPr>
        <p:txBody>
          <a:bodyPr wrap="square" lIns="127000" tIns="0" rIns="127000" bIns="0" rtlCol="0" anchor="ctr"/>
          <a:lstStyle/>
          <a:p>
            <a:pPr indent="0" marL="0">
              <a:buNone/>
            </a:pPr>
            <a:r>
              <a:rPr lang="en-US" sz="1300" dirty="0">
                <a:solidFill>
                  <a:schemeClr val="tx2"/>
                </a:solidFill>
                <a:latin typeface="Courier New" pitchFamily="34" charset="0"/>
                <a:ea typeface="Courier New" pitchFamily="34" charset="-122"/>
                <a:cs typeface="Courier New" pitchFamily="34" charset="-120"/>
              </a:rPr>
              <a:t>/alumnos/graficos/barras-csv/</a:t>
            </a:r>
            <a:endParaRPr lang="en-US" sz="1300" dirty="0"/>
          </a:p>
        </p:txBody>
      </p:sp>
      <p:sp>
        <p:nvSpPr>
          <p:cNvPr id="8" name="texto-252"/>
          <p:cNvSpPr txBox="1"/>
          <p:nvPr/>
        </p:nvSpPr>
        <p:spPr>
          <a:xfrm>
            <a:off x="7132320" y="1892808"/>
            <a:ext cx="4510735" cy="365760"/>
          </a:xfrm>
          <a:prstGeom prst="rect">
            <a:avLst/>
          </a:prstGeom>
          <a:noFill/>
          <a:ln/>
        </p:spPr>
        <p:txBody>
          <a:bodyPr wrap="square" lIns="0" tIns="0" rIns="0" bIns="0" rtlCol="0" anchor="t"/>
          <a:lstStyle/>
          <a:p>
            <a:pPr indent="0" marL="0">
              <a:buNone/>
            </a:pPr>
            <a:r>
              <a:rPr lang="en-US" sz="1600" dirty="0">
                <a:solidFill>
                  <a:schemeClr val="tx1"/>
                </a:solidFill>
              </a:rPr>
              <a:t>El usuario hace clic y el navegador pide la dirección.</a:t>
            </a:r>
            <a:endParaRPr lang="en-US" sz="1600" dirty="0"/>
          </a:p>
        </p:txBody>
      </p:sp>
      <p:sp>
        <p:nvSpPr>
          <p:cNvPr id="9" name="numero-253"/>
          <p:cNvSpPr/>
          <p:nvPr/>
        </p:nvSpPr>
        <p:spPr>
          <a:xfrm>
            <a:off x="548640" y="272491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o-254"/>
          <p:cNvSpPr txBox="1"/>
          <p:nvPr/>
        </p:nvSpPr>
        <p:spPr>
          <a:xfrm>
            <a:off x="1234440" y="2761488"/>
            <a:ext cx="1554480" cy="365760"/>
          </a:xfrm>
          <a:prstGeom prst="rect">
            <a:avLst/>
          </a:prstGeom>
          <a:noFill/>
          <a:ln/>
        </p:spPr>
        <p:txBody>
          <a:bodyPr wrap="square" lIns="0" tIns="0" rIns="0" bIns="0" rtlCol="0" anchor="t"/>
          <a:lstStyle/>
          <a:p>
            <a:pPr indent="0" marL="0">
              <a:buNone/>
            </a:pPr>
            <a:r>
              <a:rPr lang="en-US" sz="1800" b="1" dirty="0">
                <a:solidFill>
                  <a:schemeClr val="tx2"/>
                </a:solidFill>
              </a:rPr>
              <a:t>urls.py</a:t>
            </a:r>
            <a:endParaRPr lang="en-US" sz="1800" dirty="0"/>
          </a:p>
        </p:txBody>
      </p:sp>
      <p:sp>
        <p:nvSpPr>
          <p:cNvPr id="11" name="codigo-255"/>
          <p:cNvSpPr/>
          <p:nvPr/>
        </p:nvSpPr>
        <p:spPr>
          <a:xfrm>
            <a:off x="2788920" y="2706624"/>
            <a:ext cx="4069080" cy="493776"/>
          </a:xfrm>
          <a:prstGeom prst="roundRect">
            <a:avLst>
              <a:gd name="adj" fmla="val 11111"/>
            </a:avLst>
          </a:prstGeom>
          <a:solidFill>
            <a:schemeClr val="bg2"/>
          </a:solidFill>
          <a:ln/>
        </p:spPr>
        <p:txBody>
          <a:bodyPr wrap="square" lIns="127000" tIns="0" rIns="127000" bIns="0" rtlCol="0" anchor="ctr"/>
          <a:lstStyle/>
          <a:p>
            <a:pPr indent="0" marL="0">
              <a:buNone/>
            </a:pPr>
            <a:r>
              <a:rPr lang="en-US" sz="1300" dirty="0">
                <a:solidFill>
                  <a:schemeClr val="tx2"/>
                </a:solidFill>
                <a:latin typeface="Courier New" pitchFamily="34" charset="0"/>
                <a:ea typeface="Courier New" pitchFamily="34" charset="-122"/>
                <a:cs typeface="Courier New" pitchFamily="34" charset="-120"/>
              </a:rPr>
              <a:t>path(…, views.graficoBarras)</a:t>
            </a:r>
            <a:endParaRPr lang="en-US" sz="1300" dirty="0"/>
          </a:p>
        </p:txBody>
      </p:sp>
      <p:sp>
        <p:nvSpPr>
          <p:cNvPr id="12" name="texto-256"/>
          <p:cNvSpPr txBox="1"/>
          <p:nvPr/>
        </p:nvSpPr>
        <p:spPr>
          <a:xfrm>
            <a:off x="7132320" y="2779776"/>
            <a:ext cx="4510735" cy="365760"/>
          </a:xfrm>
          <a:prstGeom prst="rect">
            <a:avLst/>
          </a:prstGeom>
          <a:noFill/>
          <a:ln/>
        </p:spPr>
        <p:txBody>
          <a:bodyPr wrap="square" lIns="0" tIns="0" rIns="0" bIns="0" rtlCol="0" anchor="t"/>
          <a:lstStyle/>
          <a:p>
            <a:pPr indent="0" marL="0">
              <a:buNone/>
            </a:pPr>
            <a:r>
              <a:rPr lang="en-US" sz="1600" dirty="0">
                <a:solidFill>
                  <a:schemeClr val="tx1"/>
                </a:solidFill>
              </a:rPr>
              <a:t>Busca la ruta y decide qué vista se ejecuta.</a:t>
            </a:r>
            <a:endParaRPr lang="en-US" sz="1600" dirty="0"/>
          </a:p>
        </p:txBody>
      </p:sp>
      <p:sp>
        <p:nvSpPr>
          <p:cNvPr id="13" name="numero-257"/>
          <p:cNvSpPr/>
          <p:nvPr/>
        </p:nvSpPr>
        <p:spPr>
          <a:xfrm>
            <a:off x="548640" y="36118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o-258"/>
          <p:cNvSpPr txBox="1"/>
          <p:nvPr/>
        </p:nvSpPr>
        <p:spPr>
          <a:xfrm>
            <a:off x="1234440" y="3648456"/>
            <a:ext cx="1554480" cy="365760"/>
          </a:xfrm>
          <a:prstGeom prst="rect">
            <a:avLst/>
          </a:prstGeom>
          <a:noFill/>
          <a:ln/>
        </p:spPr>
        <p:txBody>
          <a:bodyPr wrap="square" lIns="0" tIns="0" rIns="0" bIns="0" rtlCol="0" anchor="t"/>
          <a:lstStyle/>
          <a:p>
            <a:pPr indent="0" marL="0">
              <a:buNone/>
            </a:pPr>
            <a:r>
              <a:rPr lang="en-US" sz="1800" b="1" dirty="0">
                <a:solidFill>
                  <a:schemeClr val="tx2"/>
                </a:solidFill>
              </a:rPr>
              <a:t>views.py</a:t>
            </a:r>
            <a:endParaRPr lang="en-US" sz="1800" dirty="0"/>
          </a:p>
        </p:txBody>
      </p:sp>
      <p:sp>
        <p:nvSpPr>
          <p:cNvPr id="15" name="codigo-259"/>
          <p:cNvSpPr/>
          <p:nvPr/>
        </p:nvSpPr>
        <p:spPr>
          <a:xfrm>
            <a:off x="2788920" y="3593592"/>
            <a:ext cx="4069080" cy="493776"/>
          </a:xfrm>
          <a:prstGeom prst="roundRect">
            <a:avLst>
              <a:gd name="adj" fmla="val 11111"/>
            </a:avLst>
          </a:prstGeom>
          <a:solidFill>
            <a:schemeClr val="bg2"/>
          </a:solidFill>
          <a:ln/>
        </p:spPr>
        <p:txBody>
          <a:bodyPr wrap="square" lIns="127000" tIns="0" rIns="127000" bIns="0" rtlCol="0" anchor="ctr"/>
          <a:lstStyle/>
          <a:p>
            <a:pPr indent="0" marL="0">
              <a:buNone/>
            </a:pPr>
            <a:r>
              <a:rPr lang="en-US" sz="1300" dirty="0">
                <a:solidFill>
                  <a:schemeClr val="tx2"/>
                </a:solidFill>
                <a:latin typeface="Courier New" pitchFamily="34" charset="0"/>
                <a:ea typeface="Courier New" pitchFamily="34" charset="-122"/>
                <a:cs typeface="Courier New" pitchFamily="34" charset="-120"/>
              </a:rPr>
              <a:t>leer_csv()  ·  Counter(…)</a:t>
            </a:r>
            <a:endParaRPr lang="en-US" sz="1300" dirty="0"/>
          </a:p>
        </p:txBody>
      </p:sp>
      <p:sp>
        <p:nvSpPr>
          <p:cNvPr id="16" name="texto-260"/>
          <p:cNvSpPr txBox="1"/>
          <p:nvPr/>
        </p:nvSpPr>
        <p:spPr>
          <a:xfrm>
            <a:off x="7132320" y="3666744"/>
            <a:ext cx="4510735" cy="365760"/>
          </a:xfrm>
          <a:prstGeom prst="rect">
            <a:avLst/>
          </a:prstGeom>
          <a:noFill/>
          <a:ln/>
        </p:spPr>
        <p:txBody>
          <a:bodyPr wrap="square" lIns="0" tIns="0" rIns="0" bIns="0" rtlCol="0" anchor="t"/>
          <a:lstStyle/>
          <a:p>
            <a:pPr indent="0" marL="0">
              <a:buNone/>
            </a:pPr>
            <a:r>
              <a:rPr lang="en-US" sz="1600" dirty="0">
                <a:solidFill>
                  <a:schemeClr val="tx1"/>
                </a:solidFill>
              </a:rPr>
              <a:t>La vista lee datos.csv y calcula en Python.</a:t>
            </a:r>
            <a:endParaRPr lang="en-US" sz="1600" dirty="0"/>
          </a:p>
        </p:txBody>
      </p:sp>
      <p:sp>
        <p:nvSpPr>
          <p:cNvPr id="17" name="numero-261"/>
          <p:cNvSpPr/>
          <p:nvPr/>
        </p:nvSpPr>
        <p:spPr>
          <a:xfrm>
            <a:off x="548640" y="449884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o-262"/>
          <p:cNvSpPr txBox="1"/>
          <p:nvPr/>
        </p:nvSpPr>
        <p:spPr>
          <a:xfrm>
            <a:off x="1234440" y="4535424"/>
            <a:ext cx="1554480" cy="365760"/>
          </a:xfrm>
          <a:prstGeom prst="rect">
            <a:avLst/>
          </a:prstGeom>
          <a:noFill/>
          <a:ln/>
        </p:spPr>
        <p:txBody>
          <a:bodyPr wrap="square" lIns="0" tIns="0" rIns="0" bIns="0" rtlCol="0" anchor="t"/>
          <a:lstStyle/>
          <a:p>
            <a:pPr indent="0" marL="0">
              <a:buNone/>
            </a:pPr>
            <a:r>
              <a:rPr lang="en-US" sz="1800" b="1" dirty="0">
                <a:solidFill>
                  <a:schemeClr val="tx2"/>
                </a:solidFill>
              </a:rPr>
              <a:t>render</a:t>
            </a:r>
            <a:endParaRPr lang="en-US" sz="1800" dirty="0"/>
          </a:p>
        </p:txBody>
      </p:sp>
      <p:sp>
        <p:nvSpPr>
          <p:cNvPr id="19" name="codigo-263"/>
          <p:cNvSpPr/>
          <p:nvPr/>
        </p:nvSpPr>
        <p:spPr>
          <a:xfrm>
            <a:off x="2788920" y="4480560"/>
            <a:ext cx="4069080" cy="493776"/>
          </a:xfrm>
          <a:prstGeom prst="roundRect">
            <a:avLst>
              <a:gd name="adj" fmla="val 11111"/>
            </a:avLst>
          </a:prstGeom>
          <a:solidFill>
            <a:schemeClr val="bg2"/>
          </a:solidFill>
          <a:ln/>
        </p:spPr>
        <p:txBody>
          <a:bodyPr wrap="square" lIns="127000" tIns="0" rIns="127000" bIns="0" rtlCol="0" anchor="ctr"/>
          <a:lstStyle/>
          <a:p>
            <a:pPr indent="0" marL="0">
              <a:buNone/>
            </a:pPr>
            <a:r>
              <a:rPr lang="en-US" sz="1300" dirty="0">
                <a:solidFill>
                  <a:schemeClr val="tx2"/>
                </a:solidFill>
                <a:latin typeface="Courier New" pitchFamily="34" charset="0"/>
                <a:ea typeface="Courier New" pitchFamily="34" charset="-122"/>
                <a:cs typeface="Courier New" pitchFamily="34" charset="-120"/>
              </a:rPr>
              <a:t>render(…, "grafico.html", contexto)</a:t>
            </a:r>
            <a:endParaRPr lang="en-US" sz="1300" dirty="0"/>
          </a:p>
        </p:txBody>
      </p:sp>
      <p:sp>
        <p:nvSpPr>
          <p:cNvPr id="20" name="texto-264"/>
          <p:cNvSpPr txBox="1"/>
          <p:nvPr/>
        </p:nvSpPr>
        <p:spPr>
          <a:xfrm>
            <a:off x="7132320" y="4553712"/>
            <a:ext cx="4510735" cy="365760"/>
          </a:xfrm>
          <a:prstGeom prst="rect">
            <a:avLst/>
          </a:prstGeom>
          <a:noFill/>
          <a:ln/>
        </p:spPr>
        <p:txBody>
          <a:bodyPr wrap="square" lIns="0" tIns="0" rIns="0" bIns="0" rtlCol="0" anchor="t"/>
          <a:lstStyle/>
          <a:p>
            <a:pPr indent="0" marL="0">
              <a:buNone/>
            </a:pPr>
            <a:r>
              <a:rPr lang="en-US" sz="1600" dirty="0">
                <a:solidFill>
                  <a:schemeClr val="tx1"/>
                </a:solidFill>
              </a:rPr>
              <a:t>Le entrega los resultados a la plantilla.</a:t>
            </a:r>
            <a:endParaRPr lang="en-US" sz="1600" dirty="0"/>
          </a:p>
        </p:txBody>
      </p:sp>
      <p:sp>
        <p:nvSpPr>
          <p:cNvPr id="21" name="numero-265"/>
          <p:cNvSpPr/>
          <p:nvPr/>
        </p:nvSpPr>
        <p:spPr>
          <a:xfrm>
            <a:off x="548640" y="5385816"/>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o-266"/>
          <p:cNvSpPr txBox="1"/>
          <p:nvPr/>
        </p:nvSpPr>
        <p:spPr>
          <a:xfrm>
            <a:off x="1234440" y="5422392"/>
            <a:ext cx="1554480" cy="365760"/>
          </a:xfrm>
          <a:prstGeom prst="rect">
            <a:avLst/>
          </a:prstGeom>
          <a:noFill/>
          <a:ln/>
        </p:spPr>
        <p:txBody>
          <a:bodyPr wrap="square" lIns="0" tIns="0" rIns="0" bIns="0" rtlCol="0" anchor="t"/>
          <a:lstStyle/>
          <a:p>
            <a:pPr indent="0" marL="0">
              <a:buNone/>
            </a:pPr>
            <a:r>
              <a:rPr lang="en-US" sz="1800" b="1" dirty="0">
                <a:solidFill>
                  <a:schemeClr val="tx2"/>
                </a:solidFill>
              </a:rPr>
              <a:t>Chart.js</a:t>
            </a:r>
            <a:endParaRPr lang="en-US" sz="1800" dirty="0"/>
          </a:p>
        </p:txBody>
      </p:sp>
      <p:sp>
        <p:nvSpPr>
          <p:cNvPr id="23" name="codigo-267"/>
          <p:cNvSpPr/>
          <p:nvPr/>
        </p:nvSpPr>
        <p:spPr>
          <a:xfrm>
            <a:off x="2788920" y="5367528"/>
            <a:ext cx="4069080" cy="493776"/>
          </a:xfrm>
          <a:prstGeom prst="roundRect">
            <a:avLst>
              <a:gd name="adj" fmla="val 11111"/>
            </a:avLst>
          </a:prstGeom>
          <a:solidFill>
            <a:schemeClr val="bg2"/>
          </a:solidFill>
          <a:ln/>
        </p:spPr>
        <p:txBody>
          <a:bodyPr wrap="square" lIns="127000" tIns="0" rIns="127000" bIns="0" rtlCol="0" anchor="ctr"/>
          <a:lstStyle/>
          <a:p>
            <a:pPr indent="0" marL="0">
              <a:buNone/>
            </a:pPr>
            <a:r>
              <a:rPr lang="en-US" sz="1300" dirty="0">
                <a:solidFill>
                  <a:schemeClr val="tx2"/>
                </a:solidFill>
                <a:latin typeface="Courier New" pitchFamily="34" charset="0"/>
                <a:ea typeface="Courier New" pitchFamily="34" charset="-122"/>
                <a:cs typeface="Courier New" pitchFamily="34" charset="-120"/>
              </a:rPr>
              <a:t>new Chart(canvas, configuracion)</a:t>
            </a:r>
            <a:endParaRPr lang="en-US" sz="1300" dirty="0"/>
          </a:p>
        </p:txBody>
      </p:sp>
      <p:sp>
        <p:nvSpPr>
          <p:cNvPr id="24" name="texto-268"/>
          <p:cNvSpPr txBox="1"/>
          <p:nvPr/>
        </p:nvSpPr>
        <p:spPr>
          <a:xfrm>
            <a:off x="7132320" y="5440680"/>
            <a:ext cx="4510735" cy="365760"/>
          </a:xfrm>
          <a:prstGeom prst="rect">
            <a:avLst/>
          </a:prstGeom>
          <a:noFill/>
          <a:ln/>
        </p:spPr>
        <p:txBody>
          <a:bodyPr wrap="square" lIns="0" tIns="0" rIns="0" bIns="0" rtlCol="0" anchor="t"/>
          <a:lstStyle/>
          <a:p>
            <a:pPr indent="0" marL="0">
              <a:buNone/>
            </a:pPr>
            <a:r>
              <a:rPr lang="en-US" sz="1600" dirty="0">
                <a:solidFill>
                  <a:schemeClr val="tx1"/>
                </a:solidFill>
              </a:rPr>
              <a:t>Dibuja el gráfico en el navegador.</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Gráficos dinámicos con datos desde el backend</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La vista arma la configuración del gráfico; la plantilla solo la dibuja</a:t>
            </a:r>
            <a:endParaRPr lang="en-US" sz="1600" dirty="0"/>
          </a:p>
        </p:txBody>
      </p:sp>
      <p:sp>
        <p:nvSpPr>
          <p:cNvPr id="4" name="texto-269"/>
          <p:cNvSpPr txBox="1"/>
          <p:nvPr/>
        </p:nvSpPr>
        <p:spPr>
          <a:xfrm>
            <a:off x="548640" y="1645920"/>
            <a:ext cx="3657600" cy="274320"/>
          </a:xfrm>
          <a:prstGeom prst="rect">
            <a:avLst/>
          </a:prstGeom>
          <a:noFill/>
          <a:ln/>
        </p:spPr>
        <p:txBody>
          <a:bodyPr wrap="square" lIns="0" tIns="0" rIns="0" bIns="0" rtlCol="0" anchor="t"/>
          <a:lstStyle/>
          <a:p>
            <a:pPr indent="0" marL="0">
              <a:buNone/>
            </a:pPr>
            <a:r>
              <a:rPr lang="en-US" sz="1300" b="1" dirty="0">
                <a:solidFill>
                  <a:schemeClr val="accent5"/>
                </a:solidFill>
              </a:rPr>
              <a:t>views.py  (resumido)</a:t>
            </a:r>
            <a:endParaRPr lang="en-US" sz="1300" dirty="0"/>
          </a:p>
        </p:txBody>
      </p:sp>
      <p:sp>
        <p:nvSpPr>
          <p:cNvPr id="5" name="tarjeta-270"/>
          <p:cNvSpPr/>
          <p:nvPr/>
        </p:nvSpPr>
        <p:spPr>
          <a:xfrm>
            <a:off x="548640" y="1938528"/>
            <a:ext cx="5806440" cy="2450592"/>
          </a:xfrm>
          <a:prstGeom prst="roundRect">
            <a:avLst>
              <a:gd name="adj" fmla="val 3731"/>
            </a:avLst>
          </a:prstGeom>
          <a:solidFill>
            <a:srgbClr val="13241F"/>
          </a:solidFill>
          <a:ln/>
        </p:spPr>
      </p:sp>
      <p:sp>
        <p:nvSpPr>
          <p:cNvPr id="6" name="texto-271"/>
          <p:cNvSpPr txBox="1"/>
          <p:nvPr/>
        </p:nvSpPr>
        <p:spPr>
          <a:xfrm>
            <a:off x="777240" y="2103120"/>
            <a:ext cx="5440680" cy="2194560"/>
          </a:xfrm>
          <a:prstGeom prst="rect">
            <a:avLst/>
          </a:prstGeom>
          <a:noFill/>
          <a:ln/>
        </p:spPr>
        <p:txBody>
          <a:bodyPr wrap="square" lIns="0" tIns="0" rIns="0" bIns="0" rtlCol="0" anchor="t"/>
          <a:lstStyle/>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def graficoBarras(request):</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filas = leer_csv()</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cantidades = </a:t>
            </a:r>
            <a:pPr indent="0" marL="0">
              <a:lnSpc>
                <a:spcPct val="105000"/>
              </a:lnSpc>
              <a:buNone/>
            </a:pPr>
            <a:r>
              <a:rPr lang="en-US" sz="1200" dirty="0">
                <a:solidFill>
                  <a:srgbClr val="F2C46D"/>
                </a:solidFill>
                <a:latin typeface="Courier New" pitchFamily="34" charset="0"/>
                <a:ea typeface="Courier New" pitchFamily="34" charset="-122"/>
                <a:cs typeface="Courier New" pitchFamily="34" charset="-120"/>
              </a:rPr>
              <a:t>Counter(</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fila["Industry"] for fila in filas)</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configuracion = {</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"type": "bar",</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"data": {"labels": list(cantidades.keys()),</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"datasets": [{"data": …}]},</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return render(request, "alumnos/grafico.html",</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{"datos_grafico": configuracion})</a:t>
            </a:r>
            <a:endParaRPr lang="en-US" sz="1200" dirty="0"/>
          </a:p>
        </p:txBody>
      </p:sp>
      <p:sp>
        <p:nvSpPr>
          <p:cNvPr id="7" name="texto-272"/>
          <p:cNvSpPr txBox="1"/>
          <p:nvPr/>
        </p:nvSpPr>
        <p:spPr>
          <a:xfrm>
            <a:off x="548640" y="4617720"/>
            <a:ext cx="3657600" cy="274320"/>
          </a:xfrm>
          <a:prstGeom prst="rect">
            <a:avLst/>
          </a:prstGeom>
          <a:noFill/>
          <a:ln/>
        </p:spPr>
        <p:txBody>
          <a:bodyPr wrap="square" lIns="0" tIns="0" rIns="0" bIns="0" rtlCol="0" anchor="t"/>
          <a:lstStyle/>
          <a:p>
            <a:pPr indent="0" marL="0">
              <a:buNone/>
            </a:pPr>
            <a:r>
              <a:rPr lang="en-US" sz="1300" b="1" dirty="0">
                <a:solidFill>
                  <a:schemeClr val="accent5"/>
                </a:solidFill>
              </a:rPr>
              <a:t>grafico.html</a:t>
            </a:r>
            <a:endParaRPr lang="en-US" sz="1300" dirty="0"/>
          </a:p>
        </p:txBody>
      </p:sp>
      <p:sp>
        <p:nvSpPr>
          <p:cNvPr id="8" name="tarjeta-273"/>
          <p:cNvSpPr/>
          <p:nvPr/>
        </p:nvSpPr>
        <p:spPr>
          <a:xfrm>
            <a:off x="548640" y="4910328"/>
            <a:ext cx="5806440" cy="1005840"/>
          </a:xfrm>
          <a:prstGeom prst="roundRect">
            <a:avLst>
              <a:gd name="adj" fmla="val 9091"/>
            </a:avLst>
          </a:prstGeom>
          <a:solidFill>
            <a:srgbClr val="13241F"/>
          </a:solidFill>
          <a:ln/>
        </p:spPr>
      </p:sp>
      <p:sp>
        <p:nvSpPr>
          <p:cNvPr id="9" name="texto-274"/>
          <p:cNvSpPr txBox="1"/>
          <p:nvPr/>
        </p:nvSpPr>
        <p:spPr>
          <a:xfrm>
            <a:off x="777240" y="5029200"/>
            <a:ext cx="5440680" cy="822960"/>
          </a:xfrm>
          <a:prstGeom prst="rect">
            <a:avLst/>
          </a:prstGeom>
          <a:noFill/>
          <a:ln/>
        </p:spPr>
        <p:txBody>
          <a:bodyPr wrap="square" lIns="0" tIns="0" rIns="0" bIns="0" rtlCol="0" anchor="t"/>
          <a:lstStyle/>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 datos_grafico|</a:t>
            </a:r>
            <a:pPr indent="0" marL="0">
              <a:lnSpc>
                <a:spcPct val="105000"/>
              </a:lnSpc>
              <a:buNone/>
            </a:pPr>
            <a:r>
              <a:rPr lang="en-US" sz="1200" dirty="0">
                <a:solidFill>
                  <a:srgbClr val="F2C46D"/>
                </a:solidFill>
                <a:latin typeface="Courier New" pitchFamily="34" charset="0"/>
                <a:ea typeface="Courier New" pitchFamily="34" charset="-122"/>
                <a:cs typeface="Courier New" pitchFamily="34" charset="-120"/>
              </a:rPr>
              <a:t>json_script:"datos-grafico" }}</a:t>
            </a:r>
            <a:endParaRPr lang="en-US" sz="1200" dirty="0"/>
          </a:p>
          <a:p>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&lt;canvas id="grafico"&gt;&lt;/canvas&gt;</a:t>
            </a:r>
            <a:endParaRPr lang="en-US" sz="1200" dirty="0"/>
          </a:p>
          <a:p>
            <a:pPr indent="0" marL="0">
              <a:lnSpc>
                <a:spcPct val="105000"/>
              </a:lnSpc>
              <a:buNone/>
            </a:pPr>
            <a:r>
              <a:rPr lang="en-US" sz="1200" dirty="0">
                <a:solidFill>
                  <a:srgbClr val="F2C46D"/>
                </a:solidFill>
                <a:latin typeface="Courier New" pitchFamily="34" charset="0"/>
                <a:ea typeface="Courier New" pitchFamily="34" charset="-122"/>
                <a:cs typeface="Courier New" pitchFamily="34" charset="-120"/>
              </a:rPr>
              <a:t>new Chart</a:t>
            </a:r>
            <a:pPr indent="0" marL="0">
              <a:lnSpc>
                <a:spcPct val="105000"/>
              </a:lnSpc>
              <a:buNone/>
            </a:pPr>
            <a:r>
              <a:rPr lang="en-US" sz="1200" dirty="0">
                <a:solidFill>
                  <a:srgbClr val="D9E8E1"/>
                </a:solidFill>
                <a:latin typeface="Courier New" pitchFamily="34" charset="0"/>
                <a:ea typeface="Courier New" pitchFamily="34" charset="-122"/>
                <a:cs typeface="Courier New" pitchFamily="34" charset="-120"/>
              </a:rPr>
              <a:t>(canvas, configuracion);</a:t>
            </a:r>
            <a:endParaRPr lang="en-US" sz="1200" dirty="0"/>
          </a:p>
        </p:txBody>
      </p:sp>
      <p:sp>
        <p:nvSpPr>
          <p:cNvPr id="10" name="circulo-275"/>
          <p:cNvSpPr/>
          <p:nvPr/>
        </p:nvSpPr>
        <p:spPr>
          <a:xfrm>
            <a:off x="6812280" y="1783080"/>
            <a:ext cx="566928" cy="566928"/>
          </a:xfrm>
          <a:prstGeom prst="ellipse">
            <a:avLst/>
          </a:prstGeom>
          <a:solidFill>
            <a:schemeClr val="tx2"/>
          </a:solidFill>
          <a:ln/>
        </p:spPr>
      </p:sp>
      <p:pic>
        <p:nvPicPr>
          <p:cNvPr id="11" name="icono-276" descr="preencoded.png">    </p:cNvPr>
          <p:cNvPicPr>
            <a:picLocks noChangeAspect="1"/>
          </p:cNvPicPr>
          <p:nvPr/>
        </p:nvPicPr>
        <p:blipFill>
          <a:blip r:embed="rId1"/>
          <a:stretch>
            <a:fillRect/>
          </a:stretch>
        </p:blipFill>
        <p:spPr>
          <a:xfrm>
            <a:off x="6959681" y="1930481"/>
            <a:ext cx="272125" cy="272125"/>
          </a:xfrm>
          <a:prstGeom prst="rect">
            <a:avLst/>
          </a:prstGeom>
        </p:spPr>
      </p:pic>
      <p:sp>
        <p:nvSpPr>
          <p:cNvPr id="12" name="texto-277"/>
          <p:cNvSpPr txBox="1"/>
          <p:nvPr/>
        </p:nvSpPr>
        <p:spPr>
          <a:xfrm>
            <a:off x="7589520" y="1801368"/>
            <a:ext cx="4053535" cy="329184"/>
          </a:xfrm>
          <a:prstGeom prst="rect">
            <a:avLst/>
          </a:prstGeom>
          <a:noFill/>
          <a:ln/>
        </p:spPr>
        <p:txBody>
          <a:bodyPr wrap="square" lIns="0" tIns="0" rIns="0" bIns="0" rtlCol="0" anchor="t"/>
          <a:lstStyle/>
          <a:p>
            <a:pPr indent="0" marL="0">
              <a:buNone/>
            </a:pPr>
            <a:r>
              <a:rPr lang="en-US" sz="1800" b="1" dirty="0">
                <a:solidFill>
                  <a:schemeClr val="tx2"/>
                </a:solidFill>
              </a:rPr>
              <a:t>Se calcula en cada visita</a:t>
            </a:r>
            <a:endParaRPr lang="en-US" sz="1800" dirty="0"/>
          </a:p>
        </p:txBody>
      </p:sp>
      <p:sp>
        <p:nvSpPr>
          <p:cNvPr id="13" name="texto-278"/>
          <p:cNvSpPr txBox="1"/>
          <p:nvPr/>
        </p:nvSpPr>
        <p:spPr>
          <a:xfrm>
            <a:off x="7589520" y="2194560"/>
            <a:ext cx="4053535" cy="868680"/>
          </a:xfrm>
          <a:prstGeom prst="rect">
            <a:avLst/>
          </a:prstGeom>
          <a:noFill/>
          <a:ln/>
        </p:spPr>
        <p:txBody>
          <a:bodyPr wrap="square" lIns="0" tIns="0" rIns="0" bIns="0" rtlCol="0" anchor="t"/>
          <a:lstStyle/>
          <a:p>
            <a:pPr indent="0" marL="0">
              <a:buNone/>
            </a:pPr>
            <a:r>
              <a:rPr lang="en-US" sz="1400" dirty="0">
                <a:solidFill>
                  <a:schemeClr val="tx1"/>
                </a:solidFill>
              </a:rPr>
              <a:t>La vista lee el CSV cada vez que se abre la página. Si cambian los datos, cambia el gráfico.</a:t>
            </a:r>
            <a:endParaRPr lang="en-US" sz="1400" dirty="0"/>
          </a:p>
        </p:txBody>
      </p:sp>
      <p:sp>
        <p:nvSpPr>
          <p:cNvPr id="14" name="circulo-279"/>
          <p:cNvSpPr/>
          <p:nvPr/>
        </p:nvSpPr>
        <p:spPr>
          <a:xfrm>
            <a:off x="6812280" y="3264408"/>
            <a:ext cx="566928" cy="566928"/>
          </a:xfrm>
          <a:prstGeom prst="ellipse">
            <a:avLst/>
          </a:prstGeom>
          <a:solidFill>
            <a:schemeClr val="tx2"/>
          </a:solidFill>
          <a:ln/>
        </p:spPr>
      </p:sp>
      <p:pic>
        <p:nvPicPr>
          <p:cNvPr id="15" name="icono-280" descr="preencoded.png">    </p:cNvPr>
          <p:cNvPicPr>
            <a:picLocks noChangeAspect="1"/>
          </p:cNvPicPr>
          <p:nvPr/>
        </p:nvPicPr>
        <p:blipFill>
          <a:blip r:embed="rId2"/>
          <a:stretch>
            <a:fillRect/>
          </a:stretch>
        </p:blipFill>
        <p:spPr>
          <a:xfrm>
            <a:off x="6959681" y="3411809"/>
            <a:ext cx="272125" cy="272125"/>
          </a:xfrm>
          <a:prstGeom prst="rect">
            <a:avLst/>
          </a:prstGeom>
        </p:spPr>
      </p:pic>
      <p:sp>
        <p:nvSpPr>
          <p:cNvPr id="16" name="texto-281"/>
          <p:cNvSpPr txBox="1"/>
          <p:nvPr/>
        </p:nvSpPr>
        <p:spPr>
          <a:xfrm>
            <a:off x="7589520" y="3282696"/>
            <a:ext cx="4053535" cy="329184"/>
          </a:xfrm>
          <a:prstGeom prst="rect">
            <a:avLst/>
          </a:prstGeom>
          <a:noFill/>
          <a:ln/>
        </p:spPr>
        <p:txBody>
          <a:bodyPr wrap="square" lIns="0" tIns="0" rIns="0" bIns="0" rtlCol="0" anchor="t"/>
          <a:lstStyle/>
          <a:p>
            <a:pPr indent="0" marL="0">
              <a:buNone/>
            </a:pPr>
            <a:r>
              <a:rPr lang="en-US" sz="1800" b="1" dirty="0">
                <a:solidFill>
                  <a:schemeClr val="tx2"/>
                </a:solidFill>
              </a:rPr>
              <a:t>Una plantilla, tres gráficos</a:t>
            </a:r>
            <a:endParaRPr lang="en-US" sz="1800" dirty="0"/>
          </a:p>
        </p:txBody>
      </p:sp>
      <p:sp>
        <p:nvSpPr>
          <p:cNvPr id="17" name="texto-282"/>
          <p:cNvSpPr txBox="1"/>
          <p:nvPr/>
        </p:nvSpPr>
        <p:spPr>
          <a:xfrm>
            <a:off x="7589520" y="3675888"/>
            <a:ext cx="4053535" cy="868680"/>
          </a:xfrm>
          <a:prstGeom prst="rect">
            <a:avLst/>
          </a:prstGeom>
          <a:noFill/>
          <a:ln/>
        </p:spPr>
        <p:txBody>
          <a:bodyPr wrap="square" lIns="0" tIns="0" rIns="0" bIns="0" rtlCol="0" anchor="t"/>
          <a:lstStyle/>
          <a:p>
            <a:pPr indent="0" marL="0">
              <a:buNone/>
            </a:pPr>
            <a:r>
              <a:rPr lang="en-US" sz="1400" dirty="0">
                <a:solidFill>
                  <a:schemeClr val="tx1"/>
                </a:solidFill>
              </a:rPr>
              <a:t>grafico.html es la misma para los tres: solo cambia el diccionario que arma cada vista.</a:t>
            </a:r>
            <a:endParaRPr lang="en-US" sz="1400" dirty="0"/>
          </a:p>
        </p:txBody>
      </p:sp>
      <p:sp>
        <p:nvSpPr>
          <p:cNvPr id="18" name="circulo-283"/>
          <p:cNvSpPr/>
          <p:nvPr/>
        </p:nvSpPr>
        <p:spPr>
          <a:xfrm>
            <a:off x="6812280" y="4745736"/>
            <a:ext cx="566928" cy="566928"/>
          </a:xfrm>
          <a:prstGeom prst="ellipse">
            <a:avLst/>
          </a:prstGeom>
          <a:solidFill>
            <a:schemeClr val="tx2"/>
          </a:solidFill>
          <a:ln/>
        </p:spPr>
      </p:sp>
      <p:pic>
        <p:nvPicPr>
          <p:cNvPr id="19" name="icono-284" descr="preencoded.png">    </p:cNvPr>
          <p:cNvPicPr>
            <a:picLocks noChangeAspect="1"/>
          </p:cNvPicPr>
          <p:nvPr/>
        </p:nvPicPr>
        <p:blipFill>
          <a:blip r:embed="rId3"/>
          <a:stretch>
            <a:fillRect/>
          </a:stretch>
        </p:blipFill>
        <p:spPr>
          <a:xfrm>
            <a:off x="6959681" y="4893137"/>
            <a:ext cx="272125" cy="272125"/>
          </a:xfrm>
          <a:prstGeom prst="rect">
            <a:avLst/>
          </a:prstGeom>
        </p:spPr>
      </p:pic>
      <p:sp>
        <p:nvSpPr>
          <p:cNvPr id="20" name="texto-285"/>
          <p:cNvSpPr txBox="1"/>
          <p:nvPr/>
        </p:nvSpPr>
        <p:spPr>
          <a:xfrm>
            <a:off x="7589520" y="4764024"/>
            <a:ext cx="4053535" cy="329184"/>
          </a:xfrm>
          <a:prstGeom prst="rect">
            <a:avLst/>
          </a:prstGeom>
          <a:noFill/>
          <a:ln/>
        </p:spPr>
        <p:txBody>
          <a:bodyPr wrap="square" lIns="0" tIns="0" rIns="0" bIns="0" rtlCol="0" anchor="t"/>
          <a:lstStyle/>
          <a:p>
            <a:pPr indent="0" marL="0">
              <a:buNone/>
            </a:pPr>
            <a:r>
              <a:rPr lang="en-US" sz="1800" b="1" dirty="0">
                <a:solidFill>
                  <a:schemeClr val="tx2"/>
                </a:solidFill>
              </a:rPr>
              <a:t>Chart.js en el navegador</a:t>
            </a:r>
            <a:endParaRPr lang="en-US" sz="1800" dirty="0"/>
          </a:p>
        </p:txBody>
      </p:sp>
      <p:sp>
        <p:nvSpPr>
          <p:cNvPr id="21" name="texto-286"/>
          <p:cNvSpPr txBox="1"/>
          <p:nvPr/>
        </p:nvSpPr>
        <p:spPr>
          <a:xfrm>
            <a:off x="7589520" y="5157216"/>
            <a:ext cx="4053535" cy="868680"/>
          </a:xfrm>
          <a:prstGeom prst="rect">
            <a:avLst/>
          </a:prstGeom>
          <a:noFill/>
          <a:ln/>
        </p:spPr>
        <p:txBody>
          <a:bodyPr wrap="square" lIns="0" tIns="0" rIns="0" bIns="0" rtlCol="0" anchor="t"/>
          <a:lstStyle/>
          <a:p>
            <a:pPr indent="0" marL="0">
              <a:buNone/>
            </a:pPr>
            <a:r>
              <a:rPr lang="en-US" sz="1400" dirty="0">
                <a:solidFill>
                  <a:schemeClr val="tx1"/>
                </a:solidFill>
              </a:rPr>
              <a:t>Dibuja sobre un canvas y se adapta al ancho de la pantalla.</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Gráfico 1: trabajadores por industria</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Las siete industrias tienen casi la misma cantidad de trabajadores</a:t>
            </a:r>
            <a:endParaRPr lang="en-US" sz="1600" dirty="0"/>
          </a:p>
        </p:txBody>
      </p:sp>
      <p:sp>
        <p:nvSpPr>
          <p:cNvPr id="4" name="navegador-287"/>
          <p:cNvSpPr/>
          <p:nvPr/>
        </p:nvSpPr>
        <p:spPr>
          <a:xfrm>
            <a:off x="548640" y="1737360"/>
            <a:ext cx="7178040" cy="3630311"/>
          </a:xfrm>
          <a:prstGeom prst="roundRect">
            <a:avLst>
              <a:gd name="adj" fmla="val 2015"/>
            </a:avLst>
          </a:prstGeom>
          <a:solidFill>
            <a:srgbClr val="E2E9E5"/>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5" name="punto-288"/>
          <p:cNvSpPr/>
          <p:nvPr/>
        </p:nvSpPr>
        <p:spPr>
          <a:xfrm>
            <a:off x="685800" y="1851660"/>
            <a:ext cx="100584" cy="100584"/>
          </a:xfrm>
          <a:prstGeom prst="ellipse">
            <a:avLst/>
          </a:prstGeom>
          <a:solidFill>
            <a:srgbClr val="E06C5F"/>
          </a:solidFill>
          <a:ln/>
        </p:spPr>
      </p:sp>
      <p:sp>
        <p:nvSpPr>
          <p:cNvPr id="6" name="punto-289"/>
          <p:cNvSpPr/>
          <p:nvPr/>
        </p:nvSpPr>
        <p:spPr>
          <a:xfrm>
            <a:off x="841248" y="1851660"/>
            <a:ext cx="100584" cy="100584"/>
          </a:xfrm>
          <a:prstGeom prst="ellipse">
            <a:avLst/>
          </a:prstGeom>
          <a:solidFill>
            <a:srgbClr val="E9B949"/>
          </a:solidFill>
          <a:ln/>
        </p:spPr>
      </p:sp>
      <p:sp>
        <p:nvSpPr>
          <p:cNvPr id="7" name="punto-290"/>
          <p:cNvSpPr/>
          <p:nvPr/>
        </p:nvSpPr>
        <p:spPr>
          <a:xfrm>
            <a:off x="996696" y="1851660"/>
            <a:ext cx="100584" cy="100584"/>
          </a:xfrm>
          <a:prstGeom prst="ellipse">
            <a:avLst/>
          </a:prstGeom>
          <a:solidFill>
            <a:srgbClr val="5DB872"/>
          </a:solidFill>
          <a:ln/>
        </p:spPr>
      </p:sp>
      <p:sp>
        <p:nvSpPr>
          <p:cNvPr id="8" name="url-291"/>
          <p:cNvSpPr/>
          <p:nvPr/>
        </p:nvSpPr>
        <p:spPr>
          <a:xfrm>
            <a:off x="1207008" y="1801368"/>
            <a:ext cx="6355080"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chemeClr val="accent5"/>
                </a:solidFill>
              </a:rPr>
              <a:t>127.0.0.1:8000/alumnos/graficos/barras-csv/</a:t>
            </a:r>
            <a:endParaRPr lang="en-US" sz="1000" dirty="0"/>
          </a:p>
        </p:txBody>
      </p:sp>
      <p:pic>
        <p:nvPicPr>
          <p:cNvPr id="9" name="captura-292" descr="/private/tmp/claude-501/-Users-pablovaldiviamonzon-Desktop-cert-menes/6974cfb1-314e-48ac-991e-539c4c5dc99b/scratchpad/img/barras.jpg">    </p:cNvPr>
          <p:cNvPicPr>
            <a:picLocks noChangeAspect="1"/>
          </p:cNvPicPr>
          <p:nvPr/>
        </p:nvPicPr>
        <p:blipFill>
          <a:blip r:embed="rId1"/>
          <a:stretch>
            <a:fillRect/>
          </a:stretch>
        </p:blipFill>
        <p:spPr>
          <a:xfrm>
            <a:off x="594360" y="2066544"/>
            <a:ext cx="7086600" cy="3255407"/>
          </a:xfrm>
          <a:prstGeom prst="rect">
            <a:avLst/>
          </a:prstGeom>
        </p:spPr>
      </p:pic>
      <p:sp>
        <p:nvSpPr>
          <p:cNvPr id="10" name="texto-293"/>
          <p:cNvSpPr txBox="1"/>
          <p:nvPr/>
        </p:nvSpPr>
        <p:spPr>
          <a:xfrm>
            <a:off x="548640" y="5532263"/>
            <a:ext cx="7178040" cy="292608"/>
          </a:xfrm>
          <a:prstGeom prst="rect">
            <a:avLst/>
          </a:prstGeom>
          <a:noFill/>
          <a:ln/>
        </p:spPr>
        <p:txBody>
          <a:bodyPr wrap="square" lIns="0" tIns="0" rIns="0" bIns="0" rtlCol="0" anchor="t"/>
          <a:lstStyle/>
          <a:p>
            <a:pPr indent="0" marL="0">
              <a:buNone/>
            </a:pPr>
            <a:r>
              <a:rPr lang="en-US" sz="1300" dirty="0">
                <a:solidFill>
                  <a:schemeClr val="accent5"/>
                </a:solidFill>
              </a:rPr>
              <a:t>Vista views.graficoBarras · Chart.js, tipo «bar»</a:t>
            </a:r>
            <a:endParaRPr lang="en-US" sz="1300" dirty="0"/>
          </a:p>
        </p:txBody>
      </p:sp>
      <p:sp>
        <p:nvSpPr>
          <p:cNvPr id="11" name="tipo-294"/>
          <p:cNvSpPr/>
          <p:nvPr/>
        </p:nvSpPr>
        <p:spPr>
          <a:xfrm>
            <a:off x="8138160" y="1737360"/>
            <a:ext cx="1600200" cy="329184"/>
          </a:xfrm>
          <a:prstGeom prst="roundRect">
            <a:avLst>
              <a:gd name="adj" fmla="val 47222"/>
            </a:avLst>
          </a:prstGeom>
          <a:solidFill>
            <a:schemeClr val="bg2"/>
          </a:solidFill>
          <a:ln/>
        </p:spPr>
        <p:txBody>
          <a:bodyPr wrap="square" lIns="0" tIns="0" rIns="0" bIns="0" rtlCol="0" anchor="ctr"/>
          <a:lstStyle/>
          <a:p>
            <a:pPr algn="ctr" indent="0" marL="0">
              <a:buNone/>
            </a:pPr>
            <a:r>
              <a:rPr lang="en-US" sz="1200" b="1" spc="150" kern="0" dirty="0">
                <a:solidFill>
                  <a:schemeClr val="tx2"/>
                </a:solidFill>
              </a:rPr>
              <a:t>BARRAS</a:t>
            </a:r>
            <a:endParaRPr lang="en-US" sz="1200" dirty="0"/>
          </a:p>
        </p:txBody>
      </p:sp>
      <p:sp>
        <p:nvSpPr>
          <p:cNvPr id="12" name="texto-295"/>
          <p:cNvSpPr txBox="1"/>
          <p:nvPr/>
        </p:nvSpPr>
        <p:spPr>
          <a:xfrm>
            <a:off x="8138160" y="2212848"/>
            <a:ext cx="3504895" cy="731520"/>
          </a:xfrm>
          <a:prstGeom prst="rect">
            <a:avLst/>
          </a:prstGeom>
          <a:noFill/>
          <a:ln/>
        </p:spPr>
        <p:txBody>
          <a:bodyPr wrap="square" lIns="0" tIns="0" rIns="0" bIns="0" rtlCol="0" anchor="t"/>
          <a:lstStyle/>
          <a:p>
            <a:pPr indent="0" marL="0">
              <a:buNone/>
            </a:pPr>
            <a:r>
              <a:rPr lang="en-US" sz="4400" b="1" dirty="0">
                <a:solidFill>
                  <a:schemeClr val="accent1"/>
                </a:solidFill>
              </a:rPr>
              <a:t>680 – 747</a:t>
            </a:r>
            <a:endParaRPr lang="en-US" sz="4400" dirty="0"/>
          </a:p>
        </p:txBody>
      </p:sp>
      <p:sp>
        <p:nvSpPr>
          <p:cNvPr id="13" name="texto-296"/>
          <p:cNvSpPr txBox="1"/>
          <p:nvPr/>
        </p:nvSpPr>
        <p:spPr>
          <a:xfrm>
            <a:off x="8138160" y="2926080"/>
            <a:ext cx="3504895" cy="292608"/>
          </a:xfrm>
          <a:prstGeom prst="rect">
            <a:avLst/>
          </a:prstGeom>
          <a:noFill/>
          <a:ln/>
        </p:spPr>
        <p:txBody>
          <a:bodyPr wrap="square" lIns="0" tIns="0" rIns="0" bIns="0" rtlCol="0" anchor="t"/>
          <a:lstStyle/>
          <a:p>
            <a:pPr indent="0" marL="0">
              <a:buNone/>
            </a:pPr>
            <a:r>
              <a:rPr lang="en-US" sz="1400" dirty="0">
                <a:solidFill>
                  <a:schemeClr val="accent5"/>
                </a:solidFill>
              </a:rPr>
              <a:t>trabajadores en cada industria</a:t>
            </a:r>
            <a:endParaRPr lang="en-US" sz="1400" dirty="0"/>
          </a:p>
        </p:txBody>
      </p:sp>
      <p:sp>
        <p:nvSpPr>
          <p:cNvPr id="14" name="texto-297"/>
          <p:cNvSpPr txBox="1"/>
          <p:nvPr/>
        </p:nvSpPr>
        <p:spPr>
          <a:xfrm>
            <a:off x="8138160" y="3474720"/>
            <a:ext cx="3504895" cy="292608"/>
          </a:xfrm>
          <a:prstGeom prst="rect">
            <a:avLst/>
          </a:prstGeom>
          <a:noFill/>
          <a:ln/>
        </p:spPr>
        <p:txBody>
          <a:bodyPr wrap="square" lIns="0" tIns="0" rIns="0" bIns="0" rtlCol="0" anchor="t"/>
          <a:lstStyle/>
          <a:p>
            <a:pPr indent="0" marL="0">
              <a:buNone/>
            </a:pPr>
            <a:r>
              <a:rPr lang="en-US" sz="1600" b="1" dirty="0">
                <a:solidFill>
                  <a:schemeClr val="tx2"/>
                </a:solidFill>
              </a:rPr>
              <a:t>Por qué este tipo</a:t>
            </a:r>
            <a:endParaRPr lang="en-US" sz="1600" dirty="0"/>
          </a:p>
        </p:txBody>
      </p:sp>
      <p:sp>
        <p:nvSpPr>
          <p:cNvPr id="15" name="texto-298"/>
          <p:cNvSpPr txBox="1"/>
          <p:nvPr/>
        </p:nvSpPr>
        <p:spPr>
          <a:xfrm>
            <a:off x="8138160" y="3785616"/>
            <a:ext cx="3504895" cy="594360"/>
          </a:xfrm>
          <a:prstGeom prst="rect">
            <a:avLst/>
          </a:prstGeom>
          <a:noFill/>
          <a:ln/>
        </p:spPr>
        <p:txBody>
          <a:bodyPr wrap="square" lIns="0" tIns="0" rIns="0" bIns="0" rtlCol="0" anchor="t"/>
          <a:lstStyle/>
          <a:p>
            <a:pPr indent="0" marL="0">
              <a:buNone/>
            </a:pPr>
            <a:r>
              <a:rPr lang="en-US" sz="1400" dirty="0">
                <a:solidFill>
                  <a:schemeClr val="tx1"/>
                </a:solidFill>
              </a:rPr>
              <a:t>Sirven para comparar cantidades entre categorías.</a:t>
            </a:r>
            <a:endParaRPr lang="en-US" sz="1400" dirty="0"/>
          </a:p>
        </p:txBody>
      </p:sp>
      <p:sp>
        <p:nvSpPr>
          <p:cNvPr id="16" name="texto-299"/>
          <p:cNvSpPr txBox="1"/>
          <p:nvPr/>
        </p:nvSpPr>
        <p:spPr>
          <a:xfrm>
            <a:off x="8138160" y="4526280"/>
            <a:ext cx="3504895" cy="292608"/>
          </a:xfrm>
          <a:prstGeom prst="rect">
            <a:avLst/>
          </a:prstGeom>
          <a:noFill/>
          <a:ln/>
        </p:spPr>
        <p:txBody>
          <a:bodyPr wrap="square" lIns="0" tIns="0" rIns="0" bIns="0" rtlCol="0" anchor="t"/>
          <a:lstStyle/>
          <a:p>
            <a:pPr indent="0" marL="0">
              <a:buNone/>
            </a:pPr>
            <a:r>
              <a:rPr lang="en-US" sz="1600" b="1" dirty="0">
                <a:solidFill>
                  <a:schemeClr val="tx2"/>
                </a:solidFill>
              </a:rPr>
              <a:t>Qué muestra</a:t>
            </a:r>
            <a:endParaRPr lang="en-US" sz="1600" dirty="0"/>
          </a:p>
        </p:txBody>
      </p:sp>
      <p:sp>
        <p:nvSpPr>
          <p:cNvPr id="17" name="texto-300"/>
          <p:cNvSpPr txBox="1"/>
          <p:nvPr/>
        </p:nvSpPr>
        <p:spPr>
          <a:xfrm>
            <a:off x="8138160" y="4837176"/>
            <a:ext cx="3504895" cy="1371600"/>
          </a:xfrm>
          <a:prstGeom prst="rect">
            <a:avLst/>
          </a:prstGeom>
          <a:noFill/>
          <a:ln/>
        </p:spPr>
        <p:txBody>
          <a:bodyPr wrap="square" lIns="0" tIns="0" rIns="0" bIns="0" rtlCol="0" anchor="t"/>
          <a:lstStyle/>
          <a:p>
            <a:pPr indent="0" marL="0">
              <a:buNone/>
            </a:pPr>
            <a:r>
              <a:rPr lang="en-US" sz="1400" dirty="0">
                <a:solidFill>
                  <a:schemeClr val="tx1"/>
                </a:solidFill>
              </a:rPr>
              <a:t>Las 7 industrias están parejas: Finance lidera con 747 y Consulting cierra con 680. Solo 67 personas de diferencia.</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Gráfico 2: horas semanales según edad</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El promedio de horas no cambia con la edad: siempre cerca de 40</a:t>
            </a:r>
            <a:endParaRPr lang="en-US" sz="1600" dirty="0"/>
          </a:p>
        </p:txBody>
      </p:sp>
      <p:sp>
        <p:nvSpPr>
          <p:cNvPr id="4" name="navegador-301"/>
          <p:cNvSpPr/>
          <p:nvPr/>
        </p:nvSpPr>
        <p:spPr>
          <a:xfrm>
            <a:off x="548640" y="1737360"/>
            <a:ext cx="7178040" cy="3630311"/>
          </a:xfrm>
          <a:prstGeom prst="roundRect">
            <a:avLst>
              <a:gd name="adj" fmla="val 2015"/>
            </a:avLst>
          </a:prstGeom>
          <a:solidFill>
            <a:srgbClr val="E2E9E5"/>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5" name="punto-302"/>
          <p:cNvSpPr/>
          <p:nvPr/>
        </p:nvSpPr>
        <p:spPr>
          <a:xfrm>
            <a:off x="685800" y="1851660"/>
            <a:ext cx="100584" cy="100584"/>
          </a:xfrm>
          <a:prstGeom prst="ellipse">
            <a:avLst/>
          </a:prstGeom>
          <a:solidFill>
            <a:srgbClr val="E06C5F"/>
          </a:solidFill>
          <a:ln/>
        </p:spPr>
      </p:sp>
      <p:sp>
        <p:nvSpPr>
          <p:cNvPr id="6" name="punto-303"/>
          <p:cNvSpPr/>
          <p:nvPr/>
        </p:nvSpPr>
        <p:spPr>
          <a:xfrm>
            <a:off x="841248" y="1851660"/>
            <a:ext cx="100584" cy="100584"/>
          </a:xfrm>
          <a:prstGeom prst="ellipse">
            <a:avLst/>
          </a:prstGeom>
          <a:solidFill>
            <a:srgbClr val="E9B949"/>
          </a:solidFill>
          <a:ln/>
        </p:spPr>
      </p:sp>
      <p:sp>
        <p:nvSpPr>
          <p:cNvPr id="7" name="punto-304"/>
          <p:cNvSpPr/>
          <p:nvPr/>
        </p:nvSpPr>
        <p:spPr>
          <a:xfrm>
            <a:off x="996696" y="1851660"/>
            <a:ext cx="100584" cy="100584"/>
          </a:xfrm>
          <a:prstGeom prst="ellipse">
            <a:avLst/>
          </a:prstGeom>
          <a:solidFill>
            <a:srgbClr val="5DB872"/>
          </a:solidFill>
          <a:ln/>
        </p:spPr>
      </p:sp>
      <p:sp>
        <p:nvSpPr>
          <p:cNvPr id="8" name="url-305"/>
          <p:cNvSpPr/>
          <p:nvPr/>
        </p:nvSpPr>
        <p:spPr>
          <a:xfrm>
            <a:off x="1207008" y="1801368"/>
            <a:ext cx="6355080"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chemeClr val="accent5"/>
                </a:solidFill>
              </a:rPr>
              <a:t>127.0.0.1:8000/alumnos/graficos/lineas-csv/</a:t>
            </a:r>
            <a:endParaRPr lang="en-US" sz="1000" dirty="0"/>
          </a:p>
        </p:txBody>
      </p:sp>
      <p:pic>
        <p:nvPicPr>
          <p:cNvPr id="9" name="captura-306" descr="/private/tmp/claude-501/-Users-pablovaldiviamonzon-Desktop-cert-menes/6974cfb1-314e-48ac-991e-539c4c5dc99b/scratchpad/img/lineas.jpg">    </p:cNvPr>
          <p:cNvPicPr>
            <a:picLocks noChangeAspect="1"/>
          </p:cNvPicPr>
          <p:nvPr/>
        </p:nvPicPr>
        <p:blipFill>
          <a:blip r:embed="rId1"/>
          <a:stretch>
            <a:fillRect/>
          </a:stretch>
        </p:blipFill>
        <p:spPr>
          <a:xfrm>
            <a:off x="594360" y="2066544"/>
            <a:ext cx="7086600" cy="3255407"/>
          </a:xfrm>
          <a:prstGeom prst="rect">
            <a:avLst/>
          </a:prstGeom>
        </p:spPr>
      </p:pic>
      <p:sp>
        <p:nvSpPr>
          <p:cNvPr id="10" name="texto-307"/>
          <p:cNvSpPr txBox="1"/>
          <p:nvPr/>
        </p:nvSpPr>
        <p:spPr>
          <a:xfrm>
            <a:off x="548640" y="5532263"/>
            <a:ext cx="7178040" cy="292608"/>
          </a:xfrm>
          <a:prstGeom prst="rect">
            <a:avLst/>
          </a:prstGeom>
          <a:noFill/>
          <a:ln/>
        </p:spPr>
        <p:txBody>
          <a:bodyPr wrap="square" lIns="0" tIns="0" rIns="0" bIns="0" rtlCol="0" anchor="t"/>
          <a:lstStyle/>
          <a:p>
            <a:pPr indent="0" marL="0">
              <a:buNone/>
            </a:pPr>
            <a:r>
              <a:rPr lang="en-US" sz="1300" dirty="0">
                <a:solidFill>
                  <a:schemeClr val="accent5"/>
                </a:solidFill>
              </a:rPr>
              <a:t>Vista views.graficoLineas · Chart.js, tipo «line»</a:t>
            </a:r>
            <a:endParaRPr lang="en-US" sz="1300" dirty="0"/>
          </a:p>
        </p:txBody>
      </p:sp>
      <p:sp>
        <p:nvSpPr>
          <p:cNvPr id="11" name="tipo-308"/>
          <p:cNvSpPr/>
          <p:nvPr/>
        </p:nvSpPr>
        <p:spPr>
          <a:xfrm>
            <a:off x="8138160" y="1737360"/>
            <a:ext cx="1600200" cy="329184"/>
          </a:xfrm>
          <a:prstGeom prst="roundRect">
            <a:avLst>
              <a:gd name="adj" fmla="val 47222"/>
            </a:avLst>
          </a:prstGeom>
          <a:solidFill>
            <a:schemeClr val="bg2"/>
          </a:solidFill>
          <a:ln/>
        </p:spPr>
        <p:txBody>
          <a:bodyPr wrap="square" lIns="0" tIns="0" rIns="0" bIns="0" rtlCol="0" anchor="ctr"/>
          <a:lstStyle/>
          <a:p>
            <a:pPr algn="ctr" indent="0" marL="0">
              <a:buNone/>
            </a:pPr>
            <a:r>
              <a:rPr lang="en-US" sz="1200" b="1" spc="150" kern="0" dirty="0">
                <a:solidFill>
                  <a:schemeClr val="tx2"/>
                </a:solidFill>
              </a:rPr>
              <a:t>LÍNEAS</a:t>
            </a:r>
            <a:endParaRPr lang="en-US" sz="1200" dirty="0"/>
          </a:p>
        </p:txBody>
      </p:sp>
      <p:sp>
        <p:nvSpPr>
          <p:cNvPr id="12" name="texto-309"/>
          <p:cNvSpPr txBox="1"/>
          <p:nvPr/>
        </p:nvSpPr>
        <p:spPr>
          <a:xfrm>
            <a:off x="8138160" y="2212848"/>
            <a:ext cx="3504895" cy="731520"/>
          </a:xfrm>
          <a:prstGeom prst="rect">
            <a:avLst/>
          </a:prstGeom>
          <a:noFill/>
          <a:ln/>
        </p:spPr>
        <p:txBody>
          <a:bodyPr wrap="square" lIns="0" tIns="0" rIns="0" bIns="0" rtlCol="0" anchor="t"/>
          <a:lstStyle/>
          <a:p>
            <a:pPr indent="0" marL="0">
              <a:buNone/>
            </a:pPr>
            <a:r>
              <a:rPr lang="en-US" sz="4400" b="1" dirty="0">
                <a:solidFill>
                  <a:schemeClr val="accent1"/>
                </a:solidFill>
              </a:rPr>
              <a:t>37 – 41,4 h</a:t>
            </a:r>
            <a:endParaRPr lang="en-US" sz="4400" dirty="0"/>
          </a:p>
        </p:txBody>
      </p:sp>
      <p:sp>
        <p:nvSpPr>
          <p:cNvPr id="13" name="texto-310"/>
          <p:cNvSpPr txBox="1"/>
          <p:nvPr/>
        </p:nvSpPr>
        <p:spPr>
          <a:xfrm>
            <a:off x="8138160" y="2926080"/>
            <a:ext cx="3504895" cy="292608"/>
          </a:xfrm>
          <a:prstGeom prst="rect">
            <a:avLst/>
          </a:prstGeom>
          <a:noFill/>
          <a:ln/>
        </p:spPr>
        <p:txBody>
          <a:bodyPr wrap="square" lIns="0" tIns="0" rIns="0" bIns="0" rtlCol="0" anchor="t"/>
          <a:lstStyle/>
          <a:p>
            <a:pPr indent="0" marL="0">
              <a:buNone/>
            </a:pPr>
            <a:r>
              <a:rPr lang="en-US" sz="1400" dirty="0">
                <a:solidFill>
                  <a:schemeClr val="accent5"/>
                </a:solidFill>
              </a:rPr>
              <a:t>promedio semanal según la edad</a:t>
            </a:r>
            <a:endParaRPr lang="en-US" sz="1400" dirty="0"/>
          </a:p>
        </p:txBody>
      </p:sp>
      <p:sp>
        <p:nvSpPr>
          <p:cNvPr id="14" name="texto-311"/>
          <p:cNvSpPr txBox="1"/>
          <p:nvPr/>
        </p:nvSpPr>
        <p:spPr>
          <a:xfrm>
            <a:off x="8138160" y="3474720"/>
            <a:ext cx="3504895" cy="292608"/>
          </a:xfrm>
          <a:prstGeom prst="rect">
            <a:avLst/>
          </a:prstGeom>
          <a:noFill/>
          <a:ln/>
        </p:spPr>
        <p:txBody>
          <a:bodyPr wrap="square" lIns="0" tIns="0" rIns="0" bIns="0" rtlCol="0" anchor="t"/>
          <a:lstStyle/>
          <a:p>
            <a:pPr indent="0" marL="0">
              <a:buNone/>
            </a:pPr>
            <a:r>
              <a:rPr lang="en-US" sz="1600" b="1" dirty="0">
                <a:solidFill>
                  <a:schemeClr val="tx2"/>
                </a:solidFill>
              </a:rPr>
              <a:t>Por qué este tipo</a:t>
            </a:r>
            <a:endParaRPr lang="en-US" sz="1600" dirty="0"/>
          </a:p>
        </p:txBody>
      </p:sp>
      <p:sp>
        <p:nvSpPr>
          <p:cNvPr id="15" name="texto-312"/>
          <p:cNvSpPr txBox="1"/>
          <p:nvPr/>
        </p:nvSpPr>
        <p:spPr>
          <a:xfrm>
            <a:off x="8138160" y="3785616"/>
            <a:ext cx="3504895" cy="594360"/>
          </a:xfrm>
          <a:prstGeom prst="rect">
            <a:avLst/>
          </a:prstGeom>
          <a:noFill/>
          <a:ln/>
        </p:spPr>
        <p:txBody>
          <a:bodyPr wrap="square" lIns="0" tIns="0" rIns="0" bIns="0" rtlCol="0" anchor="t"/>
          <a:lstStyle/>
          <a:p>
            <a:pPr indent="0" marL="0">
              <a:buNone/>
            </a:pPr>
            <a:r>
              <a:rPr lang="en-US" sz="1400" dirty="0">
                <a:solidFill>
                  <a:schemeClr val="tx1"/>
                </a:solidFill>
              </a:rPr>
              <a:t>La edad tiene orden: la línea deja ver si hay tendencia.</a:t>
            </a:r>
            <a:endParaRPr lang="en-US" sz="1400" dirty="0"/>
          </a:p>
        </p:txBody>
      </p:sp>
      <p:sp>
        <p:nvSpPr>
          <p:cNvPr id="16" name="texto-313"/>
          <p:cNvSpPr txBox="1"/>
          <p:nvPr/>
        </p:nvSpPr>
        <p:spPr>
          <a:xfrm>
            <a:off x="8138160" y="4526280"/>
            <a:ext cx="3504895" cy="292608"/>
          </a:xfrm>
          <a:prstGeom prst="rect">
            <a:avLst/>
          </a:prstGeom>
          <a:noFill/>
          <a:ln/>
        </p:spPr>
        <p:txBody>
          <a:bodyPr wrap="square" lIns="0" tIns="0" rIns="0" bIns="0" rtlCol="0" anchor="t"/>
          <a:lstStyle/>
          <a:p>
            <a:pPr indent="0" marL="0">
              <a:buNone/>
            </a:pPr>
            <a:r>
              <a:rPr lang="en-US" sz="1600" b="1" dirty="0">
                <a:solidFill>
                  <a:schemeClr val="tx2"/>
                </a:solidFill>
              </a:rPr>
              <a:t>Qué muestra</a:t>
            </a:r>
            <a:endParaRPr lang="en-US" sz="1600" dirty="0"/>
          </a:p>
        </p:txBody>
      </p:sp>
      <p:sp>
        <p:nvSpPr>
          <p:cNvPr id="17" name="texto-314"/>
          <p:cNvSpPr txBox="1"/>
          <p:nvPr/>
        </p:nvSpPr>
        <p:spPr>
          <a:xfrm>
            <a:off x="8138160" y="4837176"/>
            <a:ext cx="3504895" cy="1371600"/>
          </a:xfrm>
          <a:prstGeom prst="rect">
            <a:avLst/>
          </a:prstGeom>
          <a:noFill/>
          <a:ln/>
        </p:spPr>
        <p:txBody>
          <a:bodyPr wrap="square" lIns="0" tIns="0" rIns="0" bIns="0" rtlCol="0" anchor="t"/>
          <a:lstStyle/>
          <a:p>
            <a:pPr indent="0" marL="0">
              <a:buNone/>
            </a:pPr>
            <a:r>
              <a:rPr lang="en-US" sz="1400" dirty="0">
                <a:solidFill>
                  <a:schemeClr val="tx1"/>
                </a:solidFill>
              </a:rPr>
              <a:t>No la hay. De 22 a 60 años el promedio se queda cerca de 40 horas. El eje parte en 0 para no exagerar.</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Gráfico 3: horas y equilibrio vida-trabajo</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Las horas trabajadas no se relacionan con el equilibrio vida-trabajo</a:t>
            </a:r>
            <a:endParaRPr lang="en-US" sz="1600" dirty="0"/>
          </a:p>
        </p:txBody>
      </p:sp>
      <p:sp>
        <p:nvSpPr>
          <p:cNvPr id="4" name="navegador-315"/>
          <p:cNvSpPr/>
          <p:nvPr/>
        </p:nvSpPr>
        <p:spPr>
          <a:xfrm>
            <a:off x="548640" y="1737360"/>
            <a:ext cx="7178040" cy="3630311"/>
          </a:xfrm>
          <a:prstGeom prst="roundRect">
            <a:avLst>
              <a:gd name="adj" fmla="val 2015"/>
            </a:avLst>
          </a:prstGeom>
          <a:solidFill>
            <a:srgbClr val="E2E9E5"/>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5" name="punto-316"/>
          <p:cNvSpPr/>
          <p:nvPr/>
        </p:nvSpPr>
        <p:spPr>
          <a:xfrm>
            <a:off x="685800" y="1851660"/>
            <a:ext cx="100584" cy="100584"/>
          </a:xfrm>
          <a:prstGeom prst="ellipse">
            <a:avLst/>
          </a:prstGeom>
          <a:solidFill>
            <a:srgbClr val="E06C5F"/>
          </a:solidFill>
          <a:ln/>
        </p:spPr>
      </p:sp>
      <p:sp>
        <p:nvSpPr>
          <p:cNvPr id="6" name="punto-317"/>
          <p:cNvSpPr/>
          <p:nvPr/>
        </p:nvSpPr>
        <p:spPr>
          <a:xfrm>
            <a:off x="841248" y="1851660"/>
            <a:ext cx="100584" cy="100584"/>
          </a:xfrm>
          <a:prstGeom prst="ellipse">
            <a:avLst/>
          </a:prstGeom>
          <a:solidFill>
            <a:srgbClr val="E9B949"/>
          </a:solidFill>
          <a:ln/>
        </p:spPr>
      </p:sp>
      <p:sp>
        <p:nvSpPr>
          <p:cNvPr id="7" name="punto-318"/>
          <p:cNvSpPr/>
          <p:nvPr/>
        </p:nvSpPr>
        <p:spPr>
          <a:xfrm>
            <a:off x="996696" y="1851660"/>
            <a:ext cx="100584" cy="100584"/>
          </a:xfrm>
          <a:prstGeom prst="ellipse">
            <a:avLst/>
          </a:prstGeom>
          <a:solidFill>
            <a:srgbClr val="5DB872"/>
          </a:solidFill>
          <a:ln/>
        </p:spPr>
      </p:sp>
      <p:sp>
        <p:nvSpPr>
          <p:cNvPr id="8" name="url-319"/>
          <p:cNvSpPr/>
          <p:nvPr/>
        </p:nvSpPr>
        <p:spPr>
          <a:xfrm>
            <a:off x="1207008" y="1801368"/>
            <a:ext cx="6355080"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chemeClr val="accent5"/>
                </a:solidFill>
              </a:rPr>
              <a:t>127.0.0.1:8000/alumnos/graficos/dispersion/</a:t>
            </a:r>
            <a:endParaRPr lang="en-US" sz="1000" dirty="0"/>
          </a:p>
        </p:txBody>
      </p:sp>
      <p:pic>
        <p:nvPicPr>
          <p:cNvPr id="9" name="captura-320" descr="/private/tmp/claude-501/-Users-pablovaldiviamonzon-Desktop-cert-menes/6974cfb1-314e-48ac-991e-539c4c5dc99b/scratchpad/img/dispersion.jpg">    </p:cNvPr>
          <p:cNvPicPr>
            <a:picLocks noChangeAspect="1"/>
          </p:cNvPicPr>
          <p:nvPr/>
        </p:nvPicPr>
        <p:blipFill>
          <a:blip r:embed="rId1"/>
          <a:stretch>
            <a:fillRect/>
          </a:stretch>
        </p:blipFill>
        <p:spPr>
          <a:xfrm>
            <a:off x="594360" y="2066544"/>
            <a:ext cx="7086600" cy="3255407"/>
          </a:xfrm>
          <a:prstGeom prst="rect">
            <a:avLst/>
          </a:prstGeom>
        </p:spPr>
      </p:pic>
      <p:sp>
        <p:nvSpPr>
          <p:cNvPr id="10" name="texto-321"/>
          <p:cNvSpPr txBox="1"/>
          <p:nvPr/>
        </p:nvSpPr>
        <p:spPr>
          <a:xfrm>
            <a:off x="548640" y="5532263"/>
            <a:ext cx="7178040" cy="292608"/>
          </a:xfrm>
          <a:prstGeom prst="rect">
            <a:avLst/>
          </a:prstGeom>
          <a:noFill/>
          <a:ln/>
        </p:spPr>
        <p:txBody>
          <a:bodyPr wrap="square" lIns="0" tIns="0" rIns="0" bIns="0" rtlCol="0" anchor="t"/>
          <a:lstStyle/>
          <a:p>
            <a:pPr indent="0" marL="0">
              <a:buNone/>
            </a:pPr>
            <a:r>
              <a:rPr lang="en-US" sz="1300" dirty="0">
                <a:solidFill>
                  <a:schemeClr val="accent5"/>
                </a:solidFill>
              </a:rPr>
              <a:t>Vista views.graficoDispersion · Chart.js, tipo «scatter»</a:t>
            </a:r>
            <a:endParaRPr lang="en-US" sz="1300" dirty="0"/>
          </a:p>
        </p:txBody>
      </p:sp>
      <p:sp>
        <p:nvSpPr>
          <p:cNvPr id="11" name="tipo-322"/>
          <p:cNvSpPr/>
          <p:nvPr/>
        </p:nvSpPr>
        <p:spPr>
          <a:xfrm>
            <a:off x="8138160" y="1737360"/>
            <a:ext cx="1600200" cy="329184"/>
          </a:xfrm>
          <a:prstGeom prst="roundRect">
            <a:avLst>
              <a:gd name="adj" fmla="val 47222"/>
            </a:avLst>
          </a:prstGeom>
          <a:solidFill>
            <a:schemeClr val="bg2"/>
          </a:solidFill>
          <a:ln/>
        </p:spPr>
        <p:txBody>
          <a:bodyPr wrap="square" lIns="0" tIns="0" rIns="0" bIns="0" rtlCol="0" anchor="ctr"/>
          <a:lstStyle/>
          <a:p>
            <a:pPr algn="ctr" indent="0" marL="0">
              <a:buNone/>
            </a:pPr>
            <a:r>
              <a:rPr lang="en-US" sz="1200" b="1" spc="150" kern="0" dirty="0">
                <a:solidFill>
                  <a:schemeClr val="tx2"/>
                </a:solidFill>
              </a:rPr>
              <a:t>DISPERSIÓN</a:t>
            </a:r>
            <a:endParaRPr lang="en-US" sz="1200" dirty="0"/>
          </a:p>
        </p:txBody>
      </p:sp>
      <p:sp>
        <p:nvSpPr>
          <p:cNvPr id="12" name="texto-323"/>
          <p:cNvSpPr txBox="1"/>
          <p:nvPr/>
        </p:nvSpPr>
        <p:spPr>
          <a:xfrm>
            <a:off x="8138160" y="2212848"/>
            <a:ext cx="3504895" cy="731520"/>
          </a:xfrm>
          <a:prstGeom prst="rect">
            <a:avLst/>
          </a:prstGeom>
          <a:noFill/>
          <a:ln/>
        </p:spPr>
        <p:txBody>
          <a:bodyPr wrap="square" lIns="0" tIns="0" rIns="0" bIns="0" rtlCol="0" anchor="t"/>
          <a:lstStyle/>
          <a:p>
            <a:pPr indent="0" marL="0">
              <a:buNone/>
            </a:pPr>
            <a:r>
              <a:rPr lang="en-US" sz="4400" b="1" dirty="0">
                <a:solidFill>
                  <a:schemeClr val="accent1"/>
                </a:solidFill>
              </a:rPr>
              <a:t>205 / 205</a:t>
            </a:r>
            <a:endParaRPr lang="en-US" sz="4400" dirty="0"/>
          </a:p>
        </p:txBody>
      </p:sp>
      <p:sp>
        <p:nvSpPr>
          <p:cNvPr id="13" name="texto-324"/>
          <p:cNvSpPr txBox="1"/>
          <p:nvPr/>
        </p:nvSpPr>
        <p:spPr>
          <a:xfrm>
            <a:off x="8138160" y="2926080"/>
            <a:ext cx="3504895" cy="292608"/>
          </a:xfrm>
          <a:prstGeom prst="rect">
            <a:avLst/>
          </a:prstGeom>
          <a:noFill/>
          <a:ln/>
        </p:spPr>
        <p:txBody>
          <a:bodyPr wrap="square" lIns="0" tIns="0" rIns="0" bIns="0" rtlCol="0" anchor="t"/>
          <a:lstStyle/>
          <a:p>
            <a:pPr indent="0" marL="0">
              <a:buNone/>
            </a:pPr>
            <a:r>
              <a:rPr lang="en-US" sz="1400" dirty="0">
                <a:solidFill>
                  <a:schemeClr val="accent5"/>
                </a:solidFill>
              </a:rPr>
              <a:t>combinaciones de horas y nota presentes</a:t>
            </a:r>
            <a:endParaRPr lang="en-US" sz="1400" dirty="0"/>
          </a:p>
        </p:txBody>
      </p:sp>
      <p:sp>
        <p:nvSpPr>
          <p:cNvPr id="14" name="texto-325"/>
          <p:cNvSpPr txBox="1"/>
          <p:nvPr/>
        </p:nvSpPr>
        <p:spPr>
          <a:xfrm>
            <a:off x="8138160" y="3474720"/>
            <a:ext cx="3504895" cy="292608"/>
          </a:xfrm>
          <a:prstGeom prst="rect">
            <a:avLst/>
          </a:prstGeom>
          <a:noFill/>
          <a:ln/>
        </p:spPr>
        <p:txBody>
          <a:bodyPr wrap="square" lIns="0" tIns="0" rIns="0" bIns="0" rtlCol="0" anchor="t"/>
          <a:lstStyle/>
          <a:p>
            <a:pPr indent="0" marL="0">
              <a:buNone/>
            </a:pPr>
            <a:r>
              <a:rPr lang="en-US" sz="1600" b="1" dirty="0">
                <a:solidFill>
                  <a:schemeClr val="tx2"/>
                </a:solidFill>
              </a:rPr>
              <a:t>Por qué este tipo</a:t>
            </a:r>
            <a:endParaRPr lang="en-US" sz="1600" dirty="0"/>
          </a:p>
        </p:txBody>
      </p:sp>
      <p:sp>
        <p:nvSpPr>
          <p:cNvPr id="15" name="texto-326"/>
          <p:cNvSpPr txBox="1"/>
          <p:nvPr/>
        </p:nvSpPr>
        <p:spPr>
          <a:xfrm>
            <a:off x="8138160" y="3785616"/>
            <a:ext cx="3504895" cy="594360"/>
          </a:xfrm>
          <a:prstGeom prst="rect">
            <a:avLst/>
          </a:prstGeom>
          <a:noFill/>
          <a:ln/>
        </p:spPr>
        <p:txBody>
          <a:bodyPr wrap="square" lIns="0" tIns="0" rIns="0" bIns="0" rtlCol="0" anchor="t"/>
          <a:lstStyle/>
          <a:p>
            <a:pPr indent="0" marL="0">
              <a:buNone/>
            </a:pPr>
            <a:r>
              <a:rPr lang="en-US" sz="1400" dirty="0">
                <a:solidFill>
                  <a:schemeClr val="tx1"/>
                </a:solidFill>
              </a:rPr>
              <a:t>Cruza dos variables numéricas de cada trabajador.</a:t>
            </a:r>
            <a:endParaRPr lang="en-US" sz="1400" dirty="0"/>
          </a:p>
        </p:txBody>
      </p:sp>
      <p:sp>
        <p:nvSpPr>
          <p:cNvPr id="16" name="texto-327"/>
          <p:cNvSpPr txBox="1"/>
          <p:nvPr/>
        </p:nvSpPr>
        <p:spPr>
          <a:xfrm>
            <a:off x="8138160" y="4526280"/>
            <a:ext cx="3504895" cy="292608"/>
          </a:xfrm>
          <a:prstGeom prst="rect">
            <a:avLst/>
          </a:prstGeom>
          <a:noFill/>
          <a:ln/>
        </p:spPr>
        <p:txBody>
          <a:bodyPr wrap="square" lIns="0" tIns="0" rIns="0" bIns="0" rtlCol="0" anchor="t"/>
          <a:lstStyle/>
          <a:p>
            <a:pPr indent="0" marL="0">
              <a:buNone/>
            </a:pPr>
            <a:r>
              <a:rPr lang="en-US" sz="1600" b="1" dirty="0">
                <a:solidFill>
                  <a:schemeClr val="tx2"/>
                </a:solidFill>
              </a:rPr>
              <a:t>Qué muestra</a:t>
            </a:r>
            <a:endParaRPr lang="en-US" sz="1600" dirty="0"/>
          </a:p>
        </p:txBody>
      </p:sp>
      <p:sp>
        <p:nvSpPr>
          <p:cNvPr id="17" name="texto-328"/>
          <p:cNvSpPr txBox="1"/>
          <p:nvPr/>
        </p:nvSpPr>
        <p:spPr>
          <a:xfrm>
            <a:off x="8138160" y="4837176"/>
            <a:ext cx="3504895" cy="1371600"/>
          </a:xfrm>
          <a:prstGeom prst="rect">
            <a:avLst/>
          </a:prstGeom>
          <a:noFill/>
          <a:ln/>
        </p:spPr>
        <p:txBody>
          <a:bodyPr wrap="square" lIns="0" tIns="0" rIns="0" bIns="0" rtlCol="0" anchor="t"/>
          <a:lstStyle/>
          <a:p>
            <a:pPr indent="0" marL="0">
              <a:buNone/>
            </a:pPr>
            <a:r>
              <a:rPr lang="en-US" sz="1400" dirty="0">
                <a:solidFill>
                  <a:schemeClr val="tx1"/>
                </a:solidFill>
              </a:rPr>
              <a:t>La grilla está completa y la correlación es 0,00: más horas no cambian la nota. Confirma que los datos son sintéticos.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Navegabilidad entre gráficos</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Cualquier gráfico queda a dos clics del inicio</a:t>
            </a:r>
            <a:endParaRPr lang="en-US" sz="1600" dirty="0"/>
          </a:p>
        </p:txBody>
      </p:sp>
      <p:sp>
        <p:nvSpPr>
          <p:cNvPr id="4" name="inicio-329"/>
          <p:cNvSpPr/>
          <p:nvPr/>
        </p:nvSpPr>
        <p:spPr>
          <a:xfrm>
            <a:off x="548640" y="3310128"/>
            <a:ext cx="1325880" cy="777240"/>
          </a:xfrm>
          <a:prstGeom prst="roundRect">
            <a:avLst>
              <a:gd name="adj" fmla="val 9412"/>
            </a:avLst>
          </a:prstGeom>
          <a:solidFill>
            <a:schemeClr val="tx2"/>
          </a:solidFill>
          <a:ln/>
        </p:spPr>
        <p:txBody>
          <a:bodyPr wrap="square" lIns="0" tIns="0" rIns="0" bIns="0" rtlCol="0" anchor="ctr"/>
          <a:lstStyle/>
          <a:p>
            <a:pPr algn="ctr" indent="0" marL="0">
              <a:buNone/>
            </a:pPr>
            <a:r>
              <a:rPr lang="en-US" sz="1600" b="1" dirty="0">
                <a:solidFill>
                  <a:schemeClr val="bg1"/>
                </a:solidFill>
              </a:rPr>
              <a:t>Inicio</a:t>
            </a:r>
            <a:endParaRPr lang="en-US" sz="1600" dirty="0"/>
          </a:p>
          <a:p>
            <a:pPr algn="ctr" indent="0" marL="0">
              <a:buNone/>
            </a:pPr>
            <a:r>
              <a:rPr lang="en-US" sz="1100" dirty="0">
                <a:solidFill>
                  <a:schemeClr val="bg1"/>
                </a:solidFill>
              </a:rPr>
              <a:t>index.html</a:t>
            </a:r>
            <a:endParaRPr lang="en-US" sz="1600" dirty="0"/>
          </a:p>
        </p:txBody>
      </p:sp>
      <p:sp>
        <p:nvSpPr>
          <p:cNvPr id="5" name="linea-330"/>
          <p:cNvSpPr/>
          <p:nvPr/>
        </p:nvSpPr>
        <p:spPr>
          <a:xfrm>
            <a:off x="1874520" y="3698748"/>
            <a:ext cx="137160" cy="0"/>
          </a:xfrm>
          <a:prstGeom prst="line">
            <a:avLst/>
          </a:prstGeom>
          <a:noFill/>
          <a:ln w="19050">
            <a:solidFill>
              <a:schemeClr val="accent6"/>
            </a:solidFill>
            <a:prstDash val="solid"/>
          </a:ln>
        </p:spPr>
      </p:sp>
      <p:sp>
        <p:nvSpPr>
          <p:cNvPr id="6" name="linea-331"/>
          <p:cNvSpPr/>
          <p:nvPr/>
        </p:nvSpPr>
        <p:spPr>
          <a:xfrm flipV="1">
            <a:off x="2011680" y="2478024"/>
            <a:ext cx="0" cy="1220724"/>
          </a:xfrm>
          <a:prstGeom prst="line">
            <a:avLst/>
          </a:prstGeom>
          <a:noFill/>
          <a:ln w="19050">
            <a:solidFill>
              <a:schemeClr val="accent6"/>
            </a:solidFill>
            <a:prstDash val="solid"/>
          </a:ln>
        </p:spPr>
      </p:sp>
      <p:sp>
        <p:nvSpPr>
          <p:cNvPr id="7" name="linea-332"/>
          <p:cNvSpPr/>
          <p:nvPr/>
        </p:nvSpPr>
        <p:spPr>
          <a:xfrm>
            <a:off x="2011680" y="2478024"/>
            <a:ext cx="274320" cy="0"/>
          </a:xfrm>
          <a:prstGeom prst="line">
            <a:avLst/>
          </a:prstGeom>
          <a:noFill/>
          <a:ln w="19050">
            <a:solidFill>
              <a:schemeClr val="accent6"/>
            </a:solidFill>
            <a:prstDash val="solid"/>
            <a:tailEnd type="triangle"/>
          </a:ln>
        </p:spPr>
      </p:sp>
      <p:sp>
        <p:nvSpPr>
          <p:cNvPr id="8" name="rama-333"/>
          <p:cNvSpPr/>
          <p:nvPr/>
        </p:nvSpPr>
        <p:spPr>
          <a:xfrm>
            <a:off x="2286000" y="2157984"/>
            <a:ext cx="1691640" cy="640080"/>
          </a:xfrm>
          <a:prstGeom prst="roundRect">
            <a:avLst>
              <a:gd name="adj" fmla="val 11429"/>
            </a:avLst>
          </a:prstGeom>
          <a:solidFill>
            <a:schemeClr val="accent2"/>
          </a:solidFill>
          <a:ln/>
        </p:spPr>
        <p:txBody>
          <a:bodyPr wrap="square" lIns="0" tIns="0" rIns="0" bIns="0" rtlCol="0" anchor="ctr"/>
          <a:lstStyle/>
          <a:p>
            <a:pPr algn="ctr" indent="0" marL="0">
              <a:buNone/>
            </a:pPr>
            <a:r>
              <a:rPr lang="en-US" sz="1500" b="1" dirty="0">
                <a:solidFill>
                  <a:schemeClr val="bg1"/>
                </a:solidFill>
              </a:rPr>
              <a:t>Listado de datos</a:t>
            </a:r>
            <a:endParaRPr lang="en-US" sz="1500" dirty="0"/>
          </a:p>
        </p:txBody>
      </p:sp>
      <p:sp>
        <p:nvSpPr>
          <p:cNvPr id="9" name="linea-334"/>
          <p:cNvSpPr/>
          <p:nvPr/>
        </p:nvSpPr>
        <p:spPr>
          <a:xfrm>
            <a:off x="3977640" y="2478024"/>
            <a:ext cx="228600" cy="0"/>
          </a:xfrm>
          <a:prstGeom prst="line">
            <a:avLst/>
          </a:prstGeom>
          <a:noFill/>
          <a:ln w="19050">
            <a:solidFill>
              <a:schemeClr val="accent6"/>
            </a:solidFill>
            <a:prstDash val="solid"/>
          </a:ln>
        </p:spPr>
      </p:sp>
      <p:sp>
        <p:nvSpPr>
          <p:cNvPr id="10" name="linea-335"/>
          <p:cNvSpPr/>
          <p:nvPr/>
        </p:nvSpPr>
        <p:spPr>
          <a:xfrm flipV="1">
            <a:off x="4206240" y="1984248"/>
            <a:ext cx="0" cy="493776"/>
          </a:xfrm>
          <a:prstGeom prst="line">
            <a:avLst/>
          </a:prstGeom>
          <a:noFill/>
          <a:ln w="19050">
            <a:solidFill>
              <a:schemeClr val="accent6"/>
            </a:solidFill>
            <a:prstDash val="solid"/>
          </a:ln>
        </p:spPr>
      </p:sp>
      <p:sp>
        <p:nvSpPr>
          <p:cNvPr id="11" name="linea-336"/>
          <p:cNvSpPr/>
          <p:nvPr/>
        </p:nvSpPr>
        <p:spPr>
          <a:xfrm>
            <a:off x="4206240" y="1984248"/>
            <a:ext cx="228600" cy="0"/>
          </a:xfrm>
          <a:prstGeom prst="line">
            <a:avLst/>
          </a:prstGeom>
          <a:noFill/>
          <a:ln w="19050">
            <a:solidFill>
              <a:schemeClr val="accent6"/>
            </a:solidFill>
            <a:prstDash val="solid"/>
            <a:tailEnd type="triangle"/>
          </a:ln>
        </p:spPr>
      </p:sp>
      <p:sp>
        <p:nvSpPr>
          <p:cNvPr id="12" name="hoja-337"/>
          <p:cNvSpPr/>
          <p:nvPr/>
        </p:nvSpPr>
        <p:spPr>
          <a:xfrm>
            <a:off x="4434840" y="1783080"/>
            <a:ext cx="2697480" cy="402336"/>
          </a:xfrm>
          <a:prstGeom prst="roundRect">
            <a:avLst>
              <a:gd name="adj" fmla="val 13636"/>
            </a:avLst>
          </a:prstGeom>
          <a:solidFill>
            <a:schemeClr val="bg1"/>
          </a:solidFill>
          <a:ln w="12700">
            <a:solidFill>
              <a:schemeClr val="accent6"/>
            </a:solidFill>
          </a:ln>
        </p:spPr>
        <p:txBody>
          <a:bodyPr wrap="square" lIns="101600" tIns="0" rIns="101600" bIns="0" rtlCol="0" anchor="ctr"/>
          <a:lstStyle/>
          <a:p>
            <a:pPr indent="0" marL="0">
              <a:buNone/>
            </a:pPr>
            <a:r>
              <a:rPr lang="en-US" sz="1300" dirty="0">
                <a:solidFill>
                  <a:schemeClr val="tx1"/>
                </a:solidFill>
              </a:rPr>
              <a:t>Trabajadores por industria</a:t>
            </a:r>
            <a:endParaRPr lang="en-US" sz="1300" dirty="0"/>
          </a:p>
        </p:txBody>
      </p:sp>
      <p:sp>
        <p:nvSpPr>
          <p:cNvPr id="13" name="linea-338"/>
          <p:cNvSpPr/>
          <p:nvPr/>
        </p:nvSpPr>
        <p:spPr>
          <a:xfrm>
            <a:off x="4206240" y="2478024"/>
            <a:ext cx="228600" cy="0"/>
          </a:xfrm>
          <a:prstGeom prst="line">
            <a:avLst/>
          </a:prstGeom>
          <a:noFill/>
          <a:ln w="19050">
            <a:solidFill>
              <a:schemeClr val="accent6"/>
            </a:solidFill>
            <a:prstDash val="solid"/>
            <a:tailEnd type="triangle"/>
          </a:ln>
        </p:spPr>
      </p:sp>
      <p:sp>
        <p:nvSpPr>
          <p:cNvPr id="14" name="hoja-339"/>
          <p:cNvSpPr/>
          <p:nvPr/>
        </p:nvSpPr>
        <p:spPr>
          <a:xfrm>
            <a:off x="4434840" y="2276856"/>
            <a:ext cx="2697480" cy="402336"/>
          </a:xfrm>
          <a:prstGeom prst="roundRect">
            <a:avLst>
              <a:gd name="adj" fmla="val 13636"/>
            </a:avLst>
          </a:prstGeom>
          <a:solidFill>
            <a:schemeClr val="bg1"/>
          </a:solidFill>
          <a:ln w="12700">
            <a:solidFill>
              <a:schemeClr val="accent6"/>
            </a:solidFill>
          </a:ln>
        </p:spPr>
        <p:txBody>
          <a:bodyPr wrap="square" lIns="101600" tIns="0" rIns="101600" bIns="0" rtlCol="0" anchor="ctr"/>
          <a:lstStyle/>
          <a:p>
            <a:pPr indent="0" marL="0">
              <a:buNone/>
            </a:pPr>
            <a:r>
              <a:rPr lang="en-US" sz="1300" dirty="0">
                <a:solidFill>
                  <a:schemeClr val="tx1"/>
                </a:solidFill>
              </a:rPr>
              <a:t>Horas trabajadas según edad</a:t>
            </a:r>
            <a:endParaRPr lang="en-US" sz="1300" dirty="0"/>
          </a:p>
        </p:txBody>
      </p:sp>
      <p:sp>
        <p:nvSpPr>
          <p:cNvPr id="15" name="linea-340"/>
          <p:cNvSpPr/>
          <p:nvPr/>
        </p:nvSpPr>
        <p:spPr>
          <a:xfrm>
            <a:off x="4206240" y="2478024"/>
            <a:ext cx="0" cy="493776"/>
          </a:xfrm>
          <a:prstGeom prst="line">
            <a:avLst/>
          </a:prstGeom>
          <a:noFill/>
          <a:ln w="19050">
            <a:solidFill>
              <a:schemeClr val="accent6"/>
            </a:solidFill>
            <a:prstDash val="solid"/>
          </a:ln>
        </p:spPr>
      </p:sp>
      <p:sp>
        <p:nvSpPr>
          <p:cNvPr id="16" name="linea-341"/>
          <p:cNvSpPr/>
          <p:nvPr/>
        </p:nvSpPr>
        <p:spPr>
          <a:xfrm>
            <a:off x="4206240" y="2971800"/>
            <a:ext cx="228600" cy="0"/>
          </a:xfrm>
          <a:prstGeom prst="line">
            <a:avLst/>
          </a:prstGeom>
          <a:noFill/>
          <a:ln w="19050">
            <a:solidFill>
              <a:schemeClr val="accent6"/>
            </a:solidFill>
            <a:prstDash val="solid"/>
            <a:tailEnd type="triangle"/>
          </a:ln>
        </p:spPr>
      </p:sp>
      <p:sp>
        <p:nvSpPr>
          <p:cNvPr id="17" name="hoja-342"/>
          <p:cNvSpPr/>
          <p:nvPr/>
        </p:nvSpPr>
        <p:spPr>
          <a:xfrm>
            <a:off x="4434840" y="2770632"/>
            <a:ext cx="2697480" cy="402336"/>
          </a:xfrm>
          <a:prstGeom prst="roundRect">
            <a:avLst>
              <a:gd name="adj" fmla="val 13636"/>
            </a:avLst>
          </a:prstGeom>
          <a:solidFill>
            <a:schemeClr val="bg1"/>
          </a:solidFill>
          <a:ln w="12700">
            <a:solidFill>
              <a:schemeClr val="accent6"/>
            </a:solidFill>
          </a:ln>
        </p:spPr>
        <p:txBody>
          <a:bodyPr wrap="square" lIns="101600" tIns="0" rIns="101600" bIns="0" rtlCol="0" anchor="ctr"/>
          <a:lstStyle/>
          <a:p>
            <a:pPr indent="0" marL="0">
              <a:buNone/>
            </a:pPr>
            <a:r>
              <a:rPr lang="en-US" sz="1300" dirty="0">
                <a:solidFill>
                  <a:schemeClr val="tx1"/>
                </a:solidFill>
              </a:rPr>
              <a:t>Equilibrio entre vida y trabajo</a:t>
            </a:r>
            <a:endParaRPr lang="en-US" sz="1300" dirty="0"/>
          </a:p>
        </p:txBody>
      </p:sp>
      <p:sp>
        <p:nvSpPr>
          <p:cNvPr id="18" name="linea-343"/>
          <p:cNvSpPr/>
          <p:nvPr/>
        </p:nvSpPr>
        <p:spPr>
          <a:xfrm>
            <a:off x="2011680" y="3698748"/>
            <a:ext cx="0" cy="1202436"/>
          </a:xfrm>
          <a:prstGeom prst="line">
            <a:avLst/>
          </a:prstGeom>
          <a:noFill/>
          <a:ln w="19050">
            <a:solidFill>
              <a:schemeClr val="accent6"/>
            </a:solidFill>
            <a:prstDash val="solid"/>
          </a:ln>
        </p:spPr>
      </p:sp>
      <p:sp>
        <p:nvSpPr>
          <p:cNvPr id="19" name="linea-344"/>
          <p:cNvSpPr/>
          <p:nvPr/>
        </p:nvSpPr>
        <p:spPr>
          <a:xfrm>
            <a:off x="2011680" y="4901184"/>
            <a:ext cx="274320" cy="0"/>
          </a:xfrm>
          <a:prstGeom prst="line">
            <a:avLst/>
          </a:prstGeom>
          <a:noFill/>
          <a:ln w="19050">
            <a:solidFill>
              <a:schemeClr val="accent6"/>
            </a:solidFill>
            <a:prstDash val="solid"/>
            <a:tailEnd type="triangle"/>
          </a:ln>
        </p:spPr>
      </p:sp>
      <p:sp>
        <p:nvSpPr>
          <p:cNvPr id="20" name="rama-345"/>
          <p:cNvSpPr/>
          <p:nvPr/>
        </p:nvSpPr>
        <p:spPr>
          <a:xfrm>
            <a:off x="2286000" y="4581144"/>
            <a:ext cx="1691640" cy="640080"/>
          </a:xfrm>
          <a:prstGeom prst="roundRect">
            <a:avLst>
              <a:gd name="adj" fmla="val 11429"/>
            </a:avLst>
          </a:prstGeom>
          <a:solidFill>
            <a:schemeClr val="accent1"/>
          </a:solidFill>
          <a:ln/>
        </p:spPr>
        <p:txBody>
          <a:bodyPr wrap="square" lIns="0" tIns="0" rIns="0" bIns="0" rtlCol="0" anchor="ctr"/>
          <a:lstStyle/>
          <a:p>
            <a:pPr algn="ctr" indent="0" marL="0">
              <a:buNone/>
            </a:pPr>
            <a:r>
              <a:rPr lang="en-US" sz="1500" b="1" dirty="0">
                <a:solidFill>
                  <a:schemeClr val="bg1"/>
                </a:solidFill>
              </a:rPr>
              <a:t>Gráficos</a:t>
            </a:r>
            <a:endParaRPr lang="en-US" sz="1500" dirty="0"/>
          </a:p>
        </p:txBody>
      </p:sp>
      <p:sp>
        <p:nvSpPr>
          <p:cNvPr id="21" name="linea-346"/>
          <p:cNvSpPr/>
          <p:nvPr/>
        </p:nvSpPr>
        <p:spPr>
          <a:xfrm>
            <a:off x="3977640" y="4901184"/>
            <a:ext cx="228600" cy="0"/>
          </a:xfrm>
          <a:prstGeom prst="line">
            <a:avLst/>
          </a:prstGeom>
          <a:noFill/>
          <a:ln w="19050">
            <a:solidFill>
              <a:schemeClr val="accent6"/>
            </a:solidFill>
            <a:prstDash val="solid"/>
          </a:ln>
        </p:spPr>
      </p:sp>
      <p:sp>
        <p:nvSpPr>
          <p:cNvPr id="22" name="linea-347"/>
          <p:cNvSpPr/>
          <p:nvPr/>
        </p:nvSpPr>
        <p:spPr>
          <a:xfrm flipV="1">
            <a:off x="4206240" y="4407408"/>
            <a:ext cx="0" cy="493776"/>
          </a:xfrm>
          <a:prstGeom prst="line">
            <a:avLst/>
          </a:prstGeom>
          <a:noFill/>
          <a:ln w="19050">
            <a:solidFill>
              <a:schemeClr val="accent6"/>
            </a:solidFill>
            <a:prstDash val="solid"/>
          </a:ln>
        </p:spPr>
      </p:sp>
      <p:sp>
        <p:nvSpPr>
          <p:cNvPr id="23" name="linea-348"/>
          <p:cNvSpPr/>
          <p:nvPr/>
        </p:nvSpPr>
        <p:spPr>
          <a:xfrm>
            <a:off x="4206240" y="4407408"/>
            <a:ext cx="228600" cy="0"/>
          </a:xfrm>
          <a:prstGeom prst="line">
            <a:avLst/>
          </a:prstGeom>
          <a:noFill/>
          <a:ln w="19050">
            <a:solidFill>
              <a:schemeClr val="accent6"/>
            </a:solidFill>
            <a:prstDash val="solid"/>
            <a:tailEnd type="triangle"/>
          </a:ln>
        </p:spPr>
      </p:sp>
      <p:sp>
        <p:nvSpPr>
          <p:cNvPr id="24" name="hoja-349"/>
          <p:cNvSpPr/>
          <p:nvPr/>
        </p:nvSpPr>
        <p:spPr>
          <a:xfrm>
            <a:off x="4434840" y="4206240"/>
            <a:ext cx="2697480" cy="402336"/>
          </a:xfrm>
          <a:prstGeom prst="roundRect">
            <a:avLst>
              <a:gd name="adj" fmla="val 13636"/>
            </a:avLst>
          </a:prstGeom>
          <a:solidFill>
            <a:schemeClr val="bg1"/>
          </a:solidFill>
          <a:ln w="12700">
            <a:solidFill>
              <a:schemeClr val="accent6"/>
            </a:solidFill>
          </a:ln>
        </p:spPr>
        <p:txBody>
          <a:bodyPr wrap="square" lIns="101600" tIns="0" rIns="101600" bIns="0" rtlCol="0" anchor="ctr"/>
          <a:lstStyle/>
          <a:p>
            <a:pPr indent="0" marL="0">
              <a:buNone/>
            </a:pPr>
            <a:r>
              <a:rPr lang="en-US" sz="1300" dirty="0">
                <a:solidFill>
                  <a:schemeClr val="tx1"/>
                </a:solidFill>
              </a:rPr>
              <a:t>Barras · por industria</a:t>
            </a:r>
            <a:endParaRPr lang="en-US" sz="1300" dirty="0"/>
          </a:p>
        </p:txBody>
      </p:sp>
      <p:sp>
        <p:nvSpPr>
          <p:cNvPr id="25" name="linea-350"/>
          <p:cNvSpPr/>
          <p:nvPr/>
        </p:nvSpPr>
        <p:spPr>
          <a:xfrm>
            <a:off x="4206240" y="4901184"/>
            <a:ext cx="228600" cy="0"/>
          </a:xfrm>
          <a:prstGeom prst="line">
            <a:avLst/>
          </a:prstGeom>
          <a:noFill/>
          <a:ln w="19050">
            <a:solidFill>
              <a:schemeClr val="accent6"/>
            </a:solidFill>
            <a:prstDash val="solid"/>
            <a:tailEnd type="triangle"/>
          </a:ln>
        </p:spPr>
      </p:sp>
      <p:sp>
        <p:nvSpPr>
          <p:cNvPr id="26" name="hoja-351"/>
          <p:cNvSpPr/>
          <p:nvPr/>
        </p:nvSpPr>
        <p:spPr>
          <a:xfrm>
            <a:off x="4434840" y="4700016"/>
            <a:ext cx="2697480" cy="402336"/>
          </a:xfrm>
          <a:prstGeom prst="roundRect">
            <a:avLst>
              <a:gd name="adj" fmla="val 13636"/>
            </a:avLst>
          </a:prstGeom>
          <a:solidFill>
            <a:schemeClr val="bg1"/>
          </a:solidFill>
          <a:ln w="12700">
            <a:solidFill>
              <a:schemeClr val="accent6"/>
            </a:solidFill>
          </a:ln>
        </p:spPr>
        <p:txBody>
          <a:bodyPr wrap="square" lIns="101600" tIns="0" rIns="101600" bIns="0" rtlCol="0" anchor="ctr"/>
          <a:lstStyle/>
          <a:p>
            <a:pPr indent="0" marL="0">
              <a:buNone/>
            </a:pPr>
            <a:r>
              <a:rPr lang="en-US" sz="1300" dirty="0">
                <a:solidFill>
                  <a:schemeClr val="tx1"/>
                </a:solidFill>
              </a:rPr>
              <a:t>Líneas · horas según edad</a:t>
            </a:r>
            <a:endParaRPr lang="en-US" sz="1300" dirty="0"/>
          </a:p>
        </p:txBody>
      </p:sp>
      <p:sp>
        <p:nvSpPr>
          <p:cNvPr id="27" name="linea-352"/>
          <p:cNvSpPr/>
          <p:nvPr/>
        </p:nvSpPr>
        <p:spPr>
          <a:xfrm>
            <a:off x="4206240" y="4901184"/>
            <a:ext cx="0" cy="493776"/>
          </a:xfrm>
          <a:prstGeom prst="line">
            <a:avLst/>
          </a:prstGeom>
          <a:noFill/>
          <a:ln w="19050">
            <a:solidFill>
              <a:schemeClr val="accent6"/>
            </a:solidFill>
            <a:prstDash val="solid"/>
          </a:ln>
        </p:spPr>
      </p:sp>
      <p:sp>
        <p:nvSpPr>
          <p:cNvPr id="28" name="linea-353"/>
          <p:cNvSpPr/>
          <p:nvPr/>
        </p:nvSpPr>
        <p:spPr>
          <a:xfrm>
            <a:off x="4206240" y="5394960"/>
            <a:ext cx="228600" cy="0"/>
          </a:xfrm>
          <a:prstGeom prst="line">
            <a:avLst/>
          </a:prstGeom>
          <a:noFill/>
          <a:ln w="19050">
            <a:solidFill>
              <a:schemeClr val="accent6"/>
            </a:solidFill>
            <a:prstDash val="solid"/>
            <a:tailEnd type="triangle"/>
          </a:ln>
        </p:spPr>
      </p:sp>
      <p:sp>
        <p:nvSpPr>
          <p:cNvPr id="29" name="hoja-354"/>
          <p:cNvSpPr/>
          <p:nvPr/>
        </p:nvSpPr>
        <p:spPr>
          <a:xfrm>
            <a:off x="4434840" y="5193792"/>
            <a:ext cx="2697480" cy="402336"/>
          </a:xfrm>
          <a:prstGeom prst="roundRect">
            <a:avLst>
              <a:gd name="adj" fmla="val 13636"/>
            </a:avLst>
          </a:prstGeom>
          <a:solidFill>
            <a:schemeClr val="bg1"/>
          </a:solidFill>
          <a:ln w="12700">
            <a:solidFill>
              <a:schemeClr val="accent6"/>
            </a:solidFill>
          </a:ln>
        </p:spPr>
        <p:txBody>
          <a:bodyPr wrap="square" lIns="101600" tIns="0" rIns="101600" bIns="0" rtlCol="0" anchor="ctr"/>
          <a:lstStyle/>
          <a:p>
            <a:pPr indent="0" marL="0">
              <a:buNone/>
            </a:pPr>
            <a:r>
              <a:rPr lang="en-US" sz="1300" dirty="0">
                <a:solidFill>
                  <a:schemeClr val="tx1"/>
                </a:solidFill>
              </a:rPr>
              <a:t>Dispersión · horas y equilibrio</a:t>
            </a:r>
            <a:endParaRPr lang="en-US" sz="1300" dirty="0"/>
          </a:p>
        </p:txBody>
      </p:sp>
      <p:sp>
        <p:nvSpPr>
          <p:cNvPr id="30" name="circulo-355"/>
          <p:cNvSpPr/>
          <p:nvPr/>
        </p:nvSpPr>
        <p:spPr>
          <a:xfrm>
            <a:off x="7635240" y="1783080"/>
            <a:ext cx="566928" cy="566928"/>
          </a:xfrm>
          <a:prstGeom prst="ellipse">
            <a:avLst/>
          </a:prstGeom>
          <a:solidFill>
            <a:schemeClr val="tx2"/>
          </a:solidFill>
          <a:ln/>
        </p:spPr>
      </p:sp>
      <p:pic>
        <p:nvPicPr>
          <p:cNvPr id="31" name="icono-356" descr="preencoded.png">    </p:cNvPr>
          <p:cNvPicPr>
            <a:picLocks noChangeAspect="1"/>
          </p:cNvPicPr>
          <p:nvPr/>
        </p:nvPicPr>
        <p:blipFill>
          <a:blip r:embed="rId1"/>
          <a:stretch>
            <a:fillRect/>
          </a:stretch>
        </p:blipFill>
        <p:spPr>
          <a:xfrm>
            <a:off x="7782641" y="1930481"/>
            <a:ext cx="272125" cy="272125"/>
          </a:xfrm>
          <a:prstGeom prst="rect">
            <a:avLst/>
          </a:prstGeom>
        </p:spPr>
      </p:pic>
      <p:sp>
        <p:nvSpPr>
          <p:cNvPr id="32" name="texto-357"/>
          <p:cNvSpPr txBox="1"/>
          <p:nvPr/>
        </p:nvSpPr>
        <p:spPr>
          <a:xfrm>
            <a:off x="8412480" y="1801368"/>
            <a:ext cx="3230575" cy="329184"/>
          </a:xfrm>
          <a:prstGeom prst="rect">
            <a:avLst/>
          </a:prstGeom>
          <a:noFill/>
          <a:ln/>
        </p:spPr>
        <p:txBody>
          <a:bodyPr wrap="square" lIns="0" tIns="0" rIns="0" bIns="0" rtlCol="0" anchor="t"/>
          <a:lstStyle/>
          <a:p>
            <a:pPr indent="0" marL="0">
              <a:buNone/>
            </a:pPr>
            <a:r>
              <a:rPr lang="en-US" sz="1800" b="1" dirty="0">
                <a:solidFill>
                  <a:schemeClr val="tx2"/>
                </a:solidFill>
              </a:rPr>
              <a:t>Menú lateral</a:t>
            </a:r>
            <a:endParaRPr lang="en-US" sz="1800" dirty="0"/>
          </a:p>
        </p:txBody>
      </p:sp>
      <p:sp>
        <p:nvSpPr>
          <p:cNvPr id="33" name="texto-358"/>
          <p:cNvSpPr txBox="1"/>
          <p:nvPr/>
        </p:nvSpPr>
        <p:spPr>
          <a:xfrm>
            <a:off x="8412480" y="2194560"/>
            <a:ext cx="3230575" cy="868680"/>
          </a:xfrm>
          <a:prstGeom prst="rect">
            <a:avLst/>
          </a:prstGeom>
          <a:noFill/>
          <a:ln/>
        </p:spPr>
        <p:txBody>
          <a:bodyPr wrap="square" lIns="0" tIns="0" rIns="0" bIns="0" rtlCol="0" anchor="t"/>
          <a:lstStyle/>
          <a:p>
            <a:pPr indent="0" marL="0">
              <a:buNone/>
            </a:pPr>
            <a:r>
              <a:rPr lang="en-US" sz="1400" dirty="0">
                <a:solidFill>
                  <a:schemeClr val="tx1"/>
                </a:solidFill>
              </a:rPr>
              <a:t>Está en todas las páginas y llega a las 6 vistas.</a:t>
            </a:r>
            <a:endParaRPr lang="en-US" sz="1400" dirty="0"/>
          </a:p>
        </p:txBody>
      </p:sp>
      <p:sp>
        <p:nvSpPr>
          <p:cNvPr id="34" name="circulo-359"/>
          <p:cNvSpPr/>
          <p:nvPr/>
        </p:nvSpPr>
        <p:spPr>
          <a:xfrm>
            <a:off x="7635240" y="3246120"/>
            <a:ext cx="566928" cy="566928"/>
          </a:xfrm>
          <a:prstGeom prst="ellipse">
            <a:avLst/>
          </a:prstGeom>
          <a:solidFill>
            <a:schemeClr val="tx2"/>
          </a:solidFill>
          <a:ln/>
        </p:spPr>
      </p:sp>
      <p:pic>
        <p:nvPicPr>
          <p:cNvPr id="35" name="icono-360" descr="preencoded.png">    </p:cNvPr>
          <p:cNvPicPr>
            <a:picLocks noChangeAspect="1"/>
          </p:cNvPicPr>
          <p:nvPr/>
        </p:nvPicPr>
        <p:blipFill>
          <a:blip r:embed="rId2"/>
          <a:stretch>
            <a:fillRect/>
          </a:stretch>
        </p:blipFill>
        <p:spPr>
          <a:xfrm>
            <a:off x="7782641" y="3393521"/>
            <a:ext cx="272125" cy="272125"/>
          </a:xfrm>
          <a:prstGeom prst="rect">
            <a:avLst/>
          </a:prstGeom>
        </p:spPr>
      </p:pic>
      <p:sp>
        <p:nvSpPr>
          <p:cNvPr id="36" name="texto-361"/>
          <p:cNvSpPr txBox="1"/>
          <p:nvPr/>
        </p:nvSpPr>
        <p:spPr>
          <a:xfrm>
            <a:off x="8412480" y="3264408"/>
            <a:ext cx="3230575" cy="329184"/>
          </a:xfrm>
          <a:prstGeom prst="rect">
            <a:avLst/>
          </a:prstGeom>
          <a:noFill/>
          <a:ln/>
        </p:spPr>
        <p:txBody>
          <a:bodyPr wrap="square" lIns="0" tIns="0" rIns="0" bIns="0" rtlCol="0" anchor="t"/>
          <a:lstStyle/>
          <a:p>
            <a:pPr indent="0" marL="0">
              <a:buNone/>
            </a:pPr>
            <a:r>
              <a:rPr lang="en-US" sz="1800" b="1" dirty="0">
                <a:solidFill>
                  <a:schemeClr val="tx2"/>
                </a:solidFill>
              </a:rPr>
              <a:t>Tarjetas</a:t>
            </a:r>
            <a:endParaRPr lang="en-US" sz="1800" dirty="0"/>
          </a:p>
        </p:txBody>
      </p:sp>
      <p:sp>
        <p:nvSpPr>
          <p:cNvPr id="37" name="texto-362"/>
          <p:cNvSpPr txBox="1"/>
          <p:nvPr/>
        </p:nvSpPr>
        <p:spPr>
          <a:xfrm>
            <a:off x="8412480" y="3657600"/>
            <a:ext cx="3230575" cy="868680"/>
          </a:xfrm>
          <a:prstGeom prst="rect">
            <a:avLst/>
          </a:prstGeom>
          <a:noFill/>
          <a:ln/>
        </p:spPr>
        <p:txBody>
          <a:bodyPr wrap="square" lIns="0" tIns="0" rIns="0" bIns="0" rtlCol="0" anchor="t"/>
          <a:lstStyle/>
          <a:p>
            <a:pPr indent="0" marL="0">
              <a:buNone/>
            </a:pPr>
            <a:r>
              <a:rPr lang="en-US" sz="1400" dirty="0">
                <a:solidFill>
                  <a:schemeClr val="tx1"/>
                </a:solidFill>
              </a:rPr>
              <a:t>Inicio → Gráficos → cada gráfico: dos clics.</a:t>
            </a:r>
            <a:endParaRPr lang="en-US" sz="1400" dirty="0"/>
          </a:p>
        </p:txBody>
      </p:sp>
      <p:sp>
        <p:nvSpPr>
          <p:cNvPr id="38" name="circulo-363"/>
          <p:cNvSpPr/>
          <p:nvPr/>
        </p:nvSpPr>
        <p:spPr>
          <a:xfrm>
            <a:off x="7635240" y="4709160"/>
            <a:ext cx="566928" cy="566928"/>
          </a:xfrm>
          <a:prstGeom prst="ellipse">
            <a:avLst/>
          </a:prstGeom>
          <a:solidFill>
            <a:schemeClr val="tx2"/>
          </a:solidFill>
          <a:ln/>
        </p:spPr>
      </p:sp>
      <p:pic>
        <p:nvPicPr>
          <p:cNvPr id="39" name="icono-364" descr="preencoded.png">    </p:cNvPr>
          <p:cNvPicPr>
            <a:picLocks noChangeAspect="1"/>
          </p:cNvPicPr>
          <p:nvPr/>
        </p:nvPicPr>
        <p:blipFill>
          <a:blip r:embed="rId3"/>
          <a:stretch>
            <a:fillRect/>
          </a:stretch>
        </p:blipFill>
        <p:spPr>
          <a:xfrm>
            <a:off x="7782641" y="4856561"/>
            <a:ext cx="272125" cy="272125"/>
          </a:xfrm>
          <a:prstGeom prst="rect">
            <a:avLst/>
          </a:prstGeom>
        </p:spPr>
      </p:pic>
      <p:sp>
        <p:nvSpPr>
          <p:cNvPr id="40" name="texto-365"/>
          <p:cNvSpPr txBox="1"/>
          <p:nvPr/>
        </p:nvSpPr>
        <p:spPr>
          <a:xfrm>
            <a:off x="8412480" y="4727448"/>
            <a:ext cx="3230575" cy="329184"/>
          </a:xfrm>
          <a:prstGeom prst="rect">
            <a:avLst/>
          </a:prstGeom>
          <a:noFill/>
          <a:ln/>
        </p:spPr>
        <p:txBody>
          <a:bodyPr wrap="square" lIns="0" tIns="0" rIns="0" bIns="0" rtlCol="0" anchor="t"/>
          <a:lstStyle/>
          <a:p>
            <a:pPr indent="0" marL="0">
              <a:buNone/>
            </a:pPr>
            <a:r>
              <a:rPr lang="en-US" sz="1800" b="1" dirty="0">
                <a:solidFill>
                  <a:schemeClr val="tx2"/>
                </a:solidFill>
              </a:rPr>
              <a:t>Botones Volver</a:t>
            </a:r>
            <a:endParaRPr lang="en-US" sz="1800" dirty="0"/>
          </a:p>
        </p:txBody>
      </p:sp>
      <p:sp>
        <p:nvSpPr>
          <p:cNvPr id="41" name="texto-366"/>
          <p:cNvSpPr txBox="1"/>
          <p:nvPr/>
        </p:nvSpPr>
        <p:spPr>
          <a:xfrm>
            <a:off x="8412480" y="5120640"/>
            <a:ext cx="3230575" cy="868680"/>
          </a:xfrm>
          <a:prstGeom prst="rect">
            <a:avLst/>
          </a:prstGeom>
          <a:noFill/>
          <a:ln/>
        </p:spPr>
        <p:txBody>
          <a:bodyPr wrap="square" lIns="0" tIns="0" rIns="0" bIns="0" rtlCol="0" anchor="t"/>
          <a:lstStyle/>
          <a:p>
            <a:pPr indent="0" marL="0">
              <a:buNone/>
            </a:pPr>
            <a:r>
              <a:rPr lang="en-US" sz="1400" dirty="0">
                <a:solidFill>
                  <a:schemeClr val="tx1"/>
                </a:solidFill>
              </a:rPr>
              <a:t>Volver a inicio y volver a gráficos o a listados, al pie de cada página.</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Funcionalidades generales y reglas de negocio</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Tres listados con los datos resumidos y las reglas que los calculan</a:t>
            </a:r>
            <a:endParaRPr lang="en-US" sz="1600" dirty="0"/>
          </a:p>
        </p:txBody>
      </p:sp>
      <p:sp>
        <p:nvSpPr>
          <p:cNvPr id="4" name="numero-367"/>
          <p:cNvSpPr/>
          <p:nvPr/>
        </p:nvSpPr>
        <p:spPr>
          <a:xfrm>
            <a:off x="548640" y="173736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o-368"/>
          <p:cNvSpPr txBox="1"/>
          <p:nvPr/>
        </p:nvSpPr>
        <p:spPr>
          <a:xfrm>
            <a:off x="1143000" y="1691640"/>
            <a:ext cx="5486400" cy="310896"/>
          </a:xfrm>
          <a:prstGeom prst="rect">
            <a:avLst/>
          </a:prstGeom>
          <a:noFill/>
          <a:ln/>
        </p:spPr>
        <p:txBody>
          <a:bodyPr wrap="square" lIns="0" tIns="0" rIns="0" bIns="0" rtlCol="0" anchor="t"/>
          <a:lstStyle/>
          <a:p>
            <a:pPr indent="0" marL="0">
              <a:buNone/>
            </a:pPr>
            <a:r>
              <a:rPr lang="en-US" sz="1700" b="1" dirty="0">
                <a:solidFill>
                  <a:schemeClr val="tx2"/>
                </a:solidFill>
              </a:rPr>
              <a:t>Las filas inválidas se saltan</a:t>
            </a:r>
            <a:endParaRPr lang="en-US" sz="1700" dirty="0"/>
          </a:p>
        </p:txBody>
      </p:sp>
      <p:sp>
        <p:nvSpPr>
          <p:cNvPr id="6" name="texto-369"/>
          <p:cNvSpPr txBox="1"/>
          <p:nvPr/>
        </p:nvSpPr>
        <p:spPr>
          <a:xfrm>
            <a:off x="1143000" y="2039112"/>
            <a:ext cx="5486400" cy="310896"/>
          </a:xfrm>
          <a:prstGeom prst="rect">
            <a:avLst/>
          </a:prstGeom>
          <a:noFill/>
          <a:ln/>
        </p:spPr>
        <p:txBody>
          <a:bodyPr wrap="square" lIns="0" tIns="0" rIns="0" bIns="0" rtlCol="0" anchor="t"/>
          <a:lstStyle/>
          <a:p>
            <a:pPr indent="0" marL="0">
              <a:buNone/>
            </a:pPr>
            <a:r>
              <a:rPr lang="en-US" sz="1400" dirty="0">
                <a:solidFill>
                  <a:schemeClr val="tx1"/>
                </a:solidFill>
              </a:rPr>
              <a:t>Si un dato viene vacío o mal escrito, try/except lo omite.</a:t>
            </a:r>
            <a:endParaRPr lang="en-US" sz="1400" dirty="0"/>
          </a:p>
        </p:txBody>
      </p:sp>
      <p:sp>
        <p:nvSpPr>
          <p:cNvPr id="7" name="numero-370"/>
          <p:cNvSpPr/>
          <p:nvPr/>
        </p:nvSpPr>
        <p:spPr>
          <a:xfrm>
            <a:off x="548640" y="2633472"/>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o-371"/>
          <p:cNvSpPr txBox="1"/>
          <p:nvPr/>
        </p:nvSpPr>
        <p:spPr>
          <a:xfrm>
            <a:off x="1143000" y="2587752"/>
            <a:ext cx="5486400" cy="310896"/>
          </a:xfrm>
          <a:prstGeom prst="rect">
            <a:avLst/>
          </a:prstGeom>
          <a:noFill/>
          <a:ln/>
        </p:spPr>
        <p:txBody>
          <a:bodyPr wrap="square" lIns="0" tIns="0" rIns="0" bIns="0" rtlCol="0" anchor="t"/>
          <a:lstStyle/>
          <a:p>
            <a:pPr indent="0" marL="0">
              <a:buNone/>
            </a:pPr>
            <a:r>
              <a:rPr lang="en-US" sz="1700" b="1" dirty="0">
                <a:solidFill>
                  <a:schemeClr val="tx2"/>
                </a:solidFill>
              </a:rPr>
              <a:t>Orden de mayor a menor</a:t>
            </a:r>
            <a:endParaRPr lang="en-US" sz="1700" dirty="0"/>
          </a:p>
        </p:txBody>
      </p:sp>
      <p:sp>
        <p:nvSpPr>
          <p:cNvPr id="9" name="texto-372"/>
          <p:cNvSpPr txBox="1"/>
          <p:nvPr/>
        </p:nvSpPr>
        <p:spPr>
          <a:xfrm>
            <a:off x="1143000" y="2935224"/>
            <a:ext cx="5486400" cy="310896"/>
          </a:xfrm>
          <a:prstGeom prst="rect">
            <a:avLst/>
          </a:prstGeom>
          <a:noFill/>
          <a:ln/>
        </p:spPr>
        <p:txBody>
          <a:bodyPr wrap="square" lIns="0" tIns="0" rIns="0" bIns="0" rtlCol="0" anchor="t"/>
          <a:lstStyle/>
          <a:p>
            <a:pPr indent="0" marL="0">
              <a:buNone/>
            </a:pPr>
            <a:r>
              <a:rPr lang="en-US" sz="1400" dirty="0">
                <a:solidFill>
                  <a:schemeClr val="tx1"/>
                </a:solidFill>
              </a:rPr>
              <a:t>Las industrias se listan según su cantidad de trabajadores.</a:t>
            </a:r>
            <a:endParaRPr lang="en-US" sz="1400" dirty="0"/>
          </a:p>
        </p:txBody>
      </p:sp>
      <p:sp>
        <p:nvSpPr>
          <p:cNvPr id="10" name="numero-373"/>
          <p:cNvSpPr/>
          <p:nvPr/>
        </p:nvSpPr>
        <p:spPr>
          <a:xfrm>
            <a:off x="548640" y="3529584"/>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o-374"/>
          <p:cNvSpPr txBox="1"/>
          <p:nvPr/>
        </p:nvSpPr>
        <p:spPr>
          <a:xfrm>
            <a:off x="1143000" y="3483864"/>
            <a:ext cx="5486400" cy="310896"/>
          </a:xfrm>
          <a:prstGeom prst="rect">
            <a:avLst/>
          </a:prstGeom>
          <a:noFill/>
          <a:ln/>
        </p:spPr>
        <p:txBody>
          <a:bodyPr wrap="square" lIns="0" tIns="0" rIns="0" bIns="0" rtlCol="0" anchor="t"/>
          <a:lstStyle/>
          <a:p>
            <a:pPr indent="0" marL="0">
              <a:buNone/>
            </a:pPr>
            <a:r>
              <a:rPr lang="en-US" sz="1700" b="1" dirty="0">
                <a:solidFill>
                  <a:schemeClr val="tx2"/>
                </a:solidFill>
              </a:rPr>
              <a:t>Promedios con un decimal</a:t>
            </a:r>
            <a:endParaRPr lang="en-US" sz="1700" dirty="0"/>
          </a:p>
        </p:txBody>
      </p:sp>
      <p:sp>
        <p:nvSpPr>
          <p:cNvPr id="12" name="texto-375"/>
          <p:cNvSpPr txBox="1"/>
          <p:nvPr/>
        </p:nvSpPr>
        <p:spPr>
          <a:xfrm>
            <a:off x="1143000" y="3831336"/>
            <a:ext cx="5486400" cy="310896"/>
          </a:xfrm>
          <a:prstGeom prst="rect">
            <a:avLst/>
          </a:prstGeom>
          <a:noFill/>
          <a:ln/>
        </p:spPr>
        <p:txBody>
          <a:bodyPr wrap="square" lIns="0" tIns="0" rIns="0" bIns="0" rtlCol="0" anchor="t"/>
          <a:lstStyle/>
          <a:p>
            <a:pPr indent="0" marL="0">
              <a:buNone/>
            </a:pPr>
            <a:r>
              <a:rPr lang="en-US" sz="1400" dirty="0">
                <a:solidFill>
                  <a:schemeClr val="tx1"/>
                </a:solidFill>
              </a:rPr>
              <a:t>round(…, 1) deja 39,3 horas y no un número largo.</a:t>
            </a:r>
            <a:endParaRPr lang="en-US" sz="1400" dirty="0"/>
          </a:p>
        </p:txBody>
      </p:sp>
      <p:sp>
        <p:nvSpPr>
          <p:cNvPr id="13" name="numero-376"/>
          <p:cNvSpPr/>
          <p:nvPr/>
        </p:nvSpPr>
        <p:spPr>
          <a:xfrm>
            <a:off x="548640" y="4425696"/>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o-377"/>
          <p:cNvSpPr txBox="1"/>
          <p:nvPr/>
        </p:nvSpPr>
        <p:spPr>
          <a:xfrm>
            <a:off x="1143000" y="4379976"/>
            <a:ext cx="5486400" cy="310896"/>
          </a:xfrm>
          <a:prstGeom prst="rect">
            <a:avLst/>
          </a:prstGeom>
          <a:noFill/>
          <a:ln/>
        </p:spPr>
        <p:txBody>
          <a:bodyPr wrap="square" lIns="0" tIns="0" rIns="0" bIns="0" rtlCol="0" anchor="t"/>
          <a:lstStyle/>
          <a:p>
            <a:pPr indent="0" marL="0">
              <a:buNone/>
            </a:pPr>
            <a:r>
              <a:rPr lang="en-US" sz="1700" b="1" dirty="0">
                <a:solidFill>
                  <a:schemeClr val="tx2"/>
                </a:solidFill>
              </a:rPr>
              <a:t>Mensaje si no hay datos</a:t>
            </a:r>
            <a:endParaRPr lang="en-US" sz="1700" dirty="0"/>
          </a:p>
        </p:txBody>
      </p:sp>
      <p:sp>
        <p:nvSpPr>
          <p:cNvPr id="15" name="texto-378"/>
          <p:cNvSpPr txBox="1"/>
          <p:nvPr/>
        </p:nvSpPr>
        <p:spPr>
          <a:xfrm>
            <a:off x="1143000" y="4727448"/>
            <a:ext cx="5486400" cy="310896"/>
          </a:xfrm>
          <a:prstGeom prst="rect">
            <a:avLst/>
          </a:prstGeom>
          <a:noFill/>
          <a:ln/>
        </p:spPr>
        <p:txBody>
          <a:bodyPr wrap="square" lIns="0" tIns="0" rIns="0" bIns="0" rtlCol="0" anchor="t"/>
          <a:lstStyle/>
          <a:p>
            <a:pPr indent="0" marL="0">
              <a:buNone/>
            </a:pPr>
            <a:r>
              <a:rPr lang="en-US" sz="1400" dirty="0">
                <a:solidFill>
                  <a:schemeClr val="tx1"/>
                </a:solidFill>
              </a:rPr>
              <a:t>{% empty %} muestra «No hay datos disponibles».</a:t>
            </a:r>
            <a:endParaRPr lang="en-US" sz="1400" dirty="0"/>
          </a:p>
        </p:txBody>
      </p:sp>
      <p:sp>
        <p:nvSpPr>
          <p:cNvPr id="16" name="numero-379"/>
          <p:cNvSpPr/>
          <p:nvPr/>
        </p:nvSpPr>
        <p:spPr>
          <a:xfrm>
            <a:off x="548640" y="5321808"/>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o-380"/>
          <p:cNvSpPr txBox="1"/>
          <p:nvPr/>
        </p:nvSpPr>
        <p:spPr>
          <a:xfrm>
            <a:off x="1143000" y="5276088"/>
            <a:ext cx="5486400" cy="310896"/>
          </a:xfrm>
          <a:prstGeom prst="rect">
            <a:avLst/>
          </a:prstGeom>
          <a:noFill/>
          <a:ln/>
        </p:spPr>
        <p:txBody>
          <a:bodyPr wrap="square" lIns="0" tIns="0" rIns="0" bIns="0" rtlCol="0" anchor="t"/>
          <a:lstStyle/>
          <a:p>
            <a:pPr indent="0" marL="0">
              <a:buNone/>
            </a:pPr>
            <a:r>
              <a:rPr lang="en-US" sz="1700" b="1" dirty="0">
                <a:solidFill>
                  <a:schemeClr val="tx2"/>
                </a:solidFill>
              </a:rPr>
              <a:t>Una plantilla, tres tablas</a:t>
            </a:r>
            <a:endParaRPr lang="en-US" sz="1700" dirty="0"/>
          </a:p>
        </p:txBody>
      </p:sp>
      <p:sp>
        <p:nvSpPr>
          <p:cNvPr id="18" name="texto-381"/>
          <p:cNvSpPr txBox="1"/>
          <p:nvPr/>
        </p:nvSpPr>
        <p:spPr>
          <a:xfrm>
            <a:off x="1143000" y="5623560"/>
            <a:ext cx="5486400" cy="310896"/>
          </a:xfrm>
          <a:prstGeom prst="rect">
            <a:avLst/>
          </a:prstGeom>
          <a:noFill/>
          <a:ln/>
        </p:spPr>
        <p:txBody>
          <a:bodyPr wrap="square" lIns="0" tIns="0" rIns="0" bIns="0" rtlCol="0" anchor="t"/>
          <a:lstStyle/>
          <a:p>
            <a:pPr indent="0" marL="0">
              <a:buNone/>
            </a:pPr>
            <a:r>
              <a:rPr lang="en-US" sz="1400" dirty="0">
                <a:solidFill>
                  <a:schemeClr val="tx1"/>
                </a:solidFill>
              </a:rPr>
              <a:t>La vista solo le envía columnas y filas a listado.html.</a:t>
            </a:r>
            <a:endParaRPr lang="en-US" sz="1400" dirty="0"/>
          </a:p>
        </p:txBody>
      </p:sp>
      <p:sp>
        <p:nvSpPr>
          <p:cNvPr id="19" name="texto-382"/>
          <p:cNvSpPr txBox="1"/>
          <p:nvPr/>
        </p:nvSpPr>
        <p:spPr>
          <a:xfrm>
            <a:off x="6903720" y="1691640"/>
            <a:ext cx="4739335" cy="292608"/>
          </a:xfrm>
          <a:prstGeom prst="rect">
            <a:avLst/>
          </a:prstGeom>
          <a:noFill/>
          <a:ln/>
        </p:spPr>
        <p:txBody>
          <a:bodyPr wrap="square" lIns="0" tIns="0" rIns="0" bIns="0" rtlCol="0" anchor="t"/>
          <a:lstStyle/>
          <a:p>
            <a:pPr indent="0" marL="0">
              <a:buNone/>
            </a:pPr>
            <a:r>
              <a:rPr lang="en-US" sz="1600" b="1" dirty="0">
                <a:solidFill>
                  <a:schemeClr val="tx2"/>
                </a:solidFill>
              </a:rPr>
              <a:t>Los 3 listados</a:t>
            </a:r>
            <a:endParaRPr lang="en-US" sz="1600" dirty="0"/>
          </a:p>
        </p:txBody>
      </p:sp>
      <p:sp>
        <p:nvSpPr>
          <p:cNvPr id="20" name="listado-383"/>
          <p:cNvSpPr/>
          <p:nvPr/>
        </p:nvSpPr>
        <p:spPr>
          <a:xfrm>
            <a:off x="6903720" y="2075688"/>
            <a:ext cx="1481328" cy="329184"/>
          </a:xfrm>
          <a:prstGeom prst="roundRect">
            <a:avLst>
              <a:gd name="adj" fmla="val 44444"/>
            </a:avLst>
          </a:prstGeom>
          <a:solidFill>
            <a:schemeClr val="bg2"/>
          </a:solidFill>
          <a:ln/>
        </p:spPr>
        <p:txBody>
          <a:bodyPr wrap="square" lIns="0" tIns="0" rIns="0" bIns="0" rtlCol="0" anchor="ctr"/>
          <a:lstStyle/>
          <a:p>
            <a:pPr algn="ctr" indent="0" marL="0">
              <a:buNone/>
            </a:pPr>
            <a:r>
              <a:rPr lang="en-US" sz="1300" dirty="0">
                <a:solidFill>
                  <a:schemeClr val="tx2"/>
                </a:solidFill>
              </a:rPr>
              <a:t>Por industria</a:t>
            </a:r>
            <a:endParaRPr lang="en-US" sz="1300" dirty="0"/>
          </a:p>
        </p:txBody>
      </p:sp>
      <p:sp>
        <p:nvSpPr>
          <p:cNvPr id="21" name="listado-384"/>
          <p:cNvSpPr/>
          <p:nvPr/>
        </p:nvSpPr>
        <p:spPr>
          <a:xfrm>
            <a:off x="8503920" y="2075688"/>
            <a:ext cx="1481328" cy="329184"/>
          </a:xfrm>
          <a:prstGeom prst="roundRect">
            <a:avLst>
              <a:gd name="adj" fmla="val 44444"/>
            </a:avLst>
          </a:prstGeom>
          <a:solidFill>
            <a:schemeClr val="bg2"/>
          </a:solidFill>
          <a:ln/>
        </p:spPr>
        <p:txBody>
          <a:bodyPr wrap="square" lIns="0" tIns="0" rIns="0" bIns="0" rtlCol="0" anchor="ctr"/>
          <a:lstStyle/>
          <a:p>
            <a:pPr algn="ctr" indent="0" marL="0">
              <a:buNone/>
            </a:pPr>
            <a:r>
              <a:rPr lang="en-US" sz="1300" dirty="0">
                <a:solidFill>
                  <a:schemeClr val="tx2"/>
                </a:solidFill>
              </a:rPr>
              <a:t>Horas según edad</a:t>
            </a:r>
            <a:endParaRPr lang="en-US" sz="1300" dirty="0"/>
          </a:p>
        </p:txBody>
      </p:sp>
      <p:sp>
        <p:nvSpPr>
          <p:cNvPr id="22" name="listado-385"/>
          <p:cNvSpPr/>
          <p:nvPr/>
        </p:nvSpPr>
        <p:spPr>
          <a:xfrm>
            <a:off x="10104120" y="2075688"/>
            <a:ext cx="1481328" cy="329184"/>
          </a:xfrm>
          <a:prstGeom prst="roundRect">
            <a:avLst>
              <a:gd name="adj" fmla="val 44444"/>
            </a:avLst>
          </a:prstGeom>
          <a:solidFill>
            <a:schemeClr val="accent2"/>
          </a:solidFill>
          <a:ln/>
        </p:spPr>
        <p:txBody>
          <a:bodyPr wrap="square" lIns="0" tIns="0" rIns="0" bIns="0" rtlCol="0" anchor="ctr"/>
          <a:lstStyle/>
          <a:p>
            <a:pPr algn="ctr" indent="0" marL="0">
              <a:buNone/>
            </a:pPr>
            <a:r>
              <a:rPr lang="en-US" sz="1300" b="1" dirty="0">
                <a:solidFill>
                  <a:schemeClr val="bg1"/>
                </a:solidFill>
              </a:rPr>
              <a:t>Equilibrio</a:t>
            </a:r>
            <a:endParaRPr lang="en-US" sz="1300" dirty="0"/>
          </a:p>
        </p:txBody>
      </p:sp>
      <p:sp>
        <p:nvSpPr>
          <p:cNvPr id="23" name="navegador-386"/>
          <p:cNvSpPr/>
          <p:nvPr/>
        </p:nvSpPr>
        <p:spPr>
          <a:xfrm>
            <a:off x="6903720" y="2606040"/>
            <a:ext cx="4739335" cy="2152724"/>
          </a:xfrm>
          <a:prstGeom prst="roundRect">
            <a:avLst>
              <a:gd name="adj" fmla="val 3398"/>
            </a:avLst>
          </a:prstGeom>
          <a:solidFill>
            <a:srgbClr val="E2E9E5"/>
          </a:solidFill>
          <a:ln w="9525">
            <a:solidFill>
              <a:srgbClr val="C7D1CC"/>
            </a:solidFill>
            <a:prstDash val="solid"/>
          </a:ln>
          <a:effectLst>
            <a:outerShdw sx="100000" sy="100000" kx="0" ky="0" algn="bl" rotWithShape="0" blurRad="127000" dist="38100" dir="5400000">
              <a:srgbClr val="000000">
                <a:alpha val="20000"/>
              </a:srgbClr>
            </a:outerShdw>
          </a:effectLst>
        </p:spPr>
      </p:sp>
      <p:sp>
        <p:nvSpPr>
          <p:cNvPr id="24" name="punto-387"/>
          <p:cNvSpPr/>
          <p:nvPr/>
        </p:nvSpPr>
        <p:spPr>
          <a:xfrm>
            <a:off x="7040880" y="2720340"/>
            <a:ext cx="100584" cy="100584"/>
          </a:xfrm>
          <a:prstGeom prst="ellipse">
            <a:avLst/>
          </a:prstGeom>
          <a:solidFill>
            <a:srgbClr val="E06C5F"/>
          </a:solidFill>
          <a:ln/>
        </p:spPr>
      </p:sp>
      <p:sp>
        <p:nvSpPr>
          <p:cNvPr id="25" name="punto-388"/>
          <p:cNvSpPr/>
          <p:nvPr/>
        </p:nvSpPr>
        <p:spPr>
          <a:xfrm>
            <a:off x="7196328" y="2720340"/>
            <a:ext cx="100584" cy="100584"/>
          </a:xfrm>
          <a:prstGeom prst="ellipse">
            <a:avLst/>
          </a:prstGeom>
          <a:solidFill>
            <a:srgbClr val="E9B949"/>
          </a:solidFill>
          <a:ln/>
        </p:spPr>
      </p:sp>
      <p:sp>
        <p:nvSpPr>
          <p:cNvPr id="26" name="punto-389"/>
          <p:cNvSpPr/>
          <p:nvPr/>
        </p:nvSpPr>
        <p:spPr>
          <a:xfrm>
            <a:off x="7351776" y="2720340"/>
            <a:ext cx="100584" cy="100584"/>
          </a:xfrm>
          <a:prstGeom prst="ellipse">
            <a:avLst/>
          </a:prstGeom>
          <a:solidFill>
            <a:srgbClr val="5DB872"/>
          </a:solidFill>
          <a:ln/>
        </p:spPr>
      </p:sp>
      <p:sp>
        <p:nvSpPr>
          <p:cNvPr id="27" name="url-390"/>
          <p:cNvSpPr/>
          <p:nvPr/>
        </p:nvSpPr>
        <p:spPr>
          <a:xfrm>
            <a:off x="7562088" y="2670048"/>
            <a:ext cx="3916375" cy="210312"/>
          </a:xfrm>
          <a:prstGeom prst="roundRect">
            <a:avLst>
              <a:gd name="adj" fmla="val 47826"/>
            </a:avLst>
          </a:prstGeom>
          <a:solidFill>
            <a:srgbClr val="FFFFFF"/>
          </a:solidFill>
          <a:ln/>
        </p:spPr>
        <p:txBody>
          <a:bodyPr wrap="square" lIns="101600" tIns="0" rIns="101600" bIns="0" rtlCol="0" anchor="ctr"/>
          <a:lstStyle/>
          <a:p>
            <a:pPr indent="0" marL="0">
              <a:buNone/>
            </a:pPr>
            <a:r>
              <a:rPr lang="en-US" sz="1000" dirty="0">
                <a:solidFill>
                  <a:schemeClr val="accent5"/>
                </a:solidFill>
              </a:rPr>
              <a:t>127.0.0.1:8000/alumnos/listados/equilibrio/</a:t>
            </a:r>
            <a:endParaRPr lang="en-US" sz="1000" dirty="0"/>
          </a:p>
        </p:txBody>
      </p:sp>
      <p:pic>
        <p:nvPicPr>
          <p:cNvPr id="28" name="captura-391" descr="/private/tmp/claude-501/-Users-pablovaldiviamonzon-Desktop-cert-menes/6974cfb1-314e-48ac-991e-539c4c5dc99b/scratchpad/img/tabla_equilibrio.jpg">    </p:cNvPr>
          <p:cNvPicPr>
            <a:picLocks noChangeAspect="1"/>
          </p:cNvPicPr>
          <p:nvPr/>
        </p:nvPicPr>
        <p:blipFill>
          <a:blip r:embed="rId1"/>
          <a:stretch>
            <a:fillRect/>
          </a:stretch>
        </p:blipFill>
        <p:spPr>
          <a:xfrm>
            <a:off x="6949440" y="2935224"/>
            <a:ext cx="4647895" cy="1777820"/>
          </a:xfrm>
          <a:prstGeom prst="rect">
            <a:avLst/>
          </a:prstGeom>
        </p:spPr>
      </p:pic>
      <p:sp>
        <p:nvSpPr>
          <p:cNvPr id="29" name="texto-392"/>
          <p:cNvSpPr txBox="1"/>
          <p:nvPr/>
        </p:nvSpPr>
        <p:spPr>
          <a:xfrm>
            <a:off x="6903720" y="4941644"/>
            <a:ext cx="4739335" cy="640080"/>
          </a:xfrm>
          <a:prstGeom prst="rect">
            <a:avLst/>
          </a:prstGeom>
          <a:noFill/>
          <a:ln/>
        </p:spPr>
        <p:txBody>
          <a:bodyPr wrap="square" lIns="0" tIns="0" rIns="0" bIns="0" rtlCol="0" anchor="t"/>
          <a:lstStyle/>
          <a:p>
            <a:pPr indent="0" marL="0">
              <a:buNone/>
            </a:pPr>
            <a:r>
              <a:rPr lang="en-US" sz="1400" dirty="0">
                <a:solidFill>
                  <a:schemeClr val="accent5"/>
                </a:solidFill>
              </a:rPr>
              <a:t>Cada calificación reúne entre 967 y 1.053 trabajadores, con promedios de 39,3 a 39,9 horas.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bg1"/>
                </a:solidFill>
              </a:rPr>
              <a:t>Conclusión</a:t>
            </a:r>
            <a:endParaRPr lang="en-US" sz="3600" dirty="0"/>
          </a:p>
        </p:txBody>
      </p:sp>
      <p:sp>
        <p:nvSpPr>
          <p:cNvPr id="3" name="tarjeta-393"/>
          <p:cNvSpPr/>
          <p:nvPr/>
        </p:nvSpPr>
        <p:spPr>
          <a:xfrm>
            <a:off x="548640" y="1600200"/>
            <a:ext cx="3484778" cy="2788920"/>
          </a:xfrm>
          <a:prstGeom prst="roundRect">
            <a:avLst>
              <a:gd name="adj" fmla="val 3279"/>
            </a:avLst>
          </a:prstGeom>
          <a:solidFill>
            <a:srgbClr val="17513F"/>
          </a:solidFill>
          <a:ln/>
        </p:spPr>
      </p:sp>
      <p:sp>
        <p:nvSpPr>
          <p:cNvPr id="4" name="texto-394"/>
          <p:cNvSpPr txBox="1"/>
          <p:nvPr/>
        </p:nvSpPr>
        <p:spPr>
          <a:xfrm>
            <a:off x="868680" y="1874520"/>
            <a:ext cx="1097280" cy="640080"/>
          </a:xfrm>
          <a:prstGeom prst="rect">
            <a:avLst/>
          </a:prstGeom>
          <a:noFill/>
          <a:ln/>
        </p:spPr>
        <p:txBody>
          <a:bodyPr wrap="square" lIns="0" tIns="0" rIns="0" bIns="0" rtlCol="0" anchor="t"/>
          <a:lstStyle/>
          <a:p>
            <a:pPr indent="0" marL="0">
              <a:buNone/>
            </a:pPr>
            <a:r>
              <a:rPr lang="en-US" sz="3600" b="1" dirty="0">
                <a:solidFill>
                  <a:schemeClr val="accent4"/>
                </a:solidFill>
              </a:rPr>
              <a:t>01</a:t>
            </a:r>
            <a:endParaRPr lang="en-US" sz="3600" dirty="0"/>
          </a:p>
        </p:txBody>
      </p:sp>
      <p:sp>
        <p:nvSpPr>
          <p:cNvPr id="5" name="texto-395"/>
          <p:cNvSpPr txBox="1"/>
          <p:nvPr/>
        </p:nvSpPr>
        <p:spPr>
          <a:xfrm>
            <a:off x="868680" y="2560320"/>
            <a:ext cx="2844698" cy="365760"/>
          </a:xfrm>
          <a:prstGeom prst="rect">
            <a:avLst/>
          </a:prstGeom>
          <a:noFill/>
          <a:ln/>
        </p:spPr>
        <p:txBody>
          <a:bodyPr wrap="square" lIns="0" tIns="0" rIns="0" bIns="0" rtlCol="0" anchor="t"/>
          <a:lstStyle/>
          <a:p>
            <a:pPr indent="0" marL="0">
              <a:buNone/>
            </a:pPr>
            <a:r>
              <a:rPr lang="en-US" sz="2000" b="1" dirty="0">
                <a:solidFill>
                  <a:schemeClr val="bg1"/>
                </a:solidFill>
              </a:rPr>
              <a:t>Objetivo cumplido</a:t>
            </a:r>
            <a:endParaRPr lang="en-US" sz="2000" dirty="0"/>
          </a:p>
        </p:txBody>
      </p:sp>
      <p:sp>
        <p:nvSpPr>
          <p:cNvPr id="6" name="texto-396"/>
          <p:cNvSpPr txBox="1"/>
          <p:nvPr/>
        </p:nvSpPr>
        <p:spPr>
          <a:xfrm>
            <a:off x="868680" y="3063240"/>
            <a:ext cx="2844698" cy="1234440"/>
          </a:xfrm>
          <a:prstGeom prst="rect">
            <a:avLst/>
          </a:prstGeom>
          <a:noFill/>
          <a:ln/>
        </p:spPr>
        <p:txBody>
          <a:bodyPr wrap="square" lIns="0" tIns="0" rIns="0" bIns="0" rtlCol="0" anchor="t"/>
          <a:lstStyle/>
          <a:p>
            <a:pPr indent="0" marL="0">
              <a:buNone/>
            </a:pPr>
            <a:r>
              <a:rPr lang="en-US" sz="1600" dirty="0">
                <a:solidFill>
                  <a:srgbClr val="D3E4DC"/>
                </a:solidFill>
              </a:rPr>
              <a:t>Los datos del Certamen 1 ahora se consultan en la web: 5 mockups, 9 páginas, 3 tablas y 3 gráficos desde el backend.</a:t>
            </a:r>
            <a:endParaRPr lang="en-US" sz="1600" dirty="0"/>
          </a:p>
        </p:txBody>
      </p:sp>
      <p:sp>
        <p:nvSpPr>
          <p:cNvPr id="7" name="tarjeta-397"/>
          <p:cNvSpPr/>
          <p:nvPr/>
        </p:nvSpPr>
        <p:spPr>
          <a:xfrm>
            <a:off x="4353458" y="1600200"/>
            <a:ext cx="3484778" cy="2788920"/>
          </a:xfrm>
          <a:prstGeom prst="roundRect">
            <a:avLst>
              <a:gd name="adj" fmla="val 3279"/>
            </a:avLst>
          </a:prstGeom>
          <a:solidFill>
            <a:srgbClr val="17513F"/>
          </a:solidFill>
          <a:ln/>
        </p:spPr>
      </p:sp>
      <p:sp>
        <p:nvSpPr>
          <p:cNvPr id="8" name="texto-398"/>
          <p:cNvSpPr txBox="1"/>
          <p:nvPr/>
        </p:nvSpPr>
        <p:spPr>
          <a:xfrm>
            <a:off x="4673498" y="1874520"/>
            <a:ext cx="1097280" cy="640080"/>
          </a:xfrm>
          <a:prstGeom prst="rect">
            <a:avLst/>
          </a:prstGeom>
          <a:noFill/>
          <a:ln/>
        </p:spPr>
        <p:txBody>
          <a:bodyPr wrap="square" lIns="0" tIns="0" rIns="0" bIns="0" rtlCol="0" anchor="t"/>
          <a:lstStyle/>
          <a:p>
            <a:pPr indent="0" marL="0">
              <a:buNone/>
            </a:pPr>
            <a:r>
              <a:rPr lang="en-US" sz="3600" b="1" dirty="0">
                <a:solidFill>
                  <a:schemeClr val="accent4"/>
                </a:solidFill>
              </a:rPr>
              <a:t>02</a:t>
            </a:r>
            <a:endParaRPr lang="en-US" sz="3600" dirty="0"/>
          </a:p>
        </p:txBody>
      </p:sp>
      <p:sp>
        <p:nvSpPr>
          <p:cNvPr id="9" name="texto-399"/>
          <p:cNvSpPr txBox="1"/>
          <p:nvPr/>
        </p:nvSpPr>
        <p:spPr>
          <a:xfrm>
            <a:off x="4673498" y="2560320"/>
            <a:ext cx="2844698" cy="365760"/>
          </a:xfrm>
          <a:prstGeom prst="rect">
            <a:avLst/>
          </a:prstGeom>
          <a:noFill/>
          <a:ln/>
        </p:spPr>
        <p:txBody>
          <a:bodyPr wrap="square" lIns="0" tIns="0" rIns="0" bIns="0" rtlCol="0" anchor="t"/>
          <a:lstStyle/>
          <a:p>
            <a:pPr indent="0" marL="0">
              <a:buNone/>
            </a:pPr>
            <a:r>
              <a:rPr lang="en-US" sz="2000" b="1" dirty="0">
                <a:solidFill>
                  <a:schemeClr val="bg1"/>
                </a:solidFill>
              </a:rPr>
              <a:t>Los datos se confirman</a:t>
            </a:r>
            <a:endParaRPr lang="en-US" sz="2000" dirty="0"/>
          </a:p>
        </p:txBody>
      </p:sp>
      <p:sp>
        <p:nvSpPr>
          <p:cNvPr id="10" name="texto-400"/>
          <p:cNvSpPr txBox="1"/>
          <p:nvPr/>
        </p:nvSpPr>
        <p:spPr>
          <a:xfrm>
            <a:off x="4673498" y="3063240"/>
            <a:ext cx="2844698" cy="1234440"/>
          </a:xfrm>
          <a:prstGeom prst="rect">
            <a:avLst/>
          </a:prstGeom>
          <a:noFill/>
          <a:ln/>
        </p:spPr>
        <p:txBody>
          <a:bodyPr wrap="square" lIns="0" tIns="0" rIns="0" bIns="0" rtlCol="0" anchor="t"/>
          <a:lstStyle/>
          <a:p>
            <a:pPr indent="0" marL="0">
              <a:buNone/>
            </a:pPr>
            <a:r>
              <a:rPr lang="en-US" sz="1600" dirty="0">
                <a:solidFill>
                  <a:srgbClr val="D3E4DC"/>
                </a:solidFill>
              </a:rPr>
              <a:t>Industrias parejas, horas planas según la edad y correlación 0,00 entre horas y equilibrio.</a:t>
            </a:r>
            <a:endParaRPr lang="en-US" sz="1600" dirty="0"/>
          </a:p>
        </p:txBody>
      </p:sp>
      <p:sp>
        <p:nvSpPr>
          <p:cNvPr id="11" name="tarjeta-401"/>
          <p:cNvSpPr/>
          <p:nvPr/>
        </p:nvSpPr>
        <p:spPr>
          <a:xfrm>
            <a:off x="8158277" y="1600200"/>
            <a:ext cx="3484778" cy="2788920"/>
          </a:xfrm>
          <a:prstGeom prst="roundRect">
            <a:avLst>
              <a:gd name="adj" fmla="val 3279"/>
            </a:avLst>
          </a:prstGeom>
          <a:solidFill>
            <a:srgbClr val="17513F"/>
          </a:solidFill>
          <a:ln/>
        </p:spPr>
      </p:sp>
      <p:sp>
        <p:nvSpPr>
          <p:cNvPr id="12" name="texto-402"/>
          <p:cNvSpPr txBox="1"/>
          <p:nvPr/>
        </p:nvSpPr>
        <p:spPr>
          <a:xfrm>
            <a:off x="8478317" y="1874520"/>
            <a:ext cx="1097280" cy="640080"/>
          </a:xfrm>
          <a:prstGeom prst="rect">
            <a:avLst/>
          </a:prstGeom>
          <a:noFill/>
          <a:ln/>
        </p:spPr>
        <p:txBody>
          <a:bodyPr wrap="square" lIns="0" tIns="0" rIns="0" bIns="0" rtlCol="0" anchor="t"/>
          <a:lstStyle/>
          <a:p>
            <a:pPr indent="0" marL="0">
              <a:buNone/>
            </a:pPr>
            <a:r>
              <a:rPr lang="en-US" sz="3600" b="1" dirty="0">
                <a:solidFill>
                  <a:schemeClr val="accent4"/>
                </a:solidFill>
              </a:rPr>
              <a:t>03</a:t>
            </a:r>
            <a:endParaRPr lang="en-US" sz="3600" dirty="0"/>
          </a:p>
        </p:txBody>
      </p:sp>
      <p:sp>
        <p:nvSpPr>
          <p:cNvPr id="13" name="texto-403"/>
          <p:cNvSpPr txBox="1"/>
          <p:nvPr/>
        </p:nvSpPr>
        <p:spPr>
          <a:xfrm>
            <a:off x="8478317" y="2560320"/>
            <a:ext cx="2844698" cy="365760"/>
          </a:xfrm>
          <a:prstGeom prst="rect">
            <a:avLst/>
          </a:prstGeom>
          <a:noFill/>
          <a:ln/>
        </p:spPr>
        <p:txBody>
          <a:bodyPr wrap="square" lIns="0" tIns="0" rIns="0" bIns="0" rtlCol="0" anchor="t"/>
          <a:lstStyle/>
          <a:p>
            <a:pPr indent="0" marL="0">
              <a:buNone/>
            </a:pPr>
            <a:r>
              <a:rPr lang="en-US" sz="2000" b="1" dirty="0">
                <a:solidFill>
                  <a:schemeClr val="bg1"/>
                </a:solidFill>
              </a:rPr>
              <a:t>Lo que aprendimos</a:t>
            </a:r>
            <a:endParaRPr lang="en-US" sz="2000" dirty="0"/>
          </a:p>
        </p:txBody>
      </p:sp>
      <p:sp>
        <p:nvSpPr>
          <p:cNvPr id="14" name="texto-404"/>
          <p:cNvSpPr txBox="1"/>
          <p:nvPr/>
        </p:nvSpPr>
        <p:spPr>
          <a:xfrm>
            <a:off x="8478317" y="3063240"/>
            <a:ext cx="2844698" cy="1234440"/>
          </a:xfrm>
          <a:prstGeom prst="rect">
            <a:avLst/>
          </a:prstGeom>
          <a:noFill/>
          <a:ln/>
        </p:spPr>
        <p:txBody>
          <a:bodyPr wrap="square" lIns="0" tIns="0" rIns="0" bIns="0" rtlCol="0" anchor="t"/>
          <a:lstStyle/>
          <a:p>
            <a:pPr indent="0" marL="0">
              <a:buNone/>
            </a:pPr>
            <a:r>
              <a:rPr lang="en-US" sz="1600" dirty="0">
                <a:solidFill>
                  <a:srgbClr val="D3E4DC"/>
                </a:solidFill>
              </a:rPr>
              <a:t>En Django, un gráfico nuevo es una vista y una ruta: la plantilla ya está hecha.</a:t>
            </a:r>
            <a:endParaRPr lang="en-US" sz="1600" dirty="0"/>
          </a:p>
        </p:txBody>
      </p:sp>
      <p:sp>
        <p:nvSpPr>
          <p:cNvPr id="15" name="tarjeta-405"/>
          <p:cNvSpPr/>
          <p:nvPr/>
        </p:nvSpPr>
        <p:spPr>
          <a:xfrm>
            <a:off x="548640" y="4709160"/>
            <a:ext cx="11094415" cy="1280160"/>
          </a:xfrm>
          <a:prstGeom prst="roundRect">
            <a:avLst>
              <a:gd name="adj" fmla="val 7143"/>
            </a:avLst>
          </a:prstGeom>
          <a:solidFill>
            <a:srgbClr val="0A2E23"/>
          </a:solidFill>
          <a:ln/>
        </p:spPr>
      </p:sp>
      <p:sp>
        <p:nvSpPr>
          <p:cNvPr id="16" name="texto-406"/>
          <p:cNvSpPr txBox="1"/>
          <p:nvPr/>
        </p:nvSpPr>
        <p:spPr>
          <a:xfrm>
            <a:off x="868680" y="4864608"/>
            <a:ext cx="3657600" cy="310896"/>
          </a:xfrm>
          <a:prstGeom prst="rect">
            <a:avLst/>
          </a:prstGeom>
          <a:noFill/>
          <a:ln/>
        </p:spPr>
        <p:txBody>
          <a:bodyPr wrap="square" lIns="0" tIns="0" rIns="0" bIns="0" rtlCol="0" anchor="t"/>
          <a:lstStyle/>
          <a:p>
            <a:pPr indent="0" marL="0">
              <a:buNone/>
            </a:pPr>
            <a:r>
              <a:rPr lang="en-US" sz="1600" b="1" dirty="0">
                <a:solidFill>
                  <a:schemeClr val="accent4"/>
                </a:solidFill>
              </a:rPr>
              <a:t>Próximos pasos</a:t>
            </a:r>
            <a:endParaRPr lang="en-US" sz="1600" dirty="0"/>
          </a:p>
        </p:txBody>
      </p:sp>
      <p:sp>
        <p:nvSpPr>
          <p:cNvPr id="17" name="numero-407"/>
          <p:cNvSpPr/>
          <p:nvPr/>
        </p:nvSpPr>
        <p:spPr>
          <a:xfrm>
            <a:off x="868680" y="533095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8" name="texto-408"/>
          <p:cNvSpPr txBox="1"/>
          <p:nvPr/>
        </p:nvSpPr>
        <p:spPr>
          <a:xfrm>
            <a:off x="1325880" y="5230368"/>
            <a:ext cx="3017520" cy="548640"/>
          </a:xfrm>
          <a:prstGeom prst="rect">
            <a:avLst/>
          </a:prstGeom>
          <a:noFill/>
          <a:ln/>
        </p:spPr>
        <p:txBody>
          <a:bodyPr wrap="square" lIns="0" tIns="0" rIns="0" bIns="0" rtlCol="0" anchor="ctr"/>
          <a:lstStyle/>
          <a:p>
            <a:pPr indent="0" marL="0">
              <a:buNone/>
            </a:pPr>
            <a:r>
              <a:rPr lang="en-US" sz="1400" dirty="0">
                <a:solidFill>
                  <a:schemeClr val="bg1"/>
                </a:solidFill>
              </a:rPr>
              <a:t>Tamaño del punto según cuántos trabajadores tiene</a:t>
            </a:r>
            <a:endParaRPr lang="en-US" sz="1400" dirty="0"/>
          </a:p>
        </p:txBody>
      </p:sp>
      <p:sp>
        <p:nvSpPr>
          <p:cNvPr id="19" name="numero-409"/>
          <p:cNvSpPr/>
          <p:nvPr/>
        </p:nvSpPr>
        <p:spPr>
          <a:xfrm>
            <a:off x="4480560" y="533095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0" name="texto-410"/>
          <p:cNvSpPr txBox="1"/>
          <p:nvPr/>
        </p:nvSpPr>
        <p:spPr>
          <a:xfrm>
            <a:off x="4937760" y="5230368"/>
            <a:ext cx="3017520" cy="548640"/>
          </a:xfrm>
          <a:prstGeom prst="rect">
            <a:avLst/>
          </a:prstGeom>
          <a:noFill/>
          <a:ln/>
        </p:spPr>
        <p:txBody>
          <a:bodyPr wrap="square" lIns="0" tIns="0" rIns="0" bIns="0" rtlCol="0" anchor="ctr"/>
          <a:lstStyle/>
          <a:p>
            <a:pPr indent="0" marL="0">
              <a:buNone/>
            </a:pPr>
            <a:r>
              <a:rPr lang="en-US" sz="1400" dirty="0">
                <a:solidFill>
                  <a:schemeClr val="bg1"/>
                </a:solidFill>
              </a:rPr>
              <a:t>Pasar el CSV a la base de datos del proyecto</a:t>
            </a:r>
            <a:endParaRPr lang="en-US" sz="1400" dirty="0"/>
          </a:p>
        </p:txBody>
      </p:sp>
      <p:sp>
        <p:nvSpPr>
          <p:cNvPr id="21" name="numero-411"/>
          <p:cNvSpPr/>
          <p:nvPr/>
        </p:nvSpPr>
        <p:spPr>
          <a:xfrm>
            <a:off x="8092440" y="5330952"/>
            <a:ext cx="347472" cy="34747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o-412"/>
          <p:cNvSpPr txBox="1"/>
          <p:nvPr/>
        </p:nvSpPr>
        <p:spPr>
          <a:xfrm>
            <a:off x="8549640" y="5230368"/>
            <a:ext cx="3017520" cy="548640"/>
          </a:xfrm>
          <a:prstGeom prst="rect">
            <a:avLst/>
          </a:prstGeom>
          <a:noFill/>
          <a:ln/>
        </p:spPr>
        <p:txBody>
          <a:bodyPr wrap="square" lIns="0" tIns="0" rIns="0" bIns="0" rtlCol="0" anchor="ctr"/>
          <a:lstStyle/>
          <a:p>
            <a:pPr indent="0" marL="0">
              <a:buNone/>
            </a:pPr>
            <a:r>
              <a:rPr lang="en-US" sz="1400" dirty="0">
                <a:solidFill>
                  <a:schemeClr val="bg1"/>
                </a:solidFill>
              </a:rPr>
              <a:t>Probar la aplicación con datos reales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658368"/>
          </a:xfrm>
          <a:prstGeom prst="rect">
            <a:avLst/>
          </a:prstGeom>
          <a:noFill/>
          <a:ln/>
        </p:spPr>
        <p:txBody>
          <a:bodyPr wrap="square" lIns="0" tIns="0" rIns="0" bIns="0" rtlCol="0" anchor="t"/>
          <a:lstStyle/>
          <a:p>
            <a:pPr algn="l" indent="0" marL="0">
              <a:buNone/>
            </a:pPr>
            <a:r>
              <a:rPr lang="en-US" sz="3600" b="1" dirty="0">
                <a:solidFill>
                  <a:schemeClr val="tx2"/>
                </a:solidFill>
              </a:rPr>
              <a:t>Bibliografía</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indent="0" marL="0">
              <a:buNone/>
            </a:pPr>
            <a:r>
              <a:rPr lang="en-US" sz="1600" dirty="0">
                <a:solidFill>
                  <a:schemeClr val="accent5"/>
                </a:solidFill>
              </a:rPr>
              <a:t>Formato APA 7.ª edición</a:t>
            </a:r>
            <a:endParaRPr lang="en-US" sz="1600" dirty="0"/>
          </a:p>
        </p:txBody>
      </p:sp>
      <p:sp>
        <p:nvSpPr>
          <p:cNvPr id="4" name="circulo-413"/>
          <p:cNvSpPr/>
          <p:nvPr/>
        </p:nvSpPr>
        <p:spPr>
          <a:xfrm>
            <a:off x="548640" y="1691640"/>
            <a:ext cx="457200" cy="457200"/>
          </a:xfrm>
          <a:prstGeom prst="ellipse">
            <a:avLst/>
          </a:prstGeom>
          <a:solidFill>
            <a:schemeClr val="accent1"/>
          </a:solidFill>
          <a:ln/>
        </p:spPr>
      </p:sp>
      <p:pic>
        <p:nvPicPr>
          <p:cNvPr id="5" name="icono-414" descr="preencoded.png">    </p:cNvPr>
          <p:cNvPicPr>
            <a:picLocks noChangeAspect="1"/>
          </p:cNvPicPr>
          <p:nvPr/>
        </p:nvPicPr>
        <p:blipFill>
          <a:blip r:embed="rId1"/>
          <a:stretch>
            <a:fillRect/>
          </a:stretch>
        </p:blipFill>
        <p:spPr>
          <a:xfrm>
            <a:off x="667512" y="1810512"/>
            <a:ext cx="219456" cy="219456"/>
          </a:xfrm>
          <a:prstGeom prst="rect">
            <a:avLst/>
          </a:prstGeom>
        </p:spPr>
      </p:pic>
      <p:sp>
        <p:nvSpPr>
          <p:cNvPr id="6" name="texto-415"/>
          <p:cNvSpPr txBox="1"/>
          <p:nvPr/>
        </p:nvSpPr>
        <p:spPr>
          <a:xfrm>
            <a:off x="1234440" y="1554480"/>
            <a:ext cx="10408615" cy="731520"/>
          </a:xfrm>
          <a:prstGeom prst="rect">
            <a:avLst/>
          </a:prstGeom>
          <a:noFill/>
          <a:ln/>
        </p:spPr>
        <p:txBody>
          <a:bodyPr wrap="square" lIns="0" tIns="0" rIns="0" bIns="0" rtlCol="0" anchor="ctr"/>
          <a:lstStyle/>
          <a:p>
            <a:pPr indent="0" marL="0">
              <a:buNone/>
            </a:pPr>
            <a:r>
              <a:rPr lang="en-US" sz="1400" dirty="0">
                <a:solidFill>
                  <a:schemeClr val="tx1"/>
                </a:solidFill>
              </a:rPr>
              <a:t>Malik, S. (2024). </a:t>
            </a:r>
            <a:pPr indent="0" marL="0">
              <a:buNone/>
            </a:pPr>
            <a:r>
              <a:rPr lang="en-US" sz="1400" i="1" dirty="0">
                <a:solidFill>
                  <a:schemeClr val="tx1"/>
                </a:solidFill>
              </a:rPr>
              <a:t>Impact of remote work on mental health</a:t>
            </a:r>
            <a:pPr indent="0" marL="0">
              <a:buNone/>
            </a:pPr>
            <a:r>
              <a:rPr lang="en-US" sz="1400" dirty="0">
                <a:solidFill>
                  <a:schemeClr val="tx1"/>
                </a:solidFill>
              </a:rPr>
              <a:t> [Conjunto de datos]. Kaggle. https://www.kaggle.com/datasets/sohaibdevv/remote-work-and-mental-health-dataset</a:t>
            </a:r>
            <a:endParaRPr lang="en-US" sz="1400" dirty="0"/>
          </a:p>
        </p:txBody>
      </p:sp>
      <p:sp>
        <p:nvSpPr>
          <p:cNvPr id="7" name="circulo-416"/>
          <p:cNvSpPr/>
          <p:nvPr/>
        </p:nvSpPr>
        <p:spPr>
          <a:xfrm>
            <a:off x="548640" y="2587752"/>
            <a:ext cx="457200" cy="457200"/>
          </a:xfrm>
          <a:prstGeom prst="ellipse">
            <a:avLst/>
          </a:prstGeom>
          <a:solidFill>
            <a:schemeClr val="tx2"/>
          </a:solidFill>
          <a:ln/>
        </p:spPr>
      </p:sp>
      <p:pic>
        <p:nvPicPr>
          <p:cNvPr id="8" name="icono-417" descr="preencoded.png">    </p:cNvPr>
          <p:cNvPicPr>
            <a:picLocks noChangeAspect="1"/>
          </p:cNvPicPr>
          <p:nvPr/>
        </p:nvPicPr>
        <p:blipFill>
          <a:blip r:embed="rId2"/>
          <a:stretch>
            <a:fillRect/>
          </a:stretch>
        </p:blipFill>
        <p:spPr>
          <a:xfrm>
            <a:off x="667512" y="2706624"/>
            <a:ext cx="219456" cy="219456"/>
          </a:xfrm>
          <a:prstGeom prst="rect">
            <a:avLst/>
          </a:prstGeom>
        </p:spPr>
      </p:pic>
      <p:sp>
        <p:nvSpPr>
          <p:cNvPr id="9" name="texto-418"/>
          <p:cNvSpPr txBox="1"/>
          <p:nvPr/>
        </p:nvSpPr>
        <p:spPr>
          <a:xfrm>
            <a:off x="1234440" y="2450592"/>
            <a:ext cx="10408615" cy="731520"/>
          </a:xfrm>
          <a:prstGeom prst="rect">
            <a:avLst/>
          </a:prstGeom>
          <a:noFill/>
          <a:ln/>
        </p:spPr>
        <p:txBody>
          <a:bodyPr wrap="square" lIns="0" tIns="0" rIns="0" bIns="0" rtlCol="0" anchor="ctr"/>
          <a:lstStyle/>
          <a:p>
            <a:pPr indent="0" marL="0">
              <a:buNone/>
            </a:pPr>
            <a:r>
              <a:rPr lang="en-US" sz="1400" dirty="0">
                <a:solidFill>
                  <a:schemeClr val="tx1"/>
                </a:solidFill>
              </a:rPr>
              <a:t>Django Software Foundation. (s. f.). </a:t>
            </a:r>
            <a:pPr indent="0" marL="0">
              <a:buNone/>
            </a:pPr>
            <a:r>
              <a:rPr lang="en-US" sz="1400" i="1" dirty="0">
                <a:solidFill>
                  <a:schemeClr val="tx1"/>
                </a:solidFill>
              </a:rPr>
              <a:t>Django documentation</a:t>
            </a:r>
            <a:pPr indent="0" marL="0">
              <a:buNone/>
            </a:pPr>
            <a:r>
              <a:rPr lang="en-US" sz="1400" dirty="0">
                <a:solidFill>
                  <a:schemeClr val="tx1"/>
                </a:solidFill>
              </a:rPr>
              <a:t> (versión 5.1). Recuperado el 26 de octubre de 2026, de https://docs.djangoproject.com/es/5.1/</a:t>
            </a:r>
            <a:endParaRPr lang="en-US" sz="1400" dirty="0"/>
          </a:p>
        </p:txBody>
      </p:sp>
      <p:sp>
        <p:nvSpPr>
          <p:cNvPr id="10" name="circulo-419"/>
          <p:cNvSpPr/>
          <p:nvPr/>
        </p:nvSpPr>
        <p:spPr>
          <a:xfrm>
            <a:off x="548640" y="3483864"/>
            <a:ext cx="457200" cy="457200"/>
          </a:xfrm>
          <a:prstGeom prst="ellipse">
            <a:avLst/>
          </a:prstGeom>
          <a:solidFill>
            <a:schemeClr val="tx2"/>
          </a:solidFill>
          <a:ln/>
        </p:spPr>
      </p:sp>
      <p:pic>
        <p:nvPicPr>
          <p:cNvPr id="11" name="icono-420" descr="preencoded.png">    </p:cNvPr>
          <p:cNvPicPr>
            <a:picLocks noChangeAspect="1"/>
          </p:cNvPicPr>
          <p:nvPr/>
        </p:nvPicPr>
        <p:blipFill>
          <a:blip r:embed="rId3"/>
          <a:stretch>
            <a:fillRect/>
          </a:stretch>
        </p:blipFill>
        <p:spPr>
          <a:xfrm>
            <a:off x="667512" y="3602736"/>
            <a:ext cx="219456" cy="219456"/>
          </a:xfrm>
          <a:prstGeom prst="rect">
            <a:avLst/>
          </a:prstGeom>
        </p:spPr>
      </p:pic>
      <p:sp>
        <p:nvSpPr>
          <p:cNvPr id="12" name="texto-421"/>
          <p:cNvSpPr txBox="1"/>
          <p:nvPr/>
        </p:nvSpPr>
        <p:spPr>
          <a:xfrm>
            <a:off x="1234440" y="3346704"/>
            <a:ext cx="10408615" cy="731520"/>
          </a:xfrm>
          <a:prstGeom prst="rect">
            <a:avLst/>
          </a:prstGeom>
          <a:noFill/>
          <a:ln/>
        </p:spPr>
        <p:txBody>
          <a:bodyPr wrap="square" lIns="0" tIns="0" rIns="0" bIns="0" rtlCol="0" anchor="ctr"/>
          <a:lstStyle/>
          <a:p>
            <a:pPr indent="0" marL="0">
              <a:buNone/>
            </a:pPr>
            <a:r>
              <a:rPr lang="en-US" sz="1400" dirty="0">
                <a:solidFill>
                  <a:schemeClr val="tx1"/>
                </a:solidFill>
              </a:rPr>
              <a:t>Chart.js. (s. f.). </a:t>
            </a:r>
            <a:pPr indent="0" marL="0">
              <a:buNone/>
            </a:pPr>
            <a:r>
              <a:rPr lang="en-US" sz="1400" i="1" dirty="0">
                <a:solidFill>
                  <a:schemeClr val="tx1"/>
                </a:solidFill>
              </a:rPr>
              <a:t>Chart.js documentation</a:t>
            </a:r>
            <a:pPr indent="0" marL="0">
              <a:buNone/>
            </a:pPr>
            <a:r>
              <a:rPr lang="en-US" sz="1400" dirty="0">
                <a:solidFill>
                  <a:schemeClr val="tx1"/>
                </a:solidFill>
              </a:rPr>
              <a:t>. Recuperado el 26 de octubre de 2026, de https://www.chartjs.org/docs/latest/</a:t>
            </a:r>
            <a:endParaRPr lang="en-US" sz="1400" dirty="0"/>
          </a:p>
        </p:txBody>
      </p:sp>
      <p:sp>
        <p:nvSpPr>
          <p:cNvPr id="13" name="circulo-422"/>
          <p:cNvSpPr/>
          <p:nvPr/>
        </p:nvSpPr>
        <p:spPr>
          <a:xfrm>
            <a:off x="548640" y="4379976"/>
            <a:ext cx="457200" cy="457200"/>
          </a:xfrm>
          <a:prstGeom prst="ellipse">
            <a:avLst/>
          </a:prstGeom>
          <a:solidFill>
            <a:schemeClr val="tx2"/>
          </a:solidFill>
          <a:ln/>
        </p:spPr>
      </p:sp>
      <p:pic>
        <p:nvPicPr>
          <p:cNvPr id="14" name="icono-423" descr="preencoded.png">    </p:cNvPr>
          <p:cNvPicPr>
            <a:picLocks noChangeAspect="1"/>
          </p:cNvPicPr>
          <p:nvPr/>
        </p:nvPicPr>
        <p:blipFill>
          <a:blip r:embed="rId4"/>
          <a:stretch>
            <a:fillRect/>
          </a:stretch>
        </p:blipFill>
        <p:spPr>
          <a:xfrm>
            <a:off x="667512" y="4498848"/>
            <a:ext cx="219456" cy="219456"/>
          </a:xfrm>
          <a:prstGeom prst="rect">
            <a:avLst/>
          </a:prstGeom>
        </p:spPr>
      </p:pic>
      <p:sp>
        <p:nvSpPr>
          <p:cNvPr id="15" name="texto-424"/>
          <p:cNvSpPr txBox="1"/>
          <p:nvPr/>
        </p:nvSpPr>
        <p:spPr>
          <a:xfrm>
            <a:off x="1234440" y="4242816"/>
            <a:ext cx="10408615" cy="731520"/>
          </a:xfrm>
          <a:prstGeom prst="rect">
            <a:avLst/>
          </a:prstGeom>
          <a:noFill/>
          <a:ln/>
        </p:spPr>
        <p:txBody>
          <a:bodyPr wrap="square" lIns="0" tIns="0" rIns="0" bIns="0" rtlCol="0" anchor="ctr"/>
          <a:lstStyle/>
          <a:p>
            <a:pPr indent="0" marL="0">
              <a:buNone/>
            </a:pPr>
            <a:r>
              <a:rPr lang="en-US" sz="1400" dirty="0">
                <a:solidFill>
                  <a:schemeClr val="tx1"/>
                </a:solidFill>
              </a:rPr>
              <a:t>Bootstrap. (s. f.). </a:t>
            </a:r>
            <a:pPr indent="0" marL="0">
              <a:buNone/>
            </a:pPr>
            <a:r>
              <a:rPr lang="en-US" sz="1400" i="1" dirty="0">
                <a:solidFill>
                  <a:schemeClr val="tx1"/>
                </a:solidFill>
              </a:rPr>
              <a:t>Bootstrap 5.3 documentation</a:t>
            </a:r>
            <a:pPr indent="0" marL="0">
              <a:buNone/>
            </a:pPr>
            <a:r>
              <a:rPr lang="en-US" sz="1400" dirty="0">
                <a:solidFill>
                  <a:schemeClr val="tx1"/>
                </a:solidFill>
              </a:rPr>
              <a:t>. Recuperado el 26 de octubre de 2026, de https://getbootstrap.com/docs/5.3/</a:t>
            </a:r>
            <a:endParaRPr lang="en-US" sz="1400" dirty="0"/>
          </a:p>
        </p:txBody>
      </p:sp>
      <p:sp>
        <p:nvSpPr>
          <p:cNvPr id="16" name="circulo-425"/>
          <p:cNvSpPr/>
          <p:nvPr/>
        </p:nvSpPr>
        <p:spPr>
          <a:xfrm>
            <a:off x="548640" y="5276088"/>
            <a:ext cx="457200" cy="457200"/>
          </a:xfrm>
          <a:prstGeom prst="ellipse">
            <a:avLst/>
          </a:prstGeom>
          <a:solidFill>
            <a:schemeClr val="tx2"/>
          </a:solidFill>
          <a:ln/>
        </p:spPr>
      </p:sp>
      <p:pic>
        <p:nvPicPr>
          <p:cNvPr id="17" name="icono-426" descr="preencoded.png">    </p:cNvPr>
          <p:cNvPicPr>
            <a:picLocks noChangeAspect="1"/>
          </p:cNvPicPr>
          <p:nvPr/>
        </p:nvPicPr>
        <p:blipFill>
          <a:blip r:embed="rId5"/>
          <a:stretch>
            <a:fillRect/>
          </a:stretch>
        </p:blipFill>
        <p:spPr>
          <a:xfrm>
            <a:off x="667512" y="5394960"/>
            <a:ext cx="219456" cy="219456"/>
          </a:xfrm>
          <a:prstGeom prst="rect">
            <a:avLst/>
          </a:prstGeom>
        </p:spPr>
      </p:pic>
      <p:sp>
        <p:nvSpPr>
          <p:cNvPr id="18" name="texto-427"/>
          <p:cNvSpPr txBox="1"/>
          <p:nvPr/>
        </p:nvSpPr>
        <p:spPr>
          <a:xfrm>
            <a:off x="1234440" y="5138928"/>
            <a:ext cx="10408615" cy="731520"/>
          </a:xfrm>
          <a:prstGeom prst="rect">
            <a:avLst/>
          </a:prstGeom>
          <a:noFill/>
          <a:ln/>
        </p:spPr>
        <p:txBody>
          <a:bodyPr wrap="square" lIns="0" tIns="0" rIns="0" bIns="0" rtlCol="0" anchor="ctr"/>
          <a:lstStyle/>
          <a:p>
            <a:pPr indent="0" marL="0">
              <a:buNone/>
            </a:pPr>
            <a:r>
              <a:rPr lang="en-US" sz="1400" dirty="0">
                <a:solidFill>
                  <a:schemeClr val="tx1"/>
                </a:solidFill>
              </a:rPr>
              <a:t>Django Girls. (s. f.). </a:t>
            </a:r>
            <a:pPr indent="0" marL="0">
              <a:buNone/>
            </a:pPr>
            <a:r>
              <a:rPr lang="en-US" sz="1400" i="1" dirty="0">
                <a:solidFill>
                  <a:schemeClr val="tx1"/>
                </a:solidFill>
              </a:rPr>
              <a:t>Tutorial de Django Girls</a:t>
            </a:r>
            <a:pPr indent="0" marL="0">
              <a:buNone/>
            </a:pPr>
            <a:r>
              <a:rPr lang="en-US" sz="1400" dirty="0">
                <a:solidFill>
                  <a:schemeClr val="tx1"/>
                </a:solidFill>
              </a:rPr>
              <a:t> (versión en español). Recuperado el 26 de octubre de 2026, de https://tutorial.djangogirls.org/es/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Remote Work Django">
  <a:themeElements>
    <a:clrScheme name="Remote Work Django">
      <a:dk1>
        <a:srgbClr val="1C2B26"/>
      </a:dk1>
      <a:lt1>
        <a:srgbClr val="FFFFFF"/>
      </a:lt1>
      <a:dk2>
        <a:srgbClr val="0E3B2E"/>
      </a:dk2>
      <a:lt2>
        <a:srgbClr val="EDF3F0"/>
      </a:lt2>
      <a:accent1>
        <a:srgbClr val="C0392B"/>
      </a:accent1>
      <a:accent2>
        <a:srgbClr val="2874A6"/>
      </a:accent2>
      <a:accent3>
        <a:srgbClr val="3E9B74"/>
      </a:accent3>
      <a:accent4>
        <a:srgbClr val="E3A33B"/>
      </a:accent4>
      <a:accent5>
        <a:srgbClr val="62736C"/>
      </a:accent5>
      <a:accent6>
        <a:srgbClr val="B9CCC3"/>
      </a:accent6>
      <a:hlink>
        <a:srgbClr val="2874A6"/>
      </a:hlink>
      <a:folHlink>
        <a:srgbClr val="62736C"/>
      </a:folHlink>
    </a:clrScheme>
    <a:fontScheme name="Remote Work Djang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Work &amp; Mental Health en la web</dc:title>
  <dc:subject>Certamen 2 · Taller de Visualización de Datos</dc:subject>
  <dc:creator>Joaquín Barahona, Ignacio Ramírez, Pablo Valdivia, Nicolás Ojeda</dc:creator>
  <cp:lastModifiedBy>Joaquín Barahona, Ignacio Ramírez, Pablo Valdivia, Nicolás Ojeda</cp:lastModifiedBy>
  <cp:revision>1</cp:revision>
  <dcterms:created xsi:type="dcterms:W3CDTF">2026-10-26T12:06:10Z</dcterms:created>
  <dcterms:modified xsi:type="dcterms:W3CDTF">2026-10-26T12:06:10Z</dcterms:modified>
</cp:coreProperties>
</file>